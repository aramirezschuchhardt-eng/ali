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-1-1.png" ContentType="image/jpeg"/>
  <Override PartName="/ppt/media/image-1-2.png" ContentType="image/jpeg"/>
  <Override PartName="/ppt/media/image-1-3.png" ContentType="image/jpeg"/>
  <Override PartName="/ppt/media/image-10-2.png" ContentType="image/jpeg"/>
  <Override PartName="/ppt/media/image-6-2.png" ContentType="image/jpeg"/>
  <Override PartName="/ppt/media/image-7-2.png" ContentType="image/jpeg"/>
  <Override PartName="/ppt/media/image-8-2.png" ContentType="image/jpeg"/>
  <Override PartName="/ppt/media/image-9-2.png" ContentType="image/j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Utilidad</c:v>
                </c:pt>
              </c:strCache>
            </c:strRef>
          </c:tx>
          <c:spPr>
            <a:solidFill>
              <a:srgbClr val="1550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23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550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550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8A2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Vive Radal</c:v>
                  </c:pt>
                  <c:pt idx="1">
                    <c:v>Santa Elena*</c:v>
                  </c:pt>
                  <c:pt idx="2">
                    <c:v>Alto Serena VI</c:v>
                  </c:pt>
                  <c:pt idx="3">
                    <c:v>Av. Las Condes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71562</c:v>
                </c:pt>
                <c:pt idx="1">
                  <c:v>256745</c:v>
                </c:pt>
                <c:pt idx="2">
                  <c:v>150000</c:v>
                </c:pt>
                <c:pt idx="3">
                  <c:v>34705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A23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33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Relationship Id="rId6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6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Relationship Id="rId9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6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6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6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Relationship Id="rId9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2.xml"/><Relationship Id="rId1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99832" y="850392"/>
            <a:ext cx="3831336" cy="3282696"/>
          </a:xfrm>
          <a:prstGeom prst="roundRect">
            <a:avLst>
              <a:gd name="adj" fmla="val 27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3" name="Image 0" descr="/home/claude/img/cover_ma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868680"/>
            <a:ext cx="3794760" cy="32461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99832" y="4206240"/>
            <a:ext cx="1865376" cy="1773936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5" name="Image 1" descr="/home/claude/img/cover_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18120" y="4224528"/>
            <a:ext cx="1828800" cy="1737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765792" y="4206240"/>
            <a:ext cx="1865376" cy="1773936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7" name="Image 2" descr="/home/claude/img/cover_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784080" y="4224528"/>
            <a:ext cx="1828800" cy="173736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66928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566928" y="160020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Portafolio de Inversión</a:t>
            </a:r>
            <a:endParaRPr lang="en-US" sz="4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Inmobiliaria 2026</a:t>
            </a:r>
            <a:endParaRPr lang="en-US" sz="4400" dirty="0"/>
          </a:p>
        </p:txBody>
      </p:sp>
      <p:sp>
        <p:nvSpPr>
          <p:cNvPr id="10" name="Shape 5"/>
          <p:cNvSpPr/>
          <p:nvPr/>
        </p:nvSpPr>
        <p:spPr>
          <a:xfrm>
            <a:off x="566928" y="3429000"/>
            <a:ext cx="2926080" cy="0"/>
          </a:xfrm>
          <a:prstGeom prst="line">
            <a:avLst/>
          </a:prstGeom>
          <a:noFill/>
          <a:ln w="31750">
            <a:solidFill>
              <a:srgbClr val="C8A24A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566928" y="36576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desarrollos en Santiago, Talca y La Serena. Una invitación a participar como socio inversionista en un portafolio inmobiliario diversificado por etapa, ubicación y riesgo.</a:t>
            </a:r>
            <a:endParaRPr lang="en-US" sz="1450" dirty="0"/>
          </a:p>
        </p:txBody>
      </p:sp>
      <p:sp>
        <p:nvSpPr>
          <p:cNvPr id="12" name="Text 7"/>
          <p:cNvSpPr/>
          <p:nvPr/>
        </p:nvSpPr>
        <p:spPr>
          <a:xfrm>
            <a:off x="566928" y="58064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Quinta Normal   ·   Talca   ·   La Serena   ·   Las Condes   ·   Lo Curro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566928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E8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DE INVERSIÓN  ·  ESTRUCTURACIÓN DE CAPITAL  ·  JUNIO 2026</a:t>
            </a:r>
            <a:endParaRPr lang="en-US" sz="950" dirty="0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73152"/>
            <a:ext cx="164592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INVITACIÓN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aporte, acceso a un portafolio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 abre la participación a un socio inversionista en cinco desarrollos que comparten una misma lógica: terreno asegurado o bajo tasación, construcción a costo vía Constructora Katu SpA, y la densidad como palanca de utilidad. El socio elige en qué proyecto entrar — o reparte su aporte entre varios.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2926080"/>
            <a:ext cx="3441192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3236976"/>
            <a:ext cx="566928" cy="566928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599" y="3373039"/>
            <a:ext cx="294803" cy="29480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59536" y="3913632"/>
            <a:ext cx="2855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 diversificado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59536" y="4389120"/>
            <a:ext cx="2855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proyectos en tres regiones y distintas etapas (DS19, loteo, torre, viviendas, pipeline) reparten la exposición.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73880" y="2926080"/>
            <a:ext cx="3441192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66488" y="3236976"/>
            <a:ext cx="566928" cy="566928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2551" y="3373039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66488" y="3913632"/>
            <a:ext cx="2855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Construcción propia, a costo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666488" y="4389120"/>
            <a:ext cx="2855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Constructora Katu SpA ejecuta a 29 UF/m²: el margen del constructor queda dentro del proyecto y de los socios.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180832" y="2926080"/>
            <a:ext cx="3441192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73440" y="3236976"/>
            <a:ext cx="566928" cy="566928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9503" y="3373039"/>
            <a:ext cx="294803" cy="29480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73440" y="3913632"/>
            <a:ext cx="2855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Entrada flexible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473440" y="4389120"/>
            <a:ext cx="2855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mínimo de $100 millones. El aporte se traduce en un porcentaje proporcional de cada proyecto.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66928" y="5532120"/>
            <a:ext cx="11055096" cy="713232"/>
          </a:xfrm>
          <a:prstGeom prst="roundRect">
            <a:avLst>
              <a:gd name="adj" fmla="val 10256"/>
            </a:avLst>
          </a:prstGeom>
          <a:solidFill>
            <a:srgbClr val="13293D"/>
          </a:solidFill>
          <a:ln/>
        </p:spPr>
      </p:sp>
      <p:sp>
        <p:nvSpPr>
          <p:cNvPr id="23" name="Text 18"/>
          <p:cNvSpPr/>
          <p:nvPr/>
        </p:nvSpPr>
        <p:spPr>
          <a:xfrm>
            <a:off x="932688" y="5532120"/>
            <a:ext cx="10323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mínimo de ingreso:  </a:t>
            </a:r>
            <a:pPr algn="l" indent="0" marL="0">
              <a:buNone/>
            </a:pPr>
            <a:r>
              <a:rPr lang="en-US" sz="14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$100.000.000</a:t>
            </a:r>
            <a:pPr algn="l" indent="0" marL="0">
              <a:buNone/>
            </a:pPr>
            <a:r>
              <a:rPr lang="en-US" sz="14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equivalente a ≈ UF 2.452   ·   UF al 21-jun-2026 ≈ $40.795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INVERTIR CON MAGNA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razones para participar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10312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532" y="2230404"/>
            <a:ext cx="275783" cy="27578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274320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Activos reales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41248" y="310896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en suelo y propiedades — activos tangibles cuyo valor perdura y resguarda el capital en el tiempo.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73880" y="182880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48200" y="210312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484" y="2230404"/>
            <a:ext cx="275783" cy="27578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48200" y="274320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Indexado a UF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648200" y="310896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Aportes, precios de venta y utilidades expresados en UF: cobertura natural frente a la inflación.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180832" y="182880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455152" y="210312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436" y="2230404"/>
            <a:ext cx="275783" cy="27578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55152" y="274320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Construcción a costo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8455152" y="310896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Constructora Katu SpA ejecuta a 29 UF/m². El margen del constructor queda dentro del proyecto, no en un tercero.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66928" y="406908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41248" y="434340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532" y="4470684"/>
            <a:ext cx="275783" cy="27578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41248" y="498348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Diversificación real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41248" y="534924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proyectos, tres regiones, distintas etapas y tipologías: el riesgo se reparte, no se concentra.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4373880" y="406908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648200" y="434340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5484" y="4470684"/>
            <a:ext cx="275783" cy="275783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648200" y="498348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Renta recurrente opcional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4648200" y="534924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Elena suma un strip center con NOI de UF 17.600/año: flujo recurrente además de la utilidad de desarrollo.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8180832" y="406908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455152" y="434340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2436" y="4470684"/>
            <a:ext cx="275783" cy="275783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455152" y="498348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Equipo y aliados</a:t>
            </a:r>
            <a:endParaRPr lang="en-US" sz="1450" dirty="0"/>
          </a:p>
        </p:txBody>
      </p:sp>
      <p:sp>
        <p:nvSpPr>
          <p:cNvPr id="35" name="Text 27"/>
          <p:cNvSpPr/>
          <p:nvPr/>
        </p:nvSpPr>
        <p:spPr>
          <a:xfrm>
            <a:off x="8455152" y="534924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Magna (desarrollo y gestión), Katu (construcción) y AM Arquitectos (diseño): un equipo con obra ejecutada.</a:t>
            </a:r>
            <a:endParaRPr lang="en-US" sz="1050" dirty="0"/>
          </a:p>
        </p:txBody>
      </p:sp>
      <p:sp>
        <p:nvSpPr>
          <p:cNvPr id="36" name="Text 28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37" name="Text 29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PORTAFOLIO DE UN VISTAZO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proyectos activos + un pipeline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55096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783080"/>
                <a:gridCol w="1417320"/>
                <a:gridCol w="1051560"/>
                <a:gridCol w="2240280"/>
                <a:gridCol w="2093976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Ubicación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(UF)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Retorno clave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Aporte ancla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% ofrecido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Vive Radal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DS19 · 166 deptos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Quinta Normal · 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55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s/capital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15.000 · 18%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Santa Elena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Loteo + strip · Talca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Talca · Maule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256.745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 126% · MOIC 11,9x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5.000 · 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Serena VI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Torre 12 pisos · 3 etapas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Serena · Coquimbo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150.000*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16–19%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 ≈ 51% anual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6.000 · 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Las Condes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Viviendas · esc. óptimo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 Condes · 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ROI 116% · cap. ×2,2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4.350 · 15%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Curro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· Vitacura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i="1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permisología — se activa con la reforma de densidad (respuesta a la consulta ciudadana el 26-jun-2026). Cifras en evaluación.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016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definir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852160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Serena: utilidad estimada del conjunto (3 etapas); el modelo por torre arroja ≈ UF 100.000 con precios de venta bajo mercado (upside).  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 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en Santa Elena (UF 163.901 Fase 1 · UF 239.770 consolidado); se detalla en la ficha de cada proyecto.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INGRESA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 millones — el proporcional por proyecto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1755648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ticket mínimo es de $100 millones (≈ UF 2.452). Como cada proyecto tiene una valorización distinta, ese mismo aporte compra un porcentaje diferente en cada uno. La tabla muestra a cuánto equivale el ticket mínimo en cada proyecto y el tramo ancla disponible.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97480"/>
          <a:ext cx="1105509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51760"/>
                <a:gridCol w="3017520"/>
                <a:gridCol w="2368296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Valorización 100%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(UF / $)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Aporte ancla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(UF / $ / 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por cada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$100M (≈ UF 2.452)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Vive Radal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83.333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$3.400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15.000 · $612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8A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Santa Elena (Talca)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50.000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$2.040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5.000 · $204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8A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Serena VI (La Serena)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60.000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$2.448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6.000 · $245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8A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Las Condes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29.000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$1.183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4.350 · $177 M · 15%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(mín. UF 2.175 · 7,5%)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8A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5943600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Lectura: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ticket rinde más participación donde la valorización total es menor. Las Condes (proyecto más pequeño) entrega 8,5% por $100M; Vive Radal (el mayor) entrega 2,9%. Porcentajes y montos referenciales; términos finales en el pacto de socios.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VIVE RADAL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6070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Vive Radal · DS19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19656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556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 Radal 1028–1042 · Quinta Normal · Región Metropolitana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2121408"/>
            <a:ext cx="253288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212140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 de edificación vigente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64408" y="2121408"/>
            <a:ext cx="154625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19272" y="2121408"/>
            <a:ext cx="14365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Seleccionado DS19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975250" y="2121408"/>
            <a:ext cx="1698041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5506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30114" y="2121408"/>
            <a:ext cx="158831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 escriturado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48640" y="2523744"/>
            <a:ext cx="4197096" cy="2276856"/>
          </a:xfrm>
          <a:prstGeom prst="roundRect">
            <a:avLst>
              <a:gd name="adj" fmla="val 40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15" name="Image 1" descr="/home/claude/img/radal_her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2542032"/>
            <a:ext cx="4160520" cy="22402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66928" y="484632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7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95528" y="491947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proyecto en cifras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9552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Departamentos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66420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79552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Locales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66420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79552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Estac.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66420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276148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363016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4.745,5 m²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276148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363016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458.989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276148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Tasación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363016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76.171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498348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07492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71.562</a:t>
            </a:r>
            <a:endParaRPr lang="en-US" sz="1800" dirty="0"/>
          </a:p>
        </p:txBody>
      </p:sp>
      <p:sp>
        <p:nvSpPr>
          <p:cNvPr id="32" name="Text 28"/>
          <p:cNvSpPr/>
          <p:nvPr/>
        </p:nvSpPr>
        <p:spPr>
          <a:xfrm>
            <a:off x="507492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a. de imp.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685800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94944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16% / 20%</a:t>
            </a:r>
            <a:endParaRPr lang="en-US" sz="1800" dirty="0"/>
          </a:p>
        </p:txBody>
      </p:sp>
      <p:sp>
        <p:nvSpPr>
          <p:cNvPr id="35" name="Text 31"/>
          <p:cNvSpPr/>
          <p:nvPr/>
        </p:nvSpPr>
        <p:spPr>
          <a:xfrm>
            <a:off x="694944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v / c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498348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07492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2100" dirty="0"/>
          </a:p>
        </p:txBody>
      </p:sp>
      <p:sp>
        <p:nvSpPr>
          <p:cNvPr id="38" name="Text 34"/>
          <p:cNvSpPr/>
          <p:nvPr/>
        </p:nvSpPr>
        <p:spPr>
          <a:xfrm>
            <a:off x="507492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s/capital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685800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94944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1,23x</a:t>
            </a:r>
            <a:endParaRPr lang="en-US" sz="2100" dirty="0"/>
          </a:p>
        </p:txBody>
      </p:sp>
      <p:sp>
        <p:nvSpPr>
          <p:cNvPr id="41" name="Text 37"/>
          <p:cNvSpPr/>
          <p:nvPr/>
        </p:nvSpPr>
        <p:spPr>
          <a:xfrm>
            <a:off x="694944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/ terreno</a:t>
            </a:r>
            <a:endParaRPr lang="en-US" sz="900" dirty="0"/>
          </a:p>
        </p:txBody>
      </p:sp>
      <p:sp>
        <p:nvSpPr>
          <p:cNvPr id="42" name="Shape 38"/>
          <p:cNvSpPr/>
          <p:nvPr/>
        </p:nvSpPr>
        <p:spPr>
          <a:xfrm>
            <a:off x="4983480" y="5047488"/>
            <a:ext cx="3566160" cy="1078992"/>
          </a:xfrm>
          <a:prstGeom prst="roundRect">
            <a:avLst>
              <a:gd name="adj" fmla="val 6780"/>
            </a:avLst>
          </a:prstGeom>
          <a:solidFill>
            <a:srgbClr val="13293D"/>
          </a:solidFill>
          <a:ln/>
        </p:spPr>
      </p:sp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5248656"/>
            <a:ext cx="310896" cy="310896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5641848" y="512064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subsidiada por el Estado: el DS19 traslada el riesgo comercial a una demanda con subsidio asignado.</a:t>
            </a:r>
            <a:endParaRPr lang="en-US" sz="1100" dirty="0"/>
          </a:p>
        </p:txBody>
      </p:sp>
      <p:sp>
        <p:nvSpPr>
          <p:cNvPr id="45" name="Shape 40"/>
          <p:cNvSpPr/>
          <p:nvPr/>
        </p:nvSpPr>
        <p:spPr>
          <a:xfrm>
            <a:off x="8732520" y="1060704"/>
            <a:ext cx="2889504" cy="507492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46" name="Text 41"/>
          <p:cNvSpPr/>
          <p:nvPr/>
        </p:nvSpPr>
        <p:spPr>
          <a:xfrm>
            <a:off x="9006840" y="128016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AL SOCIO</a:t>
            </a:r>
            <a:endParaRPr lang="en-US" sz="1100" dirty="0"/>
          </a:p>
        </p:txBody>
      </p:sp>
      <p:sp>
        <p:nvSpPr>
          <p:cNvPr id="47" name="Text 42"/>
          <p:cNvSpPr/>
          <p:nvPr/>
        </p:nvSpPr>
        <p:spPr>
          <a:xfrm>
            <a:off x="9006840" y="16276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15.000</a:t>
            </a:r>
            <a:endParaRPr lang="en-US" sz="3300" dirty="0"/>
          </a:p>
        </p:txBody>
      </p:sp>
      <p:sp>
        <p:nvSpPr>
          <p:cNvPr id="48" name="Text 43"/>
          <p:cNvSpPr/>
          <p:nvPr/>
        </p:nvSpPr>
        <p:spPr>
          <a:xfrm>
            <a:off x="9006840" y="228600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$612 millones</a:t>
            </a:r>
            <a:endParaRPr lang="en-US" sz="1250" dirty="0"/>
          </a:p>
        </p:txBody>
      </p:sp>
      <p:sp>
        <p:nvSpPr>
          <p:cNvPr id="49" name="Shape 44"/>
          <p:cNvSpPr/>
          <p:nvPr/>
        </p:nvSpPr>
        <p:spPr>
          <a:xfrm>
            <a:off x="9006840" y="2706624"/>
            <a:ext cx="2340864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9006840" y="2798064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 OFRECIDA</a:t>
            </a:r>
            <a:endParaRPr lang="en-US" sz="1000" dirty="0"/>
          </a:p>
        </p:txBody>
      </p:sp>
      <p:sp>
        <p:nvSpPr>
          <p:cNvPr id="51" name="Text 46"/>
          <p:cNvSpPr/>
          <p:nvPr/>
        </p:nvSpPr>
        <p:spPr>
          <a:xfrm>
            <a:off x="9006840" y="3054096"/>
            <a:ext cx="234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18%</a:t>
            </a:r>
            <a:endParaRPr lang="en-US" sz="3000" dirty="0"/>
          </a:p>
        </p:txBody>
      </p:sp>
      <p:sp>
        <p:nvSpPr>
          <p:cNvPr id="52" name="Text 47"/>
          <p:cNvSpPr/>
          <p:nvPr/>
        </p:nvSpPr>
        <p:spPr>
          <a:xfrm>
            <a:off x="9006840" y="3675888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Repago vía créditos hipotecarios a la escrituración. Estructurable como equity o crédito mezzanine.</a:t>
            </a:r>
            <a:endParaRPr lang="en-US" sz="1050" dirty="0"/>
          </a:p>
        </p:txBody>
      </p:sp>
      <p:sp>
        <p:nvSpPr>
          <p:cNvPr id="53" name="Shape 48"/>
          <p:cNvSpPr/>
          <p:nvPr/>
        </p:nvSpPr>
        <p:spPr>
          <a:xfrm>
            <a:off x="9006840" y="4572000"/>
            <a:ext cx="2340864" cy="1371600"/>
          </a:xfrm>
          <a:prstGeom prst="roundRect">
            <a:avLst>
              <a:gd name="adj" fmla="val 4667"/>
            </a:avLst>
          </a:prstGeom>
          <a:solidFill>
            <a:srgbClr val="1C3A57"/>
          </a:solidFill>
          <a:ln/>
        </p:spPr>
      </p:sp>
      <p:sp>
        <p:nvSpPr>
          <p:cNvPr id="54" name="Text 49"/>
          <p:cNvSpPr/>
          <p:nvPr/>
        </p:nvSpPr>
        <p:spPr>
          <a:xfrm>
            <a:off x="9006840" y="468172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$100M</a:t>
            </a:r>
            <a:endParaRPr lang="en-US" sz="1000" dirty="0"/>
          </a:p>
        </p:txBody>
      </p:sp>
      <p:sp>
        <p:nvSpPr>
          <p:cNvPr id="55" name="Text 50"/>
          <p:cNvSpPr/>
          <p:nvPr/>
        </p:nvSpPr>
        <p:spPr>
          <a:xfrm>
            <a:off x="9006840" y="493776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2,9%</a:t>
            </a:r>
            <a:endParaRPr lang="en-US" sz="3400" dirty="0"/>
          </a:p>
        </p:txBody>
      </p:sp>
      <p:sp>
        <p:nvSpPr>
          <p:cNvPr id="56" name="Text 51"/>
          <p:cNvSpPr/>
          <p:nvPr/>
        </p:nvSpPr>
        <p:spPr>
          <a:xfrm>
            <a:off x="9006840" y="5559552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proyecto</a:t>
            </a:r>
            <a:endParaRPr lang="en-US" sz="1100" dirty="0"/>
          </a:p>
        </p:txBody>
      </p:sp>
      <p:sp>
        <p:nvSpPr>
          <p:cNvPr id="57" name="Text 5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58" name="Text 53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SANTA ELENA DE HUILQUILEMU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6070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Santa Elena · Talca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19656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556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Av. San Miguel N°6850 · Talca · Región del Maule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2121408"/>
            <a:ext cx="291236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5506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2121408"/>
            <a:ext cx="2802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Loteo 150 lotes + strip 100 locales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643884" y="2121408"/>
            <a:ext cx="177393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98748" y="2121408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financiero v4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66928" y="2542032"/>
            <a:ext cx="4160520" cy="2240280"/>
          </a:xfrm>
          <a:prstGeom prst="roundRect">
            <a:avLst>
              <a:gd name="adj" fmla="val 4082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31520" y="2706624"/>
            <a:ext cx="3831336" cy="1911096"/>
          </a:xfrm>
          <a:prstGeom prst="roundRect">
            <a:avLst>
              <a:gd name="adj" fmla="val 3828"/>
            </a:avLst>
          </a:prstGeom>
          <a:solidFill>
            <a:srgbClr val="1C3A57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42032"/>
            <a:ext cx="4160520" cy="22402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" y="393100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Loteo urbanizado + Strip Center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49808" y="439826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566928" y="484632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7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795528" y="491947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proyecto en cifras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9552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Lotes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66420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79552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prom.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66420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2.988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79552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Paño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66420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19,26 ha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276148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F1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363016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468.200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276148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363016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locales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276148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 strip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363016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17.600/a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498348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07492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256.745</a:t>
            </a:r>
            <a:endParaRPr lang="en-US" sz="1700" dirty="0"/>
          </a:p>
        </p:txBody>
      </p:sp>
      <p:sp>
        <p:nvSpPr>
          <p:cNvPr id="33" name="Text 29"/>
          <p:cNvSpPr/>
          <p:nvPr/>
        </p:nvSpPr>
        <p:spPr>
          <a:xfrm>
            <a:off x="507492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Fase 1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685800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94944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163.901</a:t>
            </a:r>
            <a:endParaRPr lang="en-US" sz="1700" dirty="0"/>
          </a:p>
        </p:txBody>
      </p:sp>
      <p:sp>
        <p:nvSpPr>
          <p:cNvPr id="36" name="Text 32"/>
          <p:cNvSpPr/>
          <p:nvPr/>
        </p:nvSpPr>
        <p:spPr>
          <a:xfrm>
            <a:off x="694944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(12% real)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498348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07492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126%</a:t>
            </a:r>
            <a:endParaRPr lang="en-US" sz="2100" dirty="0"/>
          </a:p>
        </p:txBody>
      </p:sp>
      <p:sp>
        <p:nvSpPr>
          <p:cNvPr id="39" name="Text 35"/>
          <p:cNvSpPr/>
          <p:nvPr/>
        </p:nvSpPr>
        <p:spPr>
          <a:xfrm>
            <a:off x="507492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del flujo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685800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94944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11,9x</a:t>
            </a:r>
            <a:endParaRPr lang="en-US" sz="2100" dirty="0"/>
          </a:p>
        </p:txBody>
      </p:sp>
      <p:sp>
        <p:nvSpPr>
          <p:cNvPr id="42" name="Text 38"/>
          <p:cNvSpPr/>
          <p:nvPr/>
        </p:nvSpPr>
        <p:spPr>
          <a:xfrm>
            <a:off x="694944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4983480" y="5047488"/>
            <a:ext cx="3566160" cy="1078992"/>
          </a:xfrm>
          <a:prstGeom prst="roundRect">
            <a:avLst>
              <a:gd name="adj" fmla="val 6780"/>
            </a:avLst>
          </a:prstGeom>
          <a:solidFill>
            <a:srgbClr val="13293D"/>
          </a:solidFill>
          <a:ln/>
        </p:spPr>
      </p:sp>
      <p:pic>
        <p:nvPicPr>
          <p:cNvPr id="4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5248656"/>
            <a:ext cx="310896" cy="310896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5641848" y="512064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única oferta de lotes urbanizados intermedios del oriente de Talca: sin competencia directa en la zona.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8732520" y="1060704"/>
            <a:ext cx="2889504" cy="507492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47" name="Text 42"/>
          <p:cNvSpPr/>
          <p:nvPr/>
        </p:nvSpPr>
        <p:spPr>
          <a:xfrm>
            <a:off x="9006840" y="128016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AL SOCIO</a:t>
            </a:r>
            <a:endParaRPr lang="en-US" sz="1100" dirty="0"/>
          </a:p>
        </p:txBody>
      </p:sp>
      <p:sp>
        <p:nvSpPr>
          <p:cNvPr id="48" name="Text 43"/>
          <p:cNvSpPr/>
          <p:nvPr/>
        </p:nvSpPr>
        <p:spPr>
          <a:xfrm>
            <a:off x="9006840" y="16276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5.000</a:t>
            </a:r>
            <a:endParaRPr lang="en-US" sz="3300" dirty="0"/>
          </a:p>
        </p:txBody>
      </p:sp>
      <p:sp>
        <p:nvSpPr>
          <p:cNvPr id="49" name="Text 44"/>
          <p:cNvSpPr/>
          <p:nvPr/>
        </p:nvSpPr>
        <p:spPr>
          <a:xfrm>
            <a:off x="9006840" y="228600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$204 millones</a:t>
            </a:r>
            <a:endParaRPr lang="en-US" sz="1250" dirty="0"/>
          </a:p>
        </p:txBody>
      </p:sp>
      <p:sp>
        <p:nvSpPr>
          <p:cNvPr id="50" name="Shape 45"/>
          <p:cNvSpPr/>
          <p:nvPr/>
        </p:nvSpPr>
        <p:spPr>
          <a:xfrm>
            <a:off x="9006840" y="2706624"/>
            <a:ext cx="2340864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9006840" y="2798064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 OFRECIDA</a:t>
            </a:r>
            <a:endParaRPr lang="en-US" sz="1000" dirty="0"/>
          </a:p>
        </p:txBody>
      </p:sp>
      <p:sp>
        <p:nvSpPr>
          <p:cNvPr id="52" name="Text 47"/>
          <p:cNvSpPr/>
          <p:nvPr/>
        </p:nvSpPr>
        <p:spPr>
          <a:xfrm>
            <a:off x="9006840" y="3054096"/>
            <a:ext cx="234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3000" dirty="0"/>
          </a:p>
        </p:txBody>
      </p:sp>
      <p:sp>
        <p:nvSpPr>
          <p:cNvPr id="53" name="Text 48"/>
          <p:cNvSpPr/>
          <p:nvPr/>
        </p:nvSpPr>
        <p:spPr>
          <a:xfrm>
            <a:off x="9006840" y="3675888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 pagado en cuotas calzadas al flujo de ventas. Capital propio máx. UF 23.611. Escenarios 90/120/150.</a:t>
            </a:r>
            <a:endParaRPr lang="en-US" sz="1050" dirty="0"/>
          </a:p>
        </p:txBody>
      </p:sp>
      <p:sp>
        <p:nvSpPr>
          <p:cNvPr id="54" name="Shape 49"/>
          <p:cNvSpPr/>
          <p:nvPr/>
        </p:nvSpPr>
        <p:spPr>
          <a:xfrm>
            <a:off x="9006840" y="4572000"/>
            <a:ext cx="2340864" cy="1371600"/>
          </a:xfrm>
          <a:prstGeom prst="roundRect">
            <a:avLst>
              <a:gd name="adj" fmla="val 4667"/>
            </a:avLst>
          </a:prstGeom>
          <a:solidFill>
            <a:srgbClr val="1C3A57"/>
          </a:solidFill>
          <a:ln/>
        </p:spPr>
      </p:sp>
      <p:sp>
        <p:nvSpPr>
          <p:cNvPr id="55" name="Text 50"/>
          <p:cNvSpPr/>
          <p:nvPr/>
        </p:nvSpPr>
        <p:spPr>
          <a:xfrm>
            <a:off x="9006840" y="468172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$100M</a:t>
            </a:r>
            <a:endParaRPr lang="en-US" sz="1000" dirty="0"/>
          </a:p>
        </p:txBody>
      </p:sp>
      <p:sp>
        <p:nvSpPr>
          <p:cNvPr id="56" name="Text 51"/>
          <p:cNvSpPr/>
          <p:nvPr/>
        </p:nvSpPr>
        <p:spPr>
          <a:xfrm>
            <a:off x="9006840" y="493776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4,9%</a:t>
            </a:r>
            <a:endParaRPr lang="en-US" sz="3400" dirty="0"/>
          </a:p>
        </p:txBody>
      </p:sp>
      <p:sp>
        <p:nvSpPr>
          <p:cNvPr id="57" name="Text 52"/>
          <p:cNvSpPr/>
          <p:nvPr/>
        </p:nvSpPr>
        <p:spPr>
          <a:xfrm>
            <a:off x="9006840" y="5559552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proyecto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59" name="Text 54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ALTO SERENA VI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6070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Serena VI · La Serena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19656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556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Federico Arco · Puertas del Mar · La Serena · Región de Coquimbo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2121408"/>
            <a:ext cx="2608783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2121408"/>
            <a:ext cx="2499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 de edificación APROBADO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340303" y="2121408"/>
            <a:ext cx="268467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95167" y="2121408"/>
            <a:ext cx="25749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Financiamiento bancario APROBADO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66928" y="2542032"/>
            <a:ext cx="4160520" cy="2240280"/>
          </a:xfrm>
          <a:prstGeom prst="roundRect">
            <a:avLst>
              <a:gd name="adj" fmla="val 4082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31520" y="2706624"/>
            <a:ext cx="3831336" cy="1911096"/>
          </a:xfrm>
          <a:prstGeom prst="roundRect">
            <a:avLst>
              <a:gd name="adj" fmla="val 3828"/>
            </a:avLst>
          </a:prstGeom>
          <a:solidFill>
            <a:srgbClr val="1C3A57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42032"/>
            <a:ext cx="4160520" cy="22402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" y="393100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Torre habitacional · 12 pisos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49808" y="439826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566928" y="484632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7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795528" y="491947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proyecto en cifras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9552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66420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8.825 m²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79552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terreno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66420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61.780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79552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Útil vend.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66420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10.204 m²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276148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construir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363016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12.322 m²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276148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constr.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363016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UF/m²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276148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363016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498348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07492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UF 150.000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507492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(3 etapas)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685800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94944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51%</a:t>
            </a:r>
            <a:endParaRPr lang="en-US" sz="2100" dirty="0"/>
          </a:p>
        </p:txBody>
      </p:sp>
      <p:sp>
        <p:nvSpPr>
          <p:cNvPr id="36" name="Text 32"/>
          <p:cNvSpPr/>
          <p:nvPr/>
        </p:nvSpPr>
        <p:spPr>
          <a:xfrm>
            <a:off x="694944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proyecto anual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498348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07492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16–19%</a:t>
            </a:r>
            <a:endParaRPr lang="en-US" sz="2000" dirty="0"/>
          </a:p>
        </p:txBody>
      </p:sp>
      <p:sp>
        <p:nvSpPr>
          <p:cNvPr id="39" name="Text 35"/>
          <p:cNvSpPr/>
          <p:nvPr/>
        </p:nvSpPr>
        <p:spPr>
          <a:xfrm>
            <a:off x="507492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del modelo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685800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94944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pisos</a:t>
            </a:r>
            <a:endParaRPr lang="en-US" sz="2000" dirty="0"/>
          </a:p>
        </p:txBody>
      </p:sp>
      <p:sp>
        <p:nvSpPr>
          <p:cNvPr id="42" name="Text 38"/>
          <p:cNvSpPr/>
          <p:nvPr/>
        </p:nvSpPr>
        <p:spPr>
          <a:xfrm>
            <a:off x="694944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Torre habitacional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4983480" y="5047488"/>
            <a:ext cx="3566160" cy="1078992"/>
          </a:xfrm>
          <a:prstGeom prst="roundRect">
            <a:avLst>
              <a:gd name="adj" fmla="val 6780"/>
            </a:avLst>
          </a:prstGeom>
          <a:solidFill>
            <a:srgbClr val="13293D"/>
          </a:solidFill>
          <a:ln/>
        </p:spPr>
      </p:sp>
      <p:pic>
        <p:nvPicPr>
          <p:cNvPr id="4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5248656"/>
            <a:ext cx="310896" cy="310896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5641848" y="512064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único proyecto con permiso de edificación y financiamiento bancario ya aprobados. Precios bajo mercado: upside.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8732520" y="1060704"/>
            <a:ext cx="2889504" cy="507492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47" name="Text 42"/>
          <p:cNvSpPr/>
          <p:nvPr/>
        </p:nvSpPr>
        <p:spPr>
          <a:xfrm>
            <a:off x="9006840" y="128016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AL SOCIO</a:t>
            </a:r>
            <a:endParaRPr lang="en-US" sz="1100" dirty="0"/>
          </a:p>
        </p:txBody>
      </p:sp>
      <p:sp>
        <p:nvSpPr>
          <p:cNvPr id="48" name="Text 43"/>
          <p:cNvSpPr/>
          <p:nvPr/>
        </p:nvSpPr>
        <p:spPr>
          <a:xfrm>
            <a:off x="9006840" y="16276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6.000</a:t>
            </a:r>
            <a:endParaRPr lang="en-US" sz="3300" dirty="0"/>
          </a:p>
        </p:txBody>
      </p:sp>
      <p:sp>
        <p:nvSpPr>
          <p:cNvPr id="49" name="Text 44"/>
          <p:cNvSpPr/>
          <p:nvPr/>
        </p:nvSpPr>
        <p:spPr>
          <a:xfrm>
            <a:off x="9006840" y="228600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$245 millones</a:t>
            </a:r>
            <a:endParaRPr lang="en-US" sz="1250" dirty="0"/>
          </a:p>
        </p:txBody>
      </p:sp>
      <p:sp>
        <p:nvSpPr>
          <p:cNvPr id="50" name="Shape 45"/>
          <p:cNvSpPr/>
          <p:nvPr/>
        </p:nvSpPr>
        <p:spPr>
          <a:xfrm>
            <a:off x="9006840" y="2706624"/>
            <a:ext cx="2340864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9006840" y="2798064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 OFRECIDA</a:t>
            </a:r>
            <a:endParaRPr lang="en-US" sz="1000" dirty="0"/>
          </a:p>
        </p:txBody>
      </p:sp>
      <p:sp>
        <p:nvSpPr>
          <p:cNvPr id="52" name="Text 47"/>
          <p:cNvSpPr/>
          <p:nvPr/>
        </p:nvSpPr>
        <p:spPr>
          <a:xfrm>
            <a:off x="9006840" y="3054096"/>
            <a:ext cx="234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3000" dirty="0"/>
          </a:p>
        </p:txBody>
      </p:sp>
      <p:sp>
        <p:nvSpPr>
          <p:cNvPr id="53" name="Text 48"/>
          <p:cNvSpPr/>
          <p:nvPr/>
        </p:nvSpPr>
        <p:spPr>
          <a:xfrm>
            <a:off x="9006840" y="3675888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Tercera etapa sobre paño en adquisición a Inmobiliaria Maestra. Precios conservadores: el número puede mejorar.</a:t>
            </a:r>
            <a:endParaRPr lang="en-US" sz="1050" dirty="0"/>
          </a:p>
        </p:txBody>
      </p:sp>
      <p:sp>
        <p:nvSpPr>
          <p:cNvPr id="54" name="Shape 49"/>
          <p:cNvSpPr/>
          <p:nvPr/>
        </p:nvSpPr>
        <p:spPr>
          <a:xfrm>
            <a:off x="9006840" y="4572000"/>
            <a:ext cx="2340864" cy="1371600"/>
          </a:xfrm>
          <a:prstGeom prst="roundRect">
            <a:avLst>
              <a:gd name="adj" fmla="val 4667"/>
            </a:avLst>
          </a:prstGeom>
          <a:solidFill>
            <a:srgbClr val="1C3A57"/>
          </a:solidFill>
          <a:ln/>
        </p:spPr>
      </p:sp>
      <p:sp>
        <p:nvSpPr>
          <p:cNvPr id="55" name="Text 50"/>
          <p:cNvSpPr/>
          <p:nvPr/>
        </p:nvSpPr>
        <p:spPr>
          <a:xfrm>
            <a:off x="9006840" y="468172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$100M</a:t>
            </a:r>
            <a:endParaRPr lang="en-US" sz="1000" dirty="0"/>
          </a:p>
        </p:txBody>
      </p:sp>
      <p:sp>
        <p:nvSpPr>
          <p:cNvPr id="56" name="Text 51"/>
          <p:cNvSpPr/>
          <p:nvPr/>
        </p:nvSpPr>
        <p:spPr>
          <a:xfrm>
            <a:off x="9006840" y="493776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4,1%</a:t>
            </a:r>
            <a:endParaRPr lang="en-US" sz="3400" dirty="0"/>
          </a:p>
        </p:txBody>
      </p:sp>
      <p:sp>
        <p:nvSpPr>
          <p:cNvPr id="57" name="Text 52"/>
          <p:cNvSpPr/>
          <p:nvPr/>
        </p:nvSpPr>
        <p:spPr>
          <a:xfrm>
            <a:off x="9006840" y="5559552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proyecto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59" name="Text 54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04 · VIVIENDAS AV. LAS CONDES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6070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Av. Las Condes · Las Condes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4708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83080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Av. Las Condes N°14035 · Puertas de Las Condes · RM  ·  terreno 1.106 m² comprado en UF 19.000 (tasado ≈ UF 24.000)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313432"/>
            <a:ext cx="3099816" cy="3831336"/>
          </a:xfrm>
          <a:prstGeom prst="roundRect">
            <a:avLst>
              <a:gd name="adj" fmla="val 29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9" name="Image 1" descr="/home/claude/img/lascondes_portrai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2331720"/>
            <a:ext cx="3063240" cy="3794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40480" y="228600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escenarios de densidad — utilidad para el socio (15%)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840480" y="2697480"/>
            <a:ext cx="1459992" cy="3429000"/>
          </a:xfrm>
          <a:prstGeom prst="roundRect">
            <a:avLst>
              <a:gd name="adj" fmla="val 5010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968496" y="2843784"/>
            <a:ext cx="1203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casas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968496" y="3191256"/>
            <a:ext cx="1203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Normativa actual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968496" y="3538728"/>
            <a:ext cx="1203960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968496" y="3630168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</a:t>
            </a:r>
            <a:endParaRPr lang="en-US" sz="750" dirty="0"/>
          </a:p>
        </p:txBody>
      </p:sp>
      <p:sp>
        <p:nvSpPr>
          <p:cNvPr id="16" name="Text 12"/>
          <p:cNvSpPr/>
          <p:nvPr/>
        </p:nvSpPr>
        <p:spPr>
          <a:xfrm>
            <a:off x="3968496" y="3813048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13.568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3968496" y="421538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3968496" y="439826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23,2%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3968496" y="4800600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SOCIO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3968496" y="4983480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ROI 46,8%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3968496" y="540410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3968496" y="558698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1,47x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465064" y="2697480"/>
            <a:ext cx="1459992" cy="3429000"/>
          </a:xfrm>
          <a:prstGeom prst="roundRect">
            <a:avLst>
              <a:gd name="adj" fmla="val 5010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593080" y="2843784"/>
            <a:ext cx="1203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casas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5593080" y="3191256"/>
            <a:ext cx="1203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mix actual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5593080" y="3538728"/>
            <a:ext cx="1203960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593080" y="3630168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5593080" y="3813048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17.854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5593080" y="421538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5593080" y="439826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28,3%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593080" y="4800600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SOCIO</a:t>
            </a:r>
            <a:endParaRPr lang="en-US" sz="750" dirty="0"/>
          </a:p>
        </p:txBody>
      </p:sp>
      <p:sp>
        <p:nvSpPr>
          <p:cNvPr id="32" name="Text 28"/>
          <p:cNvSpPr/>
          <p:nvPr/>
        </p:nvSpPr>
        <p:spPr>
          <a:xfrm>
            <a:off x="5593080" y="4983480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ROI 61,6%</a:t>
            </a:r>
            <a:endParaRPr lang="en-US" sz="1400" dirty="0"/>
          </a:p>
        </p:txBody>
      </p:sp>
      <p:sp>
        <p:nvSpPr>
          <p:cNvPr id="33" name="Text 29"/>
          <p:cNvSpPr/>
          <p:nvPr/>
        </p:nvSpPr>
        <p:spPr>
          <a:xfrm>
            <a:off x="5593080" y="540410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750" dirty="0"/>
          </a:p>
        </p:txBody>
      </p:sp>
      <p:sp>
        <p:nvSpPr>
          <p:cNvPr id="34" name="Text 30"/>
          <p:cNvSpPr/>
          <p:nvPr/>
        </p:nvSpPr>
        <p:spPr>
          <a:xfrm>
            <a:off x="5593080" y="558698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1,62x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7089648" y="2697480"/>
            <a:ext cx="1459992" cy="3429000"/>
          </a:xfrm>
          <a:prstGeom prst="roundRect">
            <a:avLst>
              <a:gd name="adj" fmla="val 5010"/>
            </a:avLst>
          </a:prstGeom>
          <a:solidFill>
            <a:srgbClr val="13293D"/>
          </a:solidFill>
          <a:ln w="19050">
            <a:solidFill>
              <a:srgbClr val="C8A24A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36" name="Text 32"/>
          <p:cNvSpPr/>
          <p:nvPr/>
        </p:nvSpPr>
        <p:spPr>
          <a:xfrm>
            <a:off x="7217664" y="2843784"/>
            <a:ext cx="1203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casas</a:t>
            </a:r>
            <a:endParaRPr lang="en-US" sz="1500" dirty="0"/>
          </a:p>
        </p:txBody>
      </p:sp>
      <p:sp>
        <p:nvSpPr>
          <p:cNvPr id="37" name="Text 33"/>
          <p:cNvSpPr/>
          <p:nvPr/>
        </p:nvSpPr>
        <p:spPr>
          <a:xfrm>
            <a:off x="7217664" y="3191256"/>
            <a:ext cx="1203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OGUC ★</a:t>
            </a:r>
            <a:endParaRPr lang="en-US" sz="850" dirty="0"/>
          </a:p>
        </p:txBody>
      </p:sp>
      <p:sp>
        <p:nvSpPr>
          <p:cNvPr id="38" name="Shape 34"/>
          <p:cNvSpPr/>
          <p:nvPr/>
        </p:nvSpPr>
        <p:spPr>
          <a:xfrm>
            <a:off x="7217664" y="3538728"/>
            <a:ext cx="1203960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7217664" y="3630168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</a:t>
            </a:r>
            <a:endParaRPr lang="en-US" sz="750" dirty="0"/>
          </a:p>
        </p:txBody>
      </p:sp>
      <p:sp>
        <p:nvSpPr>
          <p:cNvPr id="40" name="Text 36"/>
          <p:cNvSpPr/>
          <p:nvPr/>
        </p:nvSpPr>
        <p:spPr>
          <a:xfrm>
            <a:off x="7217664" y="3813048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34.705</a:t>
            </a:r>
            <a:endParaRPr lang="en-US" sz="1200" dirty="0"/>
          </a:p>
        </p:txBody>
      </p:sp>
      <p:sp>
        <p:nvSpPr>
          <p:cNvPr id="41" name="Text 37"/>
          <p:cNvSpPr/>
          <p:nvPr/>
        </p:nvSpPr>
        <p:spPr>
          <a:xfrm>
            <a:off x="7217664" y="421538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</a:t>
            </a:r>
            <a:endParaRPr lang="en-US" sz="750" dirty="0"/>
          </a:p>
        </p:txBody>
      </p:sp>
      <p:sp>
        <p:nvSpPr>
          <p:cNvPr id="42" name="Text 38"/>
          <p:cNvSpPr/>
          <p:nvPr/>
        </p:nvSpPr>
        <p:spPr>
          <a:xfrm>
            <a:off x="7217664" y="439826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37,3%</a:t>
            </a:r>
            <a:endParaRPr lang="en-US" sz="1200" dirty="0"/>
          </a:p>
        </p:txBody>
      </p:sp>
      <p:sp>
        <p:nvSpPr>
          <p:cNvPr id="43" name="Text 39"/>
          <p:cNvSpPr/>
          <p:nvPr/>
        </p:nvSpPr>
        <p:spPr>
          <a:xfrm>
            <a:off x="7217664" y="4800600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SOCIO</a:t>
            </a:r>
            <a:endParaRPr lang="en-US" sz="750" dirty="0"/>
          </a:p>
        </p:txBody>
      </p:sp>
      <p:sp>
        <p:nvSpPr>
          <p:cNvPr id="44" name="Text 40"/>
          <p:cNvSpPr/>
          <p:nvPr/>
        </p:nvSpPr>
        <p:spPr>
          <a:xfrm>
            <a:off x="7217664" y="4983480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ROI 119,7%</a:t>
            </a:r>
            <a:endParaRPr lang="en-US" sz="1400" dirty="0"/>
          </a:p>
        </p:txBody>
      </p:sp>
      <p:sp>
        <p:nvSpPr>
          <p:cNvPr id="45" name="Text 41"/>
          <p:cNvSpPr/>
          <p:nvPr/>
        </p:nvSpPr>
        <p:spPr>
          <a:xfrm>
            <a:off x="7217664" y="540410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750" dirty="0"/>
          </a:p>
        </p:txBody>
      </p:sp>
      <p:sp>
        <p:nvSpPr>
          <p:cNvPr id="46" name="Text 42"/>
          <p:cNvSpPr/>
          <p:nvPr/>
        </p:nvSpPr>
        <p:spPr>
          <a:xfrm>
            <a:off x="7217664" y="558698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2,20x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8732520" y="2331720"/>
            <a:ext cx="2889504" cy="379476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48" name="Text 44"/>
          <p:cNvSpPr/>
          <p:nvPr/>
        </p:nvSpPr>
        <p:spPr>
          <a:xfrm>
            <a:off x="9006840" y="2487168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AL SOCIO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9006840" y="274320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4.350</a:t>
            </a:r>
            <a:endParaRPr lang="en-US" sz="3000" dirty="0"/>
          </a:p>
        </p:txBody>
      </p:sp>
      <p:sp>
        <p:nvSpPr>
          <p:cNvPr id="50" name="Text 46"/>
          <p:cNvSpPr/>
          <p:nvPr/>
        </p:nvSpPr>
        <p:spPr>
          <a:xfrm>
            <a:off x="9006840" y="3291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$177 M · paga la última cuota y deja el terreno pagado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9006840" y="3785616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pPr algn="l" indent="0" marL="0">
              <a:buNone/>
            </a:pPr>
            <a:r>
              <a:rPr lang="en-US" sz="120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del proyecto</a:t>
            </a:r>
            <a:endParaRPr lang="en-US" sz="2800" dirty="0"/>
          </a:p>
        </p:txBody>
      </p:sp>
      <p:sp>
        <p:nvSpPr>
          <p:cNvPr id="52" name="Text 48"/>
          <p:cNvSpPr/>
          <p:nvPr/>
        </p:nvSpPr>
        <p:spPr>
          <a:xfrm>
            <a:off x="9006840" y="4315968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mínima: 7,5% por UF 2.175 (≈ $89 M).</a:t>
            </a:r>
            <a:endParaRPr lang="en-US" sz="1000" dirty="0"/>
          </a:p>
        </p:txBody>
      </p:sp>
      <p:sp>
        <p:nvSpPr>
          <p:cNvPr id="53" name="Shape 49"/>
          <p:cNvSpPr/>
          <p:nvPr/>
        </p:nvSpPr>
        <p:spPr>
          <a:xfrm>
            <a:off x="9006840" y="4892040"/>
            <a:ext cx="2340864" cy="1005840"/>
          </a:xfrm>
          <a:prstGeom prst="roundRect">
            <a:avLst>
              <a:gd name="adj" fmla="val 6364"/>
            </a:avLst>
          </a:prstGeom>
          <a:solidFill>
            <a:srgbClr val="1C3A57"/>
          </a:solidFill>
          <a:ln/>
        </p:spPr>
      </p:sp>
      <p:sp>
        <p:nvSpPr>
          <p:cNvPr id="54" name="Text 50"/>
          <p:cNvSpPr/>
          <p:nvPr/>
        </p:nvSpPr>
        <p:spPr>
          <a:xfrm>
            <a:off x="9006840" y="4992624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$100M</a:t>
            </a:r>
            <a:endParaRPr lang="en-US" sz="1000" dirty="0"/>
          </a:p>
        </p:txBody>
      </p:sp>
      <p:sp>
        <p:nvSpPr>
          <p:cNvPr id="55" name="Text 51"/>
          <p:cNvSpPr/>
          <p:nvPr/>
        </p:nvSpPr>
        <p:spPr>
          <a:xfrm>
            <a:off x="9006840" y="5248656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8,5%</a:t>
            </a:r>
            <a:pPr algn="ctr" indent="0" marL="0">
              <a:buNone/>
            </a:pPr>
            <a:r>
              <a:rPr lang="en-US" sz="11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del proyecto</a:t>
            </a:r>
            <a:endParaRPr lang="en-US" sz="2600" dirty="0"/>
          </a:p>
        </p:txBody>
      </p:sp>
      <p:sp>
        <p:nvSpPr>
          <p:cNvPr id="56" name="Text 52"/>
          <p:cNvSpPr/>
          <p:nvPr/>
        </p:nvSpPr>
        <p:spPr>
          <a:xfrm>
            <a:off x="566928" y="62636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a 29 UF/m² vía Constructora Katu SpA.  </a:t>
            </a:r>
            <a:pPr indent="0" marL="0">
              <a:buNone/>
            </a:pPr>
            <a:r>
              <a:rPr lang="en-US" sz="9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escenario óptimo (4 casas) depende de la reforma OGUC; ya es rentable con 2–3 casas.</a:t>
            </a:r>
            <a:endParaRPr lang="en-US" sz="950" dirty="0"/>
          </a:p>
        </p:txBody>
      </p:sp>
      <p:sp>
        <p:nvSpPr>
          <p:cNvPr id="57" name="Text 53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58" name="Text 54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05 · LO CURRO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Curro · pipeline regulatorio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4708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8308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Curro · Vitacura · Región Metropolitana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377440"/>
            <a:ext cx="3749040" cy="3749040"/>
          </a:xfrm>
          <a:prstGeom prst="roundRect">
            <a:avLst>
              <a:gd name="adj" fmla="val 2439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542032"/>
            <a:ext cx="3419856" cy="3419856"/>
          </a:xfrm>
          <a:prstGeom prst="roundRect">
            <a:avLst>
              <a:gd name="adj" fmla="val 2139"/>
            </a:avLst>
          </a:prstGeom>
          <a:solidFill>
            <a:srgbClr val="1C3A5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77440"/>
            <a:ext cx="3749039" cy="374903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9808" y="4701845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Suelo en zona de alta plusvalía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49808" y="57424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617720" y="2377440"/>
            <a:ext cx="393192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818888" y="2596896"/>
            <a:ext cx="457200" cy="457200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616" y="27066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440680" y="252374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permisología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5440680" y="2852928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 su tramitación en la Dirección de Obras, a la espera del marco de densidad definitivo.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617720" y="3685032"/>
            <a:ext cx="393192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18888" y="3904488"/>
            <a:ext cx="457200" cy="457200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8616" y="4014216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40680" y="383133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Cambio de densidad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5440680" y="4160520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utilidad depende de la modificación al decreto de densidad que habilitaría más unidades sobre el mismo paño.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617720" y="4992624"/>
            <a:ext cx="393192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818888" y="5212080"/>
            <a:ext cx="457200" cy="457200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8616" y="532180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440680" y="51389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 ciudadana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5440680" y="5468112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prevista para el 26-jun-2026; se espera que la norma se modifique en el corto plazo.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8732520" y="2377440"/>
            <a:ext cx="2889504" cy="374904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9006840" y="2606040"/>
            <a:ext cx="548640" cy="548640"/>
          </a:xfrm>
          <a:prstGeom prst="ellipse">
            <a:avLst/>
          </a:prstGeom>
          <a:solidFill>
            <a:srgbClr val="15506E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8514" y="273771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006840" y="3291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Optionalidad de portafolio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9006840" y="3822192"/>
            <a:ext cx="2340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Curro entra como opción de upside: bajo capital comprometido hoy y un potencial de valorización que se libera con la reforma de densidad. El socio puede sumarlo una vez confirmada la edificabilidad.</a:t>
            </a:r>
            <a:endParaRPr lang="en-US" sz="1150" dirty="0"/>
          </a:p>
        </p:txBody>
      </p:sp>
      <p:sp>
        <p:nvSpPr>
          <p:cNvPr id="33" name="Shape 25"/>
          <p:cNvSpPr/>
          <p:nvPr/>
        </p:nvSpPr>
        <p:spPr>
          <a:xfrm>
            <a:off x="9006840" y="5413248"/>
            <a:ext cx="2340864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9006840" y="550468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CLAVE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9006840" y="5742432"/>
            <a:ext cx="234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 de junio de 2026 — respuesta de la consulta ciudadana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37" name="Text 29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RETORNOS COMPARADOS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 y retorno de cada proyecto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173736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proyectos operan en escalas distintas: el loteo de Talca genera la mayor utilidad absoluta; las viviendas de Las Condes, el ciclo más corto y el mayor retorno por peso aportado. Diversificar entre ellos equilibra magnitud, plazo y riesgo.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2514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DEL PROYECTO (UF)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21208" y="2788920"/>
          <a:ext cx="6400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60533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Santa Elena: utilidad Fase 1 (loteo). Consolidado con strip center: UF 435.485.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223760" y="2514600"/>
            <a:ext cx="4398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DE RETORNO POR PROYECTO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223760" y="2834640"/>
            <a:ext cx="4398264" cy="749808"/>
          </a:xfrm>
          <a:prstGeom prst="roundRect">
            <a:avLst>
              <a:gd name="adj" fmla="val 8537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24928" y="3136392"/>
            <a:ext cx="146304" cy="14630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3" name="Text 10"/>
          <p:cNvSpPr/>
          <p:nvPr/>
        </p:nvSpPr>
        <p:spPr>
          <a:xfrm>
            <a:off x="7726680" y="2944368"/>
            <a:ext cx="3712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Santa Elena (Talca)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726680" y="323697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126%  ·  MOIC 11,9x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223760" y="3730752"/>
            <a:ext cx="4398264" cy="749808"/>
          </a:xfrm>
          <a:prstGeom prst="roundRect">
            <a:avLst>
              <a:gd name="adj" fmla="val 8537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424928" y="4032504"/>
            <a:ext cx="146304" cy="146304"/>
          </a:xfrm>
          <a:prstGeom prst="ellipse">
            <a:avLst/>
          </a:prstGeom>
          <a:solidFill>
            <a:srgbClr val="A8842F"/>
          </a:solidFill>
          <a:ln/>
        </p:spPr>
      </p:sp>
      <p:sp>
        <p:nvSpPr>
          <p:cNvPr id="17" name="Text 14"/>
          <p:cNvSpPr/>
          <p:nvPr/>
        </p:nvSpPr>
        <p:spPr>
          <a:xfrm>
            <a:off x="7726680" y="3840480"/>
            <a:ext cx="3712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Av. Las Condes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726680" y="4133088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116%  ·  capital ×2,2 (≈24 meses)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223760" y="4626864"/>
            <a:ext cx="4398264" cy="749808"/>
          </a:xfrm>
          <a:prstGeom prst="roundRect">
            <a:avLst>
              <a:gd name="adj" fmla="val 8537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24928" y="4928616"/>
            <a:ext cx="146304" cy="146304"/>
          </a:xfrm>
          <a:prstGeom prst="ellipse">
            <a:avLst/>
          </a:prstGeom>
          <a:solidFill>
            <a:srgbClr val="15506E"/>
          </a:solidFill>
          <a:ln/>
        </p:spPr>
      </p:sp>
      <p:sp>
        <p:nvSpPr>
          <p:cNvPr id="21" name="Text 18"/>
          <p:cNvSpPr/>
          <p:nvPr/>
        </p:nvSpPr>
        <p:spPr>
          <a:xfrm>
            <a:off x="7726680" y="4736592"/>
            <a:ext cx="3712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Serena VI (La Serena)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726680" y="5029200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≈ 51% anual  ·  permiso + banco OK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223760" y="5522976"/>
            <a:ext cx="4398264" cy="749808"/>
          </a:xfrm>
          <a:prstGeom prst="roundRect">
            <a:avLst>
              <a:gd name="adj" fmla="val 8537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24928" y="5824728"/>
            <a:ext cx="146304" cy="146304"/>
          </a:xfrm>
          <a:prstGeom prst="ellipse">
            <a:avLst/>
          </a:prstGeom>
          <a:solidFill>
            <a:srgbClr val="13293D"/>
          </a:solidFill>
          <a:ln/>
        </p:spPr>
      </p:sp>
      <p:sp>
        <p:nvSpPr>
          <p:cNvPr id="25" name="Text 22"/>
          <p:cNvSpPr/>
          <p:nvPr/>
        </p:nvSpPr>
        <p:spPr>
          <a:xfrm>
            <a:off x="7726680" y="5632704"/>
            <a:ext cx="3712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Vive Radal (DS19)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7726680" y="5925312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s/capital 50%  ·  margen 16%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Y RESGUARDOS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se estructura y se protege tu capital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298948" cy="4343400"/>
          </a:xfrm>
          <a:prstGeom prst="roundRect">
            <a:avLst>
              <a:gd name="adj" fmla="val 1895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" y="2011680"/>
            <a:ext cx="548640" cy="548640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210" y="2143354"/>
            <a:ext cx="285293" cy="28529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27048" y="2084832"/>
            <a:ext cx="4110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participación</a:t>
            </a:r>
            <a:endParaRPr lang="en-US" sz="17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770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52728" y="270662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Sociedad vehículo (SpA)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252728" y="299923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SpA es dueña del activo; el socio aporta capital y recibe acciones a prorrata de su participación.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593592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52728" y="352958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Pacto de socios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1252728" y="382219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prelación de pagos, garantías, gobierno y el calendario de distribución de utilidades.</a:t>
            </a:r>
            <a:endParaRPr lang="en-US" sz="10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416552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252728" y="435254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Reparto a prorrata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1252728" y="464515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utilidades se reparten según el porcentaje de cada socio, al cierre o escrituración del proyecto.</a:t>
            </a:r>
            <a:endParaRPr lang="en-US" sz="10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5239512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52728" y="517550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diligence previo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1252728" y="546811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modelos financieros, permisos, tasaciones y títulos antes de comprometer el aporte.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6323076" y="1783080"/>
            <a:ext cx="5298948" cy="4343400"/>
          </a:xfrm>
          <a:prstGeom prst="roundRect">
            <a:avLst>
              <a:gd name="adj" fmla="val 1895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6615684" y="2011680"/>
            <a:ext cx="548640" cy="548640"/>
          </a:xfrm>
          <a:prstGeom prst="ellipse">
            <a:avLst/>
          </a:prstGeom>
          <a:solidFill>
            <a:srgbClr val="15506E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7358" y="2143354"/>
            <a:ext cx="285293" cy="285293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283196" y="2084832"/>
            <a:ext cx="4110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Tus resguardos</a:t>
            </a:r>
            <a:endParaRPr lang="en-US" sz="17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2770632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008876" y="270662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Terreno asegurado</a:t>
            </a:r>
            <a:endParaRPr lang="en-US" sz="1250" dirty="0"/>
          </a:p>
        </p:txBody>
      </p:sp>
      <p:sp>
        <p:nvSpPr>
          <p:cNvPr id="28" name="Text 19"/>
          <p:cNvSpPr/>
          <p:nvPr/>
        </p:nvSpPr>
        <p:spPr>
          <a:xfrm>
            <a:off x="7008876" y="299923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Suelo adquirido y escriturado, o comprado bajo tasación (Las Condes ~21% bajo tasación).</a:t>
            </a:r>
            <a:endParaRPr lang="en-US" sz="10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3593592"/>
            <a:ext cx="237744" cy="237744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7008876" y="352958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Permisos y banco</a:t>
            </a:r>
            <a:endParaRPr lang="en-US" sz="1250" dirty="0"/>
          </a:p>
        </p:txBody>
      </p:sp>
      <p:sp>
        <p:nvSpPr>
          <p:cNvPr id="31" name="Text 21"/>
          <p:cNvSpPr/>
          <p:nvPr/>
        </p:nvSpPr>
        <p:spPr>
          <a:xfrm>
            <a:off x="7008876" y="382219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Radal con permiso vigente; Alto Serena con permiso y financiamiento bancario aprobados.</a:t>
            </a:r>
            <a:endParaRPr lang="en-US" sz="10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43116" y="4416552"/>
            <a:ext cx="237744" cy="237744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7008876" y="435254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Construcción a costo</a:t>
            </a:r>
            <a:endParaRPr lang="en-US" sz="1250" dirty="0"/>
          </a:p>
        </p:txBody>
      </p:sp>
      <p:sp>
        <p:nvSpPr>
          <p:cNvPr id="34" name="Text 23"/>
          <p:cNvSpPr/>
          <p:nvPr/>
        </p:nvSpPr>
        <p:spPr>
          <a:xfrm>
            <a:off x="7008876" y="464515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Katu ejecuta a 29 UF/m²; el ahorro queda como mayor utilidad o contingencia.</a:t>
            </a:r>
            <a:endParaRPr lang="en-US" sz="10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43116" y="5239512"/>
            <a:ext cx="237744" cy="237744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7008876" y="517550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Holgura en los modelos</a:t>
            </a:r>
            <a:endParaRPr lang="en-US" sz="1250" dirty="0"/>
          </a:p>
        </p:txBody>
      </p:sp>
      <p:sp>
        <p:nvSpPr>
          <p:cNvPr id="37" name="Text 25"/>
          <p:cNvSpPr/>
          <p:nvPr/>
        </p:nvSpPr>
        <p:spPr>
          <a:xfrm>
            <a:off x="7008876" y="546811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Elena soporta −58,8% de precio y Las Condes −39% antes de entrar en pérdida.</a:t>
            </a:r>
            <a:endParaRPr lang="en-US" sz="1000" dirty="0"/>
          </a:p>
        </p:txBody>
      </p:sp>
      <p:sp>
        <p:nvSpPr>
          <p:cNvPr id="38" name="Text 26"/>
          <p:cNvSpPr/>
          <p:nvPr/>
        </p:nvSpPr>
        <p:spPr>
          <a:xfrm>
            <a:off x="566928" y="626364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en UF: tu inversión y tus utilidades están indexadas a la inflación.</a:t>
            </a:r>
            <a:endParaRPr lang="en-US" sz="1000" dirty="0"/>
          </a:p>
        </p:txBody>
      </p:sp>
      <p:sp>
        <p:nvSpPr>
          <p:cNvPr id="39" name="Text 27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40" name="Text 28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0" y="-1280160"/>
            <a:ext cx="4572000" cy="822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000" b="1" dirty="0">
                <a:solidFill>
                  <a:srgbClr val="1C3A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43000" dirty="0"/>
          </a:p>
        </p:txBody>
      </p:sp>
      <p:sp>
        <p:nvSpPr>
          <p:cNvPr id="3" name="Text 1"/>
          <p:cNvSpPr/>
          <p:nvPr/>
        </p:nvSpPr>
        <p:spPr>
          <a:xfrm>
            <a:off x="566928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INVITACIÓN A INVERTIR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66928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Construyamos el portafolio juntos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2926080" cy="0"/>
          </a:xfrm>
          <a:prstGeom prst="line">
            <a:avLst/>
          </a:prstGeom>
          <a:noFill/>
          <a:ln w="31750">
            <a:solidFill>
              <a:srgbClr val="C8A2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3200400"/>
            <a:ext cx="3441192" cy="1828800"/>
          </a:xfrm>
          <a:prstGeom prst="roundRect">
            <a:avLst>
              <a:gd name="adj" fmla="val 4000"/>
            </a:avLst>
          </a:prstGeom>
          <a:solidFill>
            <a:srgbClr val="1C3A5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34015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41248" y="402336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Elegir proyecto(s)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41248" y="4370832"/>
            <a:ext cx="2892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en cuál o cuáles proyectos participar y el monto de aporte (mínimo $100M).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73880" y="3200400"/>
            <a:ext cx="3441192" cy="1828800"/>
          </a:xfrm>
          <a:prstGeom prst="roundRect">
            <a:avLst>
              <a:gd name="adj" fmla="val 4000"/>
            </a:avLst>
          </a:prstGeom>
          <a:solidFill>
            <a:srgbClr val="1C3A57"/>
          </a:solidFill>
          <a:ln/>
        </p:spPr>
      </p:sp>
      <p:sp>
        <p:nvSpPr>
          <p:cNvPr id="11" name="Text 9"/>
          <p:cNvSpPr/>
          <p:nvPr/>
        </p:nvSpPr>
        <p:spPr>
          <a:xfrm>
            <a:off x="4648200" y="34015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48200" y="402336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diligence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48200" y="4370832"/>
            <a:ext cx="2892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modelos financieros, permisos, tasaciones y títulos de cada proyecto.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80832" y="3200400"/>
            <a:ext cx="3441192" cy="1828800"/>
          </a:xfrm>
          <a:prstGeom prst="roundRect">
            <a:avLst>
              <a:gd name="adj" fmla="val 4000"/>
            </a:avLst>
          </a:prstGeom>
          <a:solidFill>
            <a:srgbClr val="1C3A57"/>
          </a:solidFill>
          <a:ln/>
        </p:spPr>
      </p:sp>
      <p:sp>
        <p:nvSpPr>
          <p:cNvPr id="15" name="Text 13"/>
          <p:cNvSpPr/>
          <p:nvPr/>
        </p:nvSpPr>
        <p:spPr>
          <a:xfrm>
            <a:off x="8455152" y="34015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455152" y="402336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Pacto de socios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55152" y="4370832"/>
            <a:ext cx="2892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Formalización de la participación, prelación de pagos y calendario de distribuciones.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440680"/>
            <a:ext cx="11055096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56235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Inmobiliaria Magna SpA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Construcción: Constructora Katu SpA   ·   Enzo Ramírez   ·   enzoramirezsch@gmail.com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8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confidencial · Junio 2026 · Cifras en UF según modelos financieros · UF ≈ $40.795 (21-jun-2026) · Sujeto a due diligence</a:t>
            </a:r>
            <a:endParaRPr lang="en-US" sz="850" dirty="0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Portafolio de Inversión Inmobiliaria 2026</dc:title>
  <dc:subject>PptxGenJS Presentation</dc:subject>
  <dc:creator>Inmobiliaria Magna SpA</dc:creator>
  <cp:lastModifiedBy>Inmobiliaria Magna SpA</cp:lastModifiedBy>
  <cp:revision>1</cp:revision>
  <dcterms:created xsi:type="dcterms:W3CDTF">2026-06-23T00:13:12Z</dcterms:created>
  <dcterms:modified xsi:type="dcterms:W3CDTF">2026-06-23T00:13:12Z</dcterms:modified>
</cp:coreProperties>
</file>