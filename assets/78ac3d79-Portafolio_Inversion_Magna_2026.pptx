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1550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50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50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A2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Vive Radal</c:v>
                  </c:pt>
                  <c:pt idx="1">
                    <c:v>Santa Elena*</c:v>
                  </c:pt>
                  <c:pt idx="2">
                    <c:v>Alto Serena VI</c:v>
                  </c:pt>
                  <c:pt idx="3">
                    <c:v>Av. Las Condes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71562</c:v>
                </c:pt>
                <c:pt idx="1">
                  <c:v>256745</c:v>
                </c:pt>
                <c:pt idx="2">
                  <c:v>150000</c:v>
                </c:pt>
                <c:pt idx="3">
                  <c:v>34705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99832" y="850392"/>
            <a:ext cx="3831336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3" name="Image 0" descr="/home/claude/img/cover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868680"/>
            <a:ext cx="379476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99832" y="4206240"/>
            <a:ext cx="1865376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5" name="Image 1" descr="/home/claude/img/cover_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4224528"/>
            <a:ext cx="1828800" cy="1737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765792" y="4206240"/>
            <a:ext cx="1865376" cy="1773936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7" name="Image 2" descr="/home/claude/img/cover_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84080" y="4224528"/>
            <a:ext cx="1828800" cy="1737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6928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66928" y="16002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Inversión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Inmobiliaria 2026</a:t>
            </a:r>
            <a:endParaRPr lang="en-US" sz="4400" dirty="0"/>
          </a:p>
        </p:txBody>
      </p:sp>
      <p:sp>
        <p:nvSpPr>
          <p:cNvPr id="10" name="Shape 5"/>
          <p:cNvSpPr/>
          <p:nvPr/>
        </p:nvSpPr>
        <p:spPr>
          <a:xfrm>
            <a:off x="566928" y="3429000"/>
            <a:ext cx="2926080" cy="0"/>
          </a:xfrm>
          <a:prstGeom prst="line">
            <a:avLst/>
          </a:prstGeom>
          <a:noFill/>
          <a:ln w="31750">
            <a:solidFill>
              <a:srgbClr val="C8A24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66928" y="3657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desarrollos en Santiago, Talca y La Serena. Una invitación a participar como socio inversionista en un portafolio inmobiliario diversificado por etapa, ubicación y riesgo.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566928" y="5806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Normal   ·   Talca   ·   La Serena   ·   Las Condes   ·   Lo Curro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66928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E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INVERSIÓN  ·  ESTRUCTURACIÓN DE CAPITAL  ·  JUNIO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INVITACIÓN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aporte, acceso a un portafolio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 abre la participación a un socio inversionista en cinco desarrollos que comparten una misma lógica: terreno asegurado o bajo tasación, construcción a costo vía Constructora Katu SpA, y la densidad como palanca de utilidad. El socio elige en qué proyecto entrar — o reparte su aporte entre varios.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99" y="3373039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diversificado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9536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proyectos en tres regiones y distintas etapas (DS19, loteo, torre, viviendas, pipeline) reparten la exposición.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3880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6488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51" y="337303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6488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propia, a costo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6488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Katu SpA ejecuta a 29 UF/m²: el margen del constructor queda dentro del proyecto y de los socios.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0832" y="2926080"/>
            <a:ext cx="3441192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73440" y="3236976"/>
            <a:ext cx="566928" cy="566928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503" y="3373039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3440" y="3913632"/>
            <a:ext cx="2855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flexible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73440" y="4389120"/>
            <a:ext cx="2855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mínimo de $100 millones. El aporte se traduce en un porcentaje proporcional de cada proyecto.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5532120"/>
            <a:ext cx="11055096" cy="713232"/>
          </a:xfrm>
          <a:prstGeom prst="roundRect">
            <a:avLst>
              <a:gd name="adj" fmla="val 10256"/>
            </a:avLst>
          </a:prstGeom>
          <a:solidFill>
            <a:srgbClr val="13293D"/>
          </a:solidFill>
          <a:ln/>
        </p:spPr>
      </p:sp>
      <p:sp>
        <p:nvSpPr>
          <p:cNvPr id="23" name="Text 18"/>
          <p:cNvSpPr/>
          <p:nvPr/>
        </p:nvSpPr>
        <p:spPr>
          <a:xfrm>
            <a:off x="932688" y="553212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mínimo de ingreso:  </a:t>
            </a:r>
            <a:pPr algn="l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$100.000.000</a:t>
            </a:r>
            <a:pPr algn="l" indent="0" marL="0">
              <a:buNone/>
            </a:pPr>
            <a:r>
              <a:rPr lang="en-US" sz="14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equivalente a ≈ UF 2.452   ·   UF al 21-jun-2026 ≈ $40.795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INVERTIR CON MAGNA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razones para participar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532" y="223040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Activos reales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en suelo y propiedades — activos tangibles cuyo valor perdura y resguarda el capital en el tiempo.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3880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8200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484" y="223040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8200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 a UF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8200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Aportes, precios de venta y utilidades expresados en UF: cobertura natural frente a la inflación.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0832" y="182880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5152" y="210312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436" y="223040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5152" y="274320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a costo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55152" y="310896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Katu SpA ejecuta a 29 UF/m². El margen del constructor queda dentro del proyecto, no en un tercero.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66928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1248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32" y="4470684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Diversificación real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41248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proyectos, tres regiones, distintas etapas y tipologías: el riesgo se reparte, no se concentra.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73880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648200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484" y="4470684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48200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 recurrente opcional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48200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Elena suma un strip center con NOI de UF 17.600/año: flujo recurrente además de la utilidad de desarrollo.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80832" y="4069080"/>
            <a:ext cx="3441192" cy="1965960"/>
          </a:xfrm>
          <a:prstGeom prst="roundRect">
            <a:avLst>
              <a:gd name="adj" fmla="val 3721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55152" y="4343400"/>
            <a:ext cx="530352" cy="530352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436" y="4470684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5152" y="498348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y aliados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455152" y="5349240"/>
            <a:ext cx="289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(desarrollo y gestión), Katu (construcción) y AM Arquitectos (diseño): un equipo con obra ejecutada.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PORTAFOLIO DE UN VISTAZO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proyectos activos + un pipeline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83080"/>
                <a:gridCol w="1417320"/>
                <a:gridCol w="1051560"/>
                <a:gridCol w="2240280"/>
                <a:gridCol w="209397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clave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ancla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% ofrecido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 Radal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DS19 · 166 deptos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Quinta Normal · 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5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s/capital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15.000 · 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Elena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Loteo + strip · Talca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Talca · Maule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256.745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126% · MOIC 11,9x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5.000 ·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Serena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Torre 12 pisos · 3 etapas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Serena · Coquimbo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150.000*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≈ 51%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6.000 · 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Las Condes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Viviendas · esc. óptimo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Condes · 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116% · cap. ×2,2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4.350 ·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Curro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· Vitacura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permisología — se activa con la reforma de densidad (respuesta a la consulta ciudadana el 26-jun-2026). Cifras en evaluación.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016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5C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definir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8521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Serena: utilidad estimada del conjunto (3 etapas); el modelo por torre arroja ≈ UF 100.000 con precios de venta bajo mercado (upside).   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en Santa Elena (UF 163.901 Fase 1 · UF 239.770 consolidado); se detalla en la ficha de cada proyecto.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INGRESA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 millones — el proporcional por proyecto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55648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mínimo es de $100 millones (≈ UF 2.452). Como cada proyecto tiene una valorización distinta, ese mismo aporte compra un porcentaje diferente en cada uno. La tabla muestra a cuánto equivale el ticket mínimo en cada proyecto y el tramo ancla disponible.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3017520"/>
                <a:gridCol w="2368296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Valorización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 / 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ancla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(UF / $ / 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por cada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 (≈ UF 2.452)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Vive Radal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83.333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$3.400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15.000 · $612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Elena (Talca)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$2.040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5.000 · $204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Serena VI (La Serena)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$2.448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6.000 · $245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Las Condes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25400" marT="25400" marB="2540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29.000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$1.183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UF 4.350 · $177 M · 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(mín. UF 2.175 · 7,5%)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A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9436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ticket rinde más participación donde la valorización total es menor. Las Condes (proyecto más pequeño) entrega 8,5% por $100M; Vive Radal (el mayor) entrega 2,9%. Porcentajes y montos referenciales; términos finales en el pacto de socios.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01 · VIVE RADAL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 Radal · DS19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Radal 1028–1042 · Quinta Normal · Región Metropolitana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53288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de edificación vigente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2121408"/>
            <a:ext cx="154625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2121408"/>
            <a:ext cx="14365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 DS19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975250" y="2121408"/>
            <a:ext cx="169804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30114" y="2121408"/>
            <a:ext cx="15883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escriturado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2523744"/>
            <a:ext cx="4197096" cy="2276856"/>
          </a:xfrm>
          <a:prstGeom prst="roundRect">
            <a:avLst>
              <a:gd name="adj" fmla="val 40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15" name="Image 1" descr="/home/claude/img/radal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2542032"/>
            <a:ext cx="4160520" cy="22402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4.745,5 m²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458.989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Tasación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76.171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71.562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a. de imp.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 / 20%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v / c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s/capital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1,23x</a:t>
            </a:r>
            <a:endParaRPr lang="en-US" sz="2100" dirty="0"/>
          </a:p>
        </p:txBody>
      </p:sp>
      <p:sp>
        <p:nvSpPr>
          <p:cNvPr id="41" name="Text 37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/ terreno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subsidiada por el Estado: el DS19 traslada el riesgo comercial a una demanda con subsidio asignado.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15.000</a:t>
            </a:r>
            <a:endParaRPr lang="en-US" sz="3300" dirty="0"/>
          </a:p>
        </p:txBody>
      </p:sp>
      <p:sp>
        <p:nvSpPr>
          <p:cNvPr id="48" name="Text 43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$612 millones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000" dirty="0"/>
          </a:p>
        </p:txBody>
      </p:sp>
      <p:sp>
        <p:nvSpPr>
          <p:cNvPr id="52" name="Text 47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Repago vía créditos hipotecarios a la escrituración. Estructurable como equity o crédito mezzanine.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4" name="Text 49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2,9%</a:t>
            </a:r>
            <a:endParaRPr lang="en-US" sz="3400" dirty="0"/>
          </a:p>
        </p:txBody>
      </p:sp>
      <p:sp>
        <p:nvSpPr>
          <p:cNvPr id="56" name="Text 51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02 · SANTA ELENA DE HUILQUILEMU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 Elena · Talca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San Miguel N°6850 · Talca · Región del Maule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9123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550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802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Loteo 150 lotes + strip 100 locales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43884" y="2121408"/>
            <a:ext cx="17739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98748" y="212140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v4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2542032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706624"/>
            <a:ext cx="3831336" cy="1911096"/>
          </a:xfrm>
          <a:prstGeom prst="roundRect">
            <a:avLst>
              <a:gd name="adj" fmla="val 3828"/>
            </a:avLst>
          </a:prstGeom>
          <a:solidFill>
            <a:srgbClr val="1C3A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3034894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393100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Loteo urbanizado + Strip Center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9808" y="4398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referencial · render por incorporar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2.988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Paño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19,26 ha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F1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468.200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locales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strip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17.600/a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256.745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Fase 1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163.901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(12% real)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126%</a:t>
            </a:r>
            <a:endParaRPr lang="en-US" sz="2100" dirty="0"/>
          </a:p>
        </p:txBody>
      </p:sp>
      <p:sp>
        <p:nvSpPr>
          <p:cNvPr id="39" name="Text 35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del flujo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11,9x</a:t>
            </a:r>
            <a:endParaRPr lang="en-US" sz="2100" dirty="0"/>
          </a:p>
        </p:txBody>
      </p:sp>
      <p:sp>
        <p:nvSpPr>
          <p:cNvPr id="42" name="Text 38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oferta de lotes urbanizados intermedios del oriente de Talca: sin competencia directa en la zona.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5.000</a:t>
            </a:r>
            <a:endParaRPr lang="en-US" sz="3300" dirty="0"/>
          </a:p>
        </p:txBody>
      </p:sp>
      <p:sp>
        <p:nvSpPr>
          <p:cNvPr id="49" name="Text 44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$204 millones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53" name="Text 48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 pagado en cuotas calzadas al flujo de ventas. Capital propio máx. UF 23.611. Escenarios 90/120/150.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5" name="Text 50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4,9%</a:t>
            </a:r>
            <a:endParaRPr lang="en-US" sz="3400" dirty="0"/>
          </a:p>
        </p:txBody>
      </p:sp>
      <p:sp>
        <p:nvSpPr>
          <p:cNvPr id="57" name="Text 52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03 · ALTO SERENA VI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Serena VI · La Serena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1965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556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Arco · Puertas del Mar · La Serena · Región de Coquimbo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2121408"/>
            <a:ext cx="260878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121408"/>
            <a:ext cx="24990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 de edificación APROBADO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40303" y="2121408"/>
            <a:ext cx="268467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5167" y="2121408"/>
            <a:ext cx="25749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 bancario APROBADO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" y="2542032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706624"/>
            <a:ext cx="3831336" cy="1911096"/>
          </a:xfrm>
          <a:prstGeom prst="roundRect">
            <a:avLst>
              <a:gd name="adj" fmla="val 3828"/>
            </a:avLst>
          </a:prstGeom>
          <a:solidFill>
            <a:srgbClr val="1C3A5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268" y="3034894"/>
            <a:ext cx="1005840" cy="10058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393100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 habitacional · 12 pisos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49808" y="439826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referencial · render por incorporar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66928" y="484632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95528" y="49194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 en cifras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552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Terreno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6420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8.825 m²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9552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terreno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66420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61.780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552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vend.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66420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10.204 m²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761488" y="5230368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construir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30168" y="52303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12.322 m²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761488" y="5522976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constr.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630168" y="5522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UF/m²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761488" y="5815584"/>
            <a:ext cx="938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30168" y="5815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98348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07492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UF 150.000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07492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(3 etapas)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858000" y="2542032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49440" y="2651760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51%</a:t>
            </a:r>
            <a:endParaRPr lang="en-US" sz="2100" dirty="0"/>
          </a:p>
        </p:txBody>
      </p:sp>
      <p:sp>
        <p:nvSpPr>
          <p:cNvPr id="36" name="Text 32"/>
          <p:cNvSpPr/>
          <p:nvPr/>
        </p:nvSpPr>
        <p:spPr>
          <a:xfrm>
            <a:off x="6949440" y="3238805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proyecto anual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7492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16–19%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507492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del modelo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858000" y="3794760"/>
            <a:ext cx="169164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3904488"/>
            <a:ext cx="1508760" cy="603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pisos</a:t>
            </a:r>
            <a:endParaRPr lang="en-US" sz="2000" dirty="0"/>
          </a:p>
        </p:txBody>
      </p:sp>
      <p:sp>
        <p:nvSpPr>
          <p:cNvPr id="42" name="Text 38"/>
          <p:cNvSpPr/>
          <p:nvPr/>
        </p:nvSpPr>
        <p:spPr>
          <a:xfrm>
            <a:off x="6949440" y="4491533"/>
            <a:ext cx="1508760" cy="41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habitacional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983480" y="504748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13293D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248656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641848" y="51206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proyecto con permiso de edificación y financiamiento bancario ya aprobados. Precios bajo mercado: upside.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8732520" y="1060704"/>
            <a:ext cx="2889504" cy="507492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9006840" y="1280160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9006840" y="1627632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6.000</a:t>
            </a:r>
            <a:endParaRPr lang="en-US" sz="3300" dirty="0"/>
          </a:p>
        </p:txBody>
      </p:sp>
      <p:sp>
        <p:nvSpPr>
          <p:cNvPr id="49" name="Text 44"/>
          <p:cNvSpPr/>
          <p:nvPr/>
        </p:nvSpPr>
        <p:spPr>
          <a:xfrm>
            <a:off x="9006840" y="22860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$245 millones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9006840" y="2706624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9006840" y="27980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OFRECIDA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9006840" y="3054096"/>
            <a:ext cx="234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000" dirty="0"/>
          </a:p>
        </p:txBody>
      </p:sp>
      <p:sp>
        <p:nvSpPr>
          <p:cNvPr id="53" name="Text 48"/>
          <p:cNvSpPr/>
          <p:nvPr/>
        </p:nvSpPr>
        <p:spPr>
          <a:xfrm>
            <a:off x="9006840" y="3675888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etapa sobre paño en adquisición a Inmobiliaria Maestra. Precios conservadores: el número puede mejorar.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9006840" y="4572000"/>
            <a:ext cx="2340864" cy="1371600"/>
          </a:xfrm>
          <a:prstGeom prst="roundRect">
            <a:avLst>
              <a:gd name="adj" fmla="val 4667"/>
            </a:avLst>
          </a:prstGeom>
          <a:solidFill>
            <a:srgbClr val="1C3A57"/>
          </a:solidFill>
          <a:ln/>
        </p:spPr>
      </p:sp>
      <p:sp>
        <p:nvSpPr>
          <p:cNvPr id="55" name="Text 50"/>
          <p:cNvSpPr/>
          <p:nvPr/>
        </p:nvSpPr>
        <p:spPr>
          <a:xfrm>
            <a:off x="9006840" y="468172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9006840" y="4937760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4,1%</a:t>
            </a:r>
            <a:endParaRPr lang="en-US" sz="3400" dirty="0"/>
          </a:p>
        </p:txBody>
      </p:sp>
      <p:sp>
        <p:nvSpPr>
          <p:cNvPr id="57" name="Text 52"/>
          <p:cNvSpPr/>
          <p:nvPr/>
        </p:nvSpPr>
        <p:spPr>
          <a:xfrm>
            <a:off x="9006840" y="55595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04 · VIVIENDAS AV. LAS CONDES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6070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Av. Las Condes · Las Condes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8308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Av. Las Condes N°14035 · Puertas de Las Condes · RM  ·  terreno 1.106 m² comprado en UF 19.000 (tasado ≈ UF 24.000)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3099816" cy="3831336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pic>
        <p:nvPicPr>
          <p:cNvPr id="9" name="Image 1" descr="/home/claude/img/lascondes_portra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2331720"/>
            <a:ext cx="3063240" cy="3794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228600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escenarios de densidad — utilidad para el socio (15%)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40480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68496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casas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968496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actual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68496" y="3538728"/>
            <a:ext cx="12039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68496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968496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13.568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968496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968496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23,2%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968496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968496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46,8%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968496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968496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1,47x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65064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593080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casas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93080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mix actual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593080" y="3538728"/>
            <a:ext cx="1203960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593080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593080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17.854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593080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593080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28,3%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593080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5593080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61,6%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93080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593080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1,62x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7089648" y="2697480"/>
            <a:ext cx="1459992" cy="3429000"/>
          </a:xfrm>
          <a:prstGeom prst="roundRect">
            <a:avLst>
              <a:gd name="adj" fmla="val 5010"/>
            </a:avLst>
          </a:prstGeom>
          <a:solidFill>
            <a:srgbClr val="13293D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7217664" y="2843784"/>
            <a:ext cx="1203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casas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7217664" y="3191256"/>
            <a:ext cx="120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OGUC ★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7217664" y="3538728"/>
            <a:ext cx="120396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217664" y="3630168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7217664" y="3813048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34.705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217664" y="421538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7217664" y="439826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37,3%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7217664" y="4800600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SOCIO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7217664" y="4983480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119,7%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7217664" y="5404104"/>
            <a:ext cx="1203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3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217664" y="5586984"/>
            <a:ext cx="1203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2,20x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8732520" y="2331720"/>
            <a:ext cx="2889504" cy="379476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9006840" y="248716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AL SOCIO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9006840" y="27432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 4.350</a:t>
            </a:r>
            <a:endParaRPr lang="en-US" sz="3000" dirty="0"/>
          </a:p>
        </p:txBody>
      </p:sp>
      <p:sp>
        <p:nvSpPr>
          <p:cNvPr id="50" name="Text 46"/>
          <p:cNvSpPr/>
          <p:nvPr/>
        </p:nvSpPr>
        <p:spPr>
          <a:xfrm>
            <a:off x="9006840" y="3291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$177 M · paga la última cuota y deja el terreno pagado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9006840" y="3785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pPr algn="l" indent="0" marL="0">
              <a:buNone/>
            </a:pP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 proyecto</a:t>
            </a:r>
            <a:endParaRPr lang="en-US" sz="2800" dirty="0"/>
          </a:p>
        </p:txBody>
      </p:sp>
      <p:sp>
        <p:nvSpPr>
          <p:cNvPr id="52" name="Text 48"/>
          <p:cNvSpPr/>
          <p:nvPr/>
        </p:nvSpPr>
        <p:spPr>
          <a:xfrm>
            <a:off x="9006840" y="4315968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mínima: 7,5% por UF 2.175 (≈ $89 M).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9006840" y="4892040"/>
            <a:ext cx="2340864" cy="1005840"/>
          </a:xfrm>
          <a:prstGeom prst="roundRect">
            <a:avLst>
              <a:gd name="adj" fmla="val 6364"/>
            </a:avLst>
          </a:prstGeom>
          <a:solidFill>
            <a:srgbClr val="1C3A57"/>
          </a:solidFill>
          <a:ln/>
        </p:spPr>
      </p:sp>
      <p:sp>
        <p:nvSpPr>
          <p:cNvPr id="54" name="Text 50"/>
          <p:cNvSpPr/>
          <p:nvPr/>
        </p:nvSpPr>
        <p:spPr>
          <a:xfrm>
            <a:off x="9006840" y="49926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$100M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006840" y="524865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8,5%</a:t>
            </a:r>
            <a:pPr algn="ctr" indent="0" marL="0">
              <a:buNone/>
            </a:pPr>
            <a:r>
              <a:rPr lang="en-US" sz="11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 proyecto</a:t>
            </a:r>
            <a:endParaRPr lang="en-US" sz="2600" dirty="0"/>
          </a:p>
        </p:txBody>
      </p:sp>
      <p:sp>
        <p:nvSpPr>
          <p:cNvPr id="56" name="Text 52"/>
          <p:cNvSpPr/>
          <p:nvPr/>
        </p:nvSpPr>
        <p:spPr>
          <a:xfrm>
            <a:off x="566928" y="6263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a 29 UF/m² vía Constructora Katu SpA.  </a:t>
            </a:r>
            <a:pPr indent="0" marL="0">
              <a:buNone/>
            </a:pPr>
            <a:r>
              <a:rPr lang="en-US" sz="95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óptimo (4 casas) depende de la reforma OGUC; ya es rentable con 2–3 casas.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58" name="Text 54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05 · LO CURRO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Curro · pipeline regulatorio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783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Curro · Vitacura · Región Metropolitana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774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542032"/>
            <a:ext cx="3419856" cy="3419856"/>
          </a:xfrm>
          <a:prstGeom prst="roundRect">
            <a:avLst>
              <a:gd name="adj" fmla="val 2139"/>
            </a:avLst>
          </a:prstGeom>
          <a:solidFill>
            <a:srgbClr val="1C3A5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3202229"/>
            <a:ext cx="100584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470184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Suelo en zona de alta plusvalía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49808" y="5742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referencial · render por incorporar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617720" y="2377440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18888" y="2596896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70662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5237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permisología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40680" y="285292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su tramitación en la Dirección de Obras, a la espera del marco de densidad definitivo.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7720" y="3685032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18888" y="3904488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4014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8313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densidad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40680" y="416052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utilidad depende de la modificación al decreto de densidad que habilitaría más unidades sobre el mismo paño.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17720" y="4992624"/>
            <a:ext cx="3931920" cy="1161288"/>
          </a:xfrm>
          <a:prstGeom prst="roundRect">
            <a:avLst>
              <a:gd name="adj" fmla="val 5512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18888" y="5212080"/>
            <a:ext cx="457200" cy="45720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616" y="532180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51389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ciudadana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440680" y="546811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prevista para el 26-jun-2026; se espera que la norma se modifique en el corto plazo.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732520" y="2377440"/>
            <a:ext cx="2889504" cy="3749040"/>
          </a:xfrm>
          <a:prstGeom prst="roundRect">
            <a:avLst>
              <a:gd name="adj" fmla="val 2848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006840" y="2606040"/>
            <a:ext cx="548640" cy="548640"/>
          </a:xfrm>
          <a:prstGeom prst="ellipse">
            <a:avLst/>
          </a:prstGeom>
          <a:solidFill>
            <a:srgbClr val="15506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514" y="27377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29184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Optionalidad de portafolio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006840" y="3822192"/>
            <a:ext cx="23408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Curro entra como opción de upside: bajo capital comprometido hoy y un potencial de valorización que se libera con la reforma de densidad. El socio puede sumarlo una vez confirmada la edificabilidad.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9006840" y="5413248"/>
            <a:ext cx="2340864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06840" y="5504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CLAVE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9006840" y="57424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de junio de 2026 — respuesta de la consulta ciudadana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COMPARADOS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y retorno de cada proyecto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operan en escalas distintas: el loteo de Talca genera la mayor utilidad absoluta; las viviendas de Las Condes, el ciclo más corto y el mayor retorno por peso aportado. Diversificar entre ellos equilibra magnitud, plazo y riesgo.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DEL PROYECTO (UF)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21208" y="27889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Santa Elena: utilidad Fase 1 (loteo). Consolidado con strip center: UF 435.485.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223760" y="2514600"/>
            <a:ext cx="4398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RETORNO POR PROYECTO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23760" y="2834640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24928" y="3136392"/>
            <a:ext cx="146304" cy="14630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0"/>
          <p:cNvSpPr/>
          <p:nvPr/>
        </p:nvSpPr>
        <p:spPr>
          <a:xfrm>
            <a:off x="7726680" y="294436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 Elena (Talca)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323697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126%  ·  MOIC 11,9x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23760" y="3730752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24928" y="4032504"/>
            <a:ext cx="146304" cy="146304"/>
          </a:xfrm>
          <a:prstGeom prst="ellipse">
            <a:avLst/>
          </a:prstGeom>
          <a:solidFill>
            <a:srgbClr val="A8842F"/>
          </a:solidFill>
          <a:ln/>
        </p:spPr>
      </p:sp>
      <p:sp>
        <p:nvSpPr>
          <p:cNvPr id="17" name="Text 14"/>
          <p:cNvSpPr/>
          <p:nvPr/>
        </p:nvSpPr>
        <p:spPr>
          <a:xfrm>
            <a:off x="7726680" y="3840480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Av. Las Condes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4133088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116%  ·  capital ×2,2 (≈24 meses)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223760" y="4626864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24928" y="4928616"/>
            <a:ext cx="146304" cy="146304"/>
          </a:xfrm>
          <a:prstGeom prst="ellipse">
            <a:avLst/>
          </a:prstGeom>
          <a:solidFill>
            <a:srgbClr val="15506E"/>
          </a:solidFill>
          <a:ln/>
        </p:spPr>
      </p:sp>
      <p:sp>
        <p:nvSpPr>
          <p:cNvPr id="21" name="Text 18"/>
          <p:cNvSpPr/>
          <p:nvPr/>
        </p:nvSpPr>
        <p:spPr>
          <a:xfrm>
            <a:off x="7726680" y="4736592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Serena VI (La Serena)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26680" y="502920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≈ 51% anual  ·  permiso + banco OK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23760" y="5522976"/>
            <a:ext cx="4398264" cy="749808"/>
          </a:xfrm>
          <a:prstGeom prst="roundRect">
            <a:avLst>
              <a:gd name="adj" fmla="val 8537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24928" y="5824728"/>
            <a:ext cx="146304" cy="146304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25" name="Text 22"/>
          <p:cNvSpPr/>
          <p:nvPr/>
        </p:nvSpPr>
        <p:spPr>
          <a:xfrm>
            <a:off x="7726680" y="5632704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 Radal (DS19)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726680" y="592531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s/capital 50%  ·  margen 16%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3856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RESGUARDOS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932688"/>
            <a:ext cx="11055096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789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estructura y se protege tu capital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298948" cy="4343400"/>
          </a:xfrm>
          <a:prstGeom prst="roundRect">
            <a:avLst>
              <a:gd name="adj" fmla="val 1895"/>
            </a:avLst>
          </a:prstGeom>
          <a:solidFill>
            <a:srgbClr val="F3F5F8"/>
          </a:solidFill>
          <a:ln w="12700">
            <a:solidFill>
              <a:srgbClr val="D7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011680"/>
            <a:ext cx="548640" cy="5486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4335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084832"/>
            <a:ext cx="4110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participación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7706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52728" y="270662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Sociedad vehículo (SpA)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52728" y="299923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SpA es dueña del activo; el socio aporta capital y recibe acciones a prorrata de su participación.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935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52728" y="352958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Pacto de socios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252728" y="382219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prelación de pagos, garantías, gobierno y el calendario de distribución de utilidades.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1655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2728" y="435254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Reparto a prorrata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52728" y="464515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utilidades se reparten según el porcentaje de cada socio, al cierre o escrituración del proyecto.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23951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52728" y="517550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 previo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1252728" y="546811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modelos financieros, permisos, tasaciones y títulos antes de comprometer el aporte.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323076" y="1783080"/>
            <a:ext cx="5298948" cy="4343400"/>
          </a:xfrm>
          <a:prstGeom prst="roundRect">
            <a:avLst>
              <a:gd name="adj" fmla="val 1895"/>
            </a:avLst>
          </a:prstGeom>
          <a:solidFill>
            <a:srgbClr val="13293D"/>
          </a:solidFill>
          <a:ln/>
          <a:effectLst>
            <a:outerShdw sx="100000" sy="100000" kx="0" ky="0" algn="bl" rotWithShape="0" blurRad="114300" dist="38100" dir="2700000">
              <a:srgbClr val="222B36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615684" y="2011680"/>
            <a:ext cx="548640" cy="548640"/>
          </a:xfrm>
          <a:prstGeom prst="ellipse">
            <a:avLst/>
          </a:prstGeom>
          <a:solidFill>
            <a:srgbClr val="15506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358" y="214335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83196" y="2084832"/>
            <a:ext cx="4110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resguardos</a:t>
            </a:r>
            <a:endParaRPr lang="en-US" sz="17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770632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08876" y="270662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Terreno asegurado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7008876" y="299923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 adquirido y escriturado, o comprado bajo tasación (Las Condes ~21% bajo tasación).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3593592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08876" y="352958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y banco</a:t>
            </a:r>
            <a:endParaRPr lang="en-US" sz="1250" dirty="0"/>
          </a:p>
        </p:txBody>
      </p:sp>
      <p:sp>
        <p:nvSpPr>
          <p:cNvPr id="31" name="Text 21"/>
          <p:cNvSpPr/>
          <p:nvPr/>
        </p:nvSpPr>
        <p:spPr>
          <a:xfrm>
            <a:off x="7008876" y="382219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Radal con permiso vigente; Alto Serena con permiso y financiamiento bancario aprobados.</a:t>
            </a:r>
            <a:endParaRPr lang="en-US" sz="10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3116" y="4416552"/>
            <a:ext cx="237744" cy="23774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08876" y="435254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a costo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7008876" y="464515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Katu ejecuta a 29 UF/m²; el ahorro queda como mayor utilidad o contingencia.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3116" y="5239512"/>
            <a:ext cx="237744" cy="23774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008876" y="5175504"/>
            <a:ext cx="4338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Holgura en los modelos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7008876" y="5468112"/>
            <a:ext cx="43388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Elena soporta −58,8% de precio y Las Condes −39% antes de entrar en pérdida.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66928" y="62636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15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en UF: tu inversión y tus utilidades están indexadas a la inflación.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INMOBILIARIA MAGNA SpA</a:t>
            </a:r>
            <a:pPr algn="l" indent="0" marL="0">
              <a:buNone/>
            </a:pPr>
            <a:r>
              <a:rPr lang="en-US" sz="850" spc="100" kern="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Portafolio de Inversión  ·  Documento confidencial</a:t>
            </a:r>
            <a:endParaRPr lang="en-US" sz="850" dirty="0"/>
          </a:p>
        </p:txBody>
      </p:sp>
      <p:sp>
        <p:nvSpPr>
          <p:cNvPr id="40" name="Text 28"/>
          <p:cNvSpPr/>
          <p:nvPr/>
        </p:nvSpPr>
        <p:spPr>
          <a:xfrm>
            <a:off x="11183112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-1280160"/>
            <a:ext cx="45720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0" b="1" dirty="0">
                <a:solidFill>
                  <a:srgbClr val="1C3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A INVERTIR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Construyamos el portafolio juntos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2926080" cy="0"/>
          </a:xfrm>
          <a:prstGeom prst="line">
            <a:avLst/>
          </a:prstGeom>
          <a:noFill/>
          <a:ln w="31750">
            <a:solidFill>
              <a:srgbClr val="C8A2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proyecto(s)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en cuál o cuáles proyectos participar y el monto de aporte (mínimo $100M).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3880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11" name="Text 9"/>
          <p:cNvSpPr/>
          <p:nvPr/>
        </p:nvSpPr>
        <p:spPr>
          <a:xfrm>
            <a:off x="4648200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48200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diligence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8200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modelos financieros, permisos, tasaciones y títulos de cada proyecto.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0832" y="3200400"/>
            <a:ext cx="3441192" cy="1828800"/>
          </a:xfrm>
          <a:prstGeom prst="roundRect">
            <a:avLst>
              <a:gd name="adj" fmla="val 4000"/>
            </a:avLst>
          </a:prstGeom>
          <a:solidFill>
            <a:srgbClr val="1C3A5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5152" y="34015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55152" y="4023360"/>
            <a:ext cx="289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Pacto de socios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5152" y="4370832"/>
            <a:ext cx="289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 la participación, prelación de pagos y calendario de distribuciones.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5440680"/>
            <a:ext cx="11055096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623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Inmobiliaria Magna SpA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9FB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Construcción: Constructora Katu SpA   ·   Enzo Ramírez   ·   enzoramirezsch@gmail.com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8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· Junio 2026 · Cifras en UF según modelos financieros · UF ≈ $40.795 (21-jun-2026) · Sujeto a due diligence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Inversión Inmobiliaria 2026</dc:title>
  <dc:subject>PptxGenJS Presentation</dc:subject>
  <dc:creator>Inmobiliaria Magna SpA</dc:creator>
  <cp:lastModifiedBy>Inmobiliaria Magna SpA</cp:lastModifiedBy>
  <cp:revision>1</cp:revision>
  <dcterms:created xsi:type="dcterms:W3CDTF">2026-06-23T00:13:12Z</dcterms:created>
  <dcterms:modified xsi:type="dcterms:W3CDTF">2026-06-23T00:13:12Z</dcterms:modified>
</cp:coreProperties>
</file>