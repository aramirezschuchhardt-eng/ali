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12B"/>
                </a:solidFill>
                <a:latin typeface="Calibri"/>
              </a:defRPr>
            </a:pPr>
            <a:r>
              <a:rPr sz="1300" b="0" i="0" u="none" strike="noStrike">
                <a:solidFill>
                  <a:srgbClr val="12212B"/>
                </a:solidFill>
                <a:latin typeface="Calibri"/>
              </a:rPr>
              <a:t>TIR del proyecto</a:t>
            </a:r>
          </a:p>
        </c:rich>
      </c:tx>
      <c:layout/>
      <c:overlay val="0"/>
    </c:title>
    <c:autoTitleDeleted val="0"/>
    <c:plotArea>
      <c:layout/>
      <c:barChart>
        <c:barDir val="col"/>
        <c:grouping val="clustered"/>
        <c:varyColors val="0"/>
        <c:ser>
          <c:idx val="0"/>
          <c:order val="0"/>
          <c:tx>
            <c:strRef>
              <c:f>Sheet1!$B$1</c:f>
              <c:strCache>
                <c:ptCount val="1"/>
                <c:pt idx="0">
                  <c:v>TIR del proyecto</c:v>
                </c:pt>
              </c:strCache>
            </c:strRef>
          </c:tx>
          <c:spPr>
            <a:solidFill>
              <a:srgbClr val="B07D2B"/>
            </a:solidFill>
            <a:effectLst/>
          </c:spPr>
          <c:invertIfNegative val="0"/>
          <c:dLbls>
            <c:numFmt formatCode="0.0%" sourceLinked="0"/>
            <c:txPr>
              <a:bodyPr/>
              <a:lstStyle/>
              <a:p>
                <a:pPr>
                  <a:defRPr b="0" i="0" strike="noStrike" sz="1200" u="none">
                    <a:solidFill>
                      <a:srgbClr val="12212B"/>
                    </a:solidFill>
                    <a:latin typeface="Calibri"/>
                  </a:defRPr>
                </a:pPr>
              </a:p>
            </c:txPr>
            <c:showLegendKey val="0"/>
            <c:showVal val="1"/>
            <c:showCatName val="0"/>
            <c:showSerName val="0"/>
            <c:showPercent val="0"/>
            <c:showBubbleSize val="0"/>
            <c:showLeaderLines val="0"/>
          </c:dLbls>
          <c:dPt>
            <c:idx val="0"/>
            <c:invertIfNegative val="0"/>
            <c:bubble3D val="0"/>
            <c:spPr>
              <a:solidFill>
                <a:srgbClr val="B07D2B"/>
              </a:solidFill>
              <a:effectLst/>
            </c:spPr>
          </c:dPt>
          <c:dPt>
            <c:idx val="1"/>
            <c:invertIfNegative val="0"/>
            <c:bubble3D val="0"/>
            <c:spPr>
              <a:solidFill>
                <a:srgbClr val="2C5D7C"/>
              </a:solidFill>
              <a:effectLst/>
            </c:spPr>
          </c:dPt>
          <c:dPt>
            <c:idx val="2"/>
            <c:invertIfNegative val="0"/>
            <c:bubble3D val="0"/>
            <c:spPr>
              <a:solidFill>
                <a:srgbClr val="3E6B4A"/>
              </a:solidFill>
              <a:effectLst/>
            </c:spPr>
          </c:dPt>
          <c:cat>
            <c:multiLvlStrRef>
              <c:f>Sheet1!$A$2:$A$4</c:f>
              <c:multiLvlStrCache>
                <c:ptCount val="3"/>
                <c:lvl>
                  <c:pt idx="0">
                    <c:v>Conservador
0,8 sitios/mes</c:v>
                  </c:pt>
                  <c:pt idx="1">
                    <c:v>Base
1,2 sitios/mes</c:v>
                  </c:pt>
                  <c:pt idx="2">
                    <c:v>Optimista
1,8 sitios/mes</c:v>
                  </c:pt>
                </c:lvl>
              </c:multiLvlStrCache>
            </c:multiLvlStrRef>
          </c:cat>
          <c:val>
            <c:numRef>
              <c:f>Sheet1!$B$2:$B$4</c:f>
              <c:numCache>
                <c:formatCode>General</c:formatCode>
                <c:ptCount val="3"/>
                <c:pt idx="0">
                  <c:v>0.169</c:v>
                </c:pt>
                <c:pt idx="1">
                  <c:v>0.427</c:v>
                </c:pt>
                <c:pt idx="2">
                  <c:v>1.123</c:v>
                </c:pt>
              </c:numCache>
            </c:numRef>
          </c:val>
        </c:ser>
        <c:dLbls>
          <c:numFmt formatCode="0.0%" sourceLinked="0"/>
          <c:txPr>
            <a:bodyPr/>
            <a:lstStyle/>
            <a:p>
              <a:pPr>
                <a:defRPr b="0" i="0" strike="noStrike" sz="1200" u="none">
                  <a:solidFill>
                    <a:srgbClr val="122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670"/>
                </a:solidFill>
                <a:latin typeface="Arial"/>
              </a:defRPr>
            </a:pPr>
            <a:endParaRPr lang="en-US"/>
          </a:p>
        </c:txPr>
        <c:crossAx val="2094734552"/>
        <c:crosses val="autoZero"/>
        <c:auto val="1"/>
        <c:lblAlgn val="ctr"/>
        <c:noMultiLvlLbl val="1"/>
      </c:catAx>
      <c:valAx>
        <c:axId val="2094734552"/>
        <c:scaling>
          <c:orientation val="minMax"/>
          <c:max val="1.3"/>
        </c:scaling>
        <c:delete val="0"/>
        <c:axPos val="l"/>
        <c:majorGridlines>
          <c:spPr>
            <a:ln w="6350" cap="flat">
              <a:solidFill>
                <a:srgbClr val="DCE0D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12B"/>
                </a:solidFill>
                <a:latin typeface="Calibri"/>
              </a:defRPr>
            </a:pPr>
            <a:r>
              <a:rPr sz="1300" b="0" i="0" u="none" strike="noStrike">
                <a:solidFill>
                  <a:srgbClr val="12212B"/>
                </a:solidFill>
                <a:latin typeface="Calibri"/>
              </a:rPr>
              <a:t>Utilidad neta del loteo (UF)</a:t>
            </a:r>
          </a:p>
        </c:rich>
      </c:tx>
      <c:layout/>
      <c:overlay val="0"/>
    </c:title>
    <c:autoTitleDeleted val="0"/>
    <c:plotArea>
      <c:layout/>
      <c:barChart>
        <c:barDir val="col"/>
        <c:grouping val="clustered"/>
        <c:varyColors val="0"/>
        <c:ser>
          <c:idx val="0"/>
          <c:order val="0"/>
          <c:tx>
            <c:strRef>
              <c:f>Sheet1!$B$1</c:f>
              <c:strCache>
                <c:ptCount val="1"/>
                <c:pt idx="0">
                  <c:v>Utilidad neta</c:v>
                </c:pt>
              </c:strCache>
            </c:strRef>
          </c:tx>
          <c:spPr>
            <a:solidFill>
              <a:srgbClr val="B07D2B"/>
            </a:solidFill>
            <a:effectLst/>
          </c:spPr>
          <c:invertIfNegative val="0"/>
          <c:dLbls>
            <c:numFmt formatCode="#,##0" sourceLinked="0"/>
            <c:txPr>
              <a:bodyPr/>
              <a:lstStyle/>
              <a:p>
                <a:pPr>
                  <a:defRPr b="0" i="0" strike="noStrike" sz="1200" u="none">
                    <a:solidFill>
                      <a:srgbClr val="12212B"/>
                    </a:solidFill>
                    <a:latin typeface="Calibri"/>
                  </a:defRPr>
                </a:pPr>
              </a:p>
            </c:txPr>
            <c:showLegendKey val="0"/>
            <c:showVal val="1"/>
            <c:showCatName val="0"/>
            <c:showSerName val="0"/>
            <c:showPercent val="0"/>
            <c:showBubbleSize val="0"/>
            <c:showLeaderLines val="0"/>
          </c:dLbls>
          <c:dPt>
            <c:idx val="0"/>
            <c:invertIfNegative val="0"/>
            <c:bubble3D val="0"/>
            <c:spPr>
              <a:solidFill>
                <a:srgbClr val="B07D2B"/>
              </a:solidFill>
              <a:effectLst/>
            </c:spPr>
          </c:dPt>
          <c:dPt>
            <c:idx val="1"/>
            <c:invertIfNegative val="0"/>
            <c:bubble3D val="0"/>
            <c:spPr>
              <a:solidFill>
                <a:srgbClr val="2C5D7C"/>
              </a:solidFill>
              <a:effectLst/>
            </c:spPr>
          </c:dPt>
          <c:dPt>
            <c:idx val="2"/>
            <c:invertIfNegative val="0"/>
            <c:bubble3D val="0"/>
            <c:spPr>
              <a:solidFill>
                <a:srgbClr val="3E6B4A"/>
              </a:solidFill>
              <a:effectLst/>
            </c:spPr>
          </c:dPt>
          <c:cat>
            <c:multiLvlStrRef>
              <c:f>Sheet1!$A$2:$A$4</c:f>
              <c:multiLvlStrCache>
                <c:ptCount val="3"/>
                <c:lvl>
                  <c:pt idx="0">
                    <c:v>Conservador</c:v>
                  </c:pt>
                  <c:pt idx="1">
                    <c:v>Base</c:v>
                  </c:pt>
                  <c:pt idx="2">
                    <c:v>Optimista</c:v>
                  </c:pt>
                </c:lvl>
              </c:multiLvlStrCache>
            </c:multiLvlStrRef>
          </c:cat>
          <c:val>
            <c:numRef>
              <c:f>Sheet1!$B$2:$B$4</c:f>
              <c:numCache>
                <c:formatCode>General</c:formatCode>
                <c:ptCount val="3"/>
                <c:pt idx="0">
                  <c:v>137625</c:v>
                </c:pt>
                <c:pt idx="1">
                  <c:v>196307</c:v>
                </c:pt>
                <c:pt idx="2">
                  <c:v>219423</c:v>
                </c:pt>
              </c:numCache>
            </c:numRef>
          </c:val>
        </c:ser>
        <c:dLbls>
          <c:numFmt formatCode="#,##0" sourceLinked="0"/>
          <c:txPr>
            <a:bodyPr/>
            <a:lstStyle/>
            <a:p>
              <a:pPr>
                <a:defRPr b="0" i="0" strike="noStrike" sz="1200" u="none">
                  <a:solidFill>
                    <a:srgbClr val="122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6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CE0D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Flujo del período</c:v>
                </c:pt>
              </c:strCache>
            </c:strRef>
          </c:tx>
          <c:spPr>
            <a:solidFill>
              <a:srgbClr val="2C5D7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Año 0</c:v>
                  </c:pt>
                  <c:pt idx="1">
                    <c:v>Año 1</c:v>
                  </c:pt>
                  <c:pt idx="2">
                    <c:v>Año 2</c:v>
                  </c:pt>
                  <c:pt idx="3">
                    <c:v>Año 3</c:v>
                  </c:pt>
                  <c:pt idx="4">
                    <c:v>Año 4</c:v>
                  </c:pt>
                  <c:pt idx="5">
                    <c:v>Año 5</c:v>
                  </c:pt>
                  <c:pt idx="6">
                    <c:v>Año 6</c:v>
                  </c:pt>
                  <c:pt idx="7">
                    <c:v>Año 7</c:v>
                  </c:pt>
                  <c:pt idx="8">
                    <c:v>Año 8</c:v>
                  </c:pt>
                </c:lvl>
              </c:multiLvlStrCache>
            </c:multiLvlStrRef>
          </c:cat>
          <c:val>
            <c:numRef>
              <c:f>Sheet1!$B$2:$B$10</c:f>
              <c:numCache>
                <c:formatCode>General</c:formatCode>
                <c:ptCount val="9"/>
                <c:pt idx="0">
                  <c:v>-32000</c:v>
                </c:pt>
                <c:pt idx="1">
                  <c:v>-35000</c:v>
                </c:pt>
                <c:pt idx="2">
                  <c:v>49585</c:v>
                </c:pt>
                <c:pt idx="3">
                  <c:v>17878</c:v>
                </c:pt>
                <c:pt idx="4">
                  <c:v>48250</c:v>
                </c:pt>
                <c:pt idx="5">
                  <c:v>25642</c:v>
                </c:pt>
                <c:pt idx="6">
                  <c:v>48955</c:v>
                </c:pt>
                <c:pt idx="7">
                  <c:v>65474</c:v>
                </c:pt>
                <c:pt idx="8">
                  <c:v>-20054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Flujo acumulado</c:v>
                </c:pt>
              </c:strCache>
            </c:strRef>
          </c:tx>
          <c:spPr>
            <a:solidFill>
              <a:srgbClr val="B07D2B"/>
            </a:solidFill>
            <a:ln w="38100" cap="flat">
              <a:solidFill>
                <a:srgbClr val="B0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07D2B"/>
              </a:solidFill>
              <a:ln w="9525" cap="flat">
                <a:solidFill>
                  <a:srgbClr val="B07D2B"/>
                </a:solidFill>
                <a:prstDash val="solid"/>
                <a:round/>
              </a:ln>
              <a:effectLst/>
            </c:spPr>
          </c:marker>
          <c:cat>
            <c:multiLvlStrRef>
              <c:f>Sheet1!$A$2:$A$10</c:f>
              <c:multiLvlStrCache>
                <c:ptCount val="9"/>
                <c:lvl>
                  <c:pt idx="0">
                    <c:v>Año 0</c:v>
                  </c:pt>
                  <c:pt idx="1">
                    <c:v>Año 1</c:v>
                  </c:pt>
                  <c:pt idx="2">
                    <c:v>Año 2</c:v>
                  </c:pt>
                  <c:pt idx="3">
                    <c:v>Año 3</c:v>
                  </c:pt>
                  <c:pt idx="4">
                    <c:v>Año 4</c:v>
                  </c:pt>
                  <c:pt idx="5">
                    <c:v>Año 5</c:v>
                  </c:pt>
                  <c:pt idx="6">
                    <c:v>Año 6</c:v>
                  </c:pt>
                  <c:pt idx="7">
                    <c:v>Año 7</c:v>
                  </c:pt>
                  <c:pt idx="8">
                    <c:v>Año 8</c:v>
                  </c:pt>
                </c:lvl>
              </c:multiLvlStrCache>
            </c:multiLvlStrRef>
          </c:cat>
          <c:val>
            <c:numRef>
              <c:f>Sheet1!$C$2:$C$10</c:f>
              <c:numCache>
                <c:formatCode>General</c:formatCode>
                <c:ptCount val="9"/>
                <c:pt idx="0">
                  <c:v>-32000</c:v>
                </c:pt>
                <c:pt idx="1">
                  <c:v>-67000</c:v>
                </c:pt>
                <c:pt idx="2">
                  <c:v>-17415</c:v>
                </c:pt>
                <c:pt idx="3">
                  <c:v>463</c:v>
                </c:pt>
                <c:pt idx="4">
                  <c:v>48712</c:v>
                </c:pt>
                <c:pt idx="5">
                  <c:v>74355</c:v>
                </c:pt>
                <c:pt idx="6">
                  <c:v>123310</c:v>
                </c:pt>
                <c:pt idx="7">
                  <c:v>188784</c:v>
                </c:pt>
                <c:pt idx="8">
                  <c:v>168730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67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CE0D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0"/>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100">
              <a:solidFill>
                <a:srgbClr val="5A667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2212B"/>
                </a:solidFill>
                <a:latin typeface="Calibri"/>
              </a:defRPr>
            </a:pPr>
            <a:r>
              <a:rPr sz="1250" b="0" i="0" u="none" strike="noStrike">
                <a:solidFill>
                  <a:srgbClr val="12212B"/>
                </a:solidFill>
                <a:latin typeface="Calibri"/>
              </a:rPr>
              <a:t>Precio pedido frente al valor residual (TIR objetivo 18%)</a:t>
            </a:r>
          </a:p>
        </c:rich>
      </c:tx>
      <c:layout/>
      <c:overlay val="0"/>
    </c:title>
    <c:autoTitleDeleted val="0"/>
    <c:plotArea>
      <c:layout/>
      <c:barChart>
        <c:barDir val="col"/>
        <c:grouping val="clustered"/>
        <c:varyColors val="0"/>
        <c:ser>
          <c:idx val="0"/>
          <c:order val="0"/>
          <c:tx>
            <c:strRef>
              <c:f>Sheet1!$B$1</c:f>
              <c:strCache>
                <c:ptCount val="1"/>
                <c:pt idx="0">
                  <c:v>UF</c:v>
                </c:pt>
              </c:strCache>
            </c:strRef>
          </c:tx>
          <c:spPr>
            <a:solidFill>
              <a:srgbClr val="2C5D7C"/>
            </a:solidFill>
            <a:effectLst/>
          </c:spPr>
          <c:invertIfNegative val="0"/>
          <c:dLbls>
            <c:numFmt formatCode="#,##0" sourceLinked="0"/>
            <c:txPr>
              <a:bodyPr/>
              <a:lstStyle/>
              <a:p>
                <a:pPr>
                  <a:defRPr b="0" i="0" strike="noStrike" sz="1200" u="none">
                    <a:solidFill>
                      <a:srgbClr val="12212B"/>
                    </a:solidFill>
                    <a:latin typeface="Calibri"/>
                  </a:defRPr>
                </a:pPr>
              </a:p>
            </c:txPr>
            <c:showLegendKey val="0"/>
            <c:showVal val="1"/>
            <c:showCatName val="0"/>
            <c:showSerName val="0"/>
            <c:showPercent val="0"/>
            <c:showBubbleSize val="0"/>
            <c:showLeaderLines val="0"/>
          </c:dLbls>
          <c:dPt>
            <c:idx val="0"/>
            <c:invertIfNegative val="0"/>
            <c:bubble3D val="0"/>
            <c:spPr>
              <a:solidFill>
                <a:srgbClr val="2C5D7C"/>
              </a:solidFill>
              <a:effectLst/>
            </c:spPr>
          </c:dPt>
          <c:dPt>
            <c:idx val="1"/>
            <c:invertIfNegative val="0"/>
            <c:bubble3D val="0"/>
            <c:spPr>
              <a:solidFill>
                <a:srgbClr val="B07D2B"/>
              </a:solidFill>
              <a:effectLst/>
            </c:spPr>
          </c:dPt>
          <c:dPt>
            <c:idx val="2"/>
            <c:invertIfNegative val="0"/>
            <c:bubble3D val="0"/>
            <c:spPr>
              <a:solidFill>
                <a:srgbClr val="3E6B4A"/>
              </a:solidFill>
              <a:effectLst/>
            </c:spPr>
          </c:dPt>
          <c:cat>
            <c:multiLvlStrRef>
              <c:f>Sheet1!$A$2:$A$4</c:f>
              <c:multiLvlStrCache>
                <c:ptCount val="3"/>
                <c:lvl>
                  <c:pt idx="0">
                    <c:v>Precio pedido</c:v>
                  </c:pt>
                  <c:pt idx="1">
                    <c:v>Residual
conservador</c:v>
                  </c:pt>
                  <c:pt idx="2">
                    <c:v>Residual base</c:v>
                  </c:pt>
                </c:lvl>
              </c:multiLvlStrCache>
            </c:multiLvlStrRef>
          </c:cat>
          <c:val>
            <c:numRef>
              <c:f>Sheet1!$B$2:$B$4</c:f>
              <c:numCache>
                <c:formatCode>General</c:formatCode>
                <c:ptCount val="3"/>
                <c:pt idx="0">
                  <c:v>119000</c:v>
                </c:pt>
                <c:pt idx="1">
                  <c:v>107939</c:v>
                </c:pt>
                <c:pt idx="2">
                  <c:v>298140</c:v>
                </c:pt>
              </c:numCache>
            </c:numRef>
          </c:val>
        </c:ser>
        <c:dLbls>
          <c:numFmt formatCode="#,##0" sourceLinked="0"/>
          <c:txPr>
            <a:bodyPr/>
            <a:lstStyle/>
            <a:p>
              <a:pPr>
                <a:defRPr b="0" i="0" strike="noStrike" sz="1200" u="none">
                  <a:solidFill>
                    <a:srgbClr val="122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6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CE0D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revisión 2, que incorpora las láminas L_04 a L_09 y el resumen de costos de urbanización entregado por el mandante.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central: el análisis se movió de 'apretado' a 'bueno' por una sola variable, la urbanización.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explícito con la corrección propia. Es el hallazgo más importante de esta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B"/>
        </a:solidFill>
      </p:bgPr>
    </p:bg>
    <p:spTree>
      <p:nvGrpSpPr>
        <p:cNvPr id="1" name=""/>
        <p:cNvGrpSpPr/>
        <p:nvPr/>
      </p:nvGrpSpPr>
      <p:grpSpPr>
        <a:xfrm>
          <a:off x="0" y="0"/>
          <a:ext cx="0" cy="0"/>
          <a:chOff x="0" y="0"/>
          <a:chExt cx="0" cy="0"/>
        </a:xfrm>
      </p:grpSpPr>
      <p:sp>
        <p:nvSpPr>
          <p:cNvPr id="2" name="Text 0"/>
          <p:cNvSpPr/>
          <p:nvPr/>
        </p:nvSpPr>
        <p:spPr>
          <a:xfrm>
            <a:off x="777240" y="1234440"/>
            <a:ext cx="10058400" cy="274320"/>
          </a:xfrm>
          <a:prstGeom prst="rect">
            <a:avLst/>
          </a:prstGeom>
          <a:noFill/>
          <a:ln/>
        </p:spPr>
        <p:txBody>
          <a:bodyPr wrap="square" lIns="0" tIns="0" rIns="0" bIns="0" rtlCol="0" anchor="ctr"/>
          <a:lstStyle/>
          <a:p>
            <a:pPr indent="0" marL="0">
              <a:buNone/>
            </a:pPr>
            <a:r>
              <a:rPr lang="en-US" sz="1200" b="1" spc="240" kern="0" dirty="0">
                <a:solidFill>
                  <a:srgbClr val="7FB0D0"/>
                </a:solidFill>
                <a:latin typeface="Calibri" pitchFamily="34" charset="0"/>
                <a:ea typeface="Calibri" pitchFamily="34" charset="-122"/>
                <a:cs typeface="Calibri" pitchFamily="34" charset="-120"/>
              </a:rPr>
              <a:t>EVALUACIÓN DE INVERSIÓN · REVISIÓN 2 · AGOSTO 2026</a:t>
            </a:r>
            <a:endParaRPr lang="en-US" sz="1200" dirty="0"/>
          </a:p>
        </p:txBody>
      </p:sp>
      <p:sp>
        <p:nvSpPr>
          <p:cNvPr id="3" name="Text 1"/>
          <p:cNvSpPr/>
          <p:nvPr/>
        </p:nvSpPr>
        <p:spPr>
          <a:xfrm>
            <a:off x="731520" y="1737360"/>
            <a:ext cx="10607040" cy="17373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Loteo 19,26 hectáreas</a:t>
            </a:r>
            <a:endParaRPr lang="en-US" sz="4400" dirty="0"/>
          </a:p>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Avenida San Miguel 6850, Talca</a:t>
            </a:r>
            <a:endParaRPr lang="en-US" sz="4400" dirty="0"/>
          </a:p>
        </p:txBody>
      </p:sp>
      <p:sp>
        <p:nvSpPr>
          <p:cNvPr id="4" name="Text 2"/>
          <p:cNvSpPr/>
          <p:nvPr/>
        </p:nvSpPr>
        <p:spPr>
          <a:xfrm>
            <a:off x="777240" y="3611880"/>
            <a:ext cx="9601200" cy="411480"/>
          </a:xfrm>
          <a:prstGeom prst="rect">
            <a:avLst/>
          </a:prstGeom>
          <a:noFill/>
          <a:ln/>
        </p:spPr>
        <p:txBody>
          <a:bodyPr wrap="square" lIns="0" tIns="0" rIns="0" bIns="0" rtlCol="0" anchor="ctr"/>
          <a:lstStyle/>
          <a:p>
            <a:pPr indent="0" marL="0">
              <a:buNone/>
            </a:pPr>
            <a:r>
              <a:rPr lang="en-US" sz="1900" i="1" dirty="0">
                <a:solidFill>
                  <a:srgbClr val="A9B4BC"/>
                </a:solidFill>
                <a:latin typeface="Cambria" pitchFamily="34" charset="0"/>
                <a:ea typeface="Cambria" pitchFamily="34" charset="-122"/>
                <a:cs typeface="Cambria" pitchFamily="34" charset="-120"/>
              </a:rPr>
              <a:t>Compra del terreno, loteo de 90 sitios y masterplan por etapas</a:t>
            </a:r>
            <a:endParaRPr lang="en-US" sz="1900" dirty="0"/>
          </a:p>
        </p:txBody>
      </p:sp>
      <p:sp>
        <p:nvSpPr>
          <p:cNvPr id="5" name="Text 3"/>
          <p:cNvSpPr/>
          <p:nvPr/>
        </p:nvSpPr>
        <p:spPr>
          <a:xfrm>
            <a:off x="777240" y="4709160"/>
            <a:ext cx="246888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119.000 UF</a:t>
            </a:r>
            <a:endParaRPr lang="en-US" sz="2600" dirty="0"/>
          </a:p>
        </p:txBody>
      </p:sp>
      <p:sp>
        <p:nvSpPr>
          <p:cNvPr id="6" name="Text 4"/>
          <p:cNvSpPr/>
          <p:nvPr/>
        </p:nvSpPr>
        <p:spPr>
          <a:xfrm>
            <a:off x="777240" y="5285232"/>
            <a:ext cx="2468880" cy="274320"/>
          </a:xfrm>
          <a:prstGeom prst="rect">
            <a:avLst/>
          </a:prstGeom>
          <a:noFill/>
          <a:ln/>
        </p:spPr>
        <p:txBody>
          <a:bodyPr wrap="square" lIns="0" tIns="0" rIns="0" bIns="0" rtlCol="0" anchor="ctr"/>
          <a:lstStyle/>
          <a:p>
            <a:pPr indent="0" marL="0">
              <a:buNone/>
            </a:pPr>
            <a:r>
              <a:rPr lang="en-US" sz="950" b="1" spc="140" kern="0" dirty="0">
                <a:solidFill>
                  <a:srgbClr val="7FB0D0"/>
                </a:solidFill>
                <a:latin typeface="Calibri" pitchFamily="34" charset="0"/>
                <a:ea typeface="Calibri" pitchFamily="34" charset="-122"/>
                <a:cs typeface="Calibri" pitchFamily="34" charset="-120"/>
              </a:rPr>
              <a:t>PRECIO DEL PAÑO</a:t>
            </a:r>
            <a:endParaRPr lang="en-US" sz="950" dirty="0"/>
          </a:p>
        </p:txBody>
      </p:sp>
      <p:sp>
        <p:nvSpPr>
          <p:cNvPr id="7" name="Text 5"/>
          <p:cNvSpPr/>
          <p:nvPr/>
        </p:nvSpPr>
        <p:spPr>
          <a:xfrm>
            <a:off x="3474720" y="4709160"/>
            <a:ext cx="246888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90</a:t>
            </a:r>
            <a:endParaRPr lang="en-US" sz="2600" dirty="0"/>
          </a:p>
        </p:txBody>
      </p:sp>
      <p:sp>
        <p:nvSpPr>
          <p:cNvPr id="8" name="Text 6"/>
          <p:cNvSpPr/>
          <p:nvPr/>
        </p:nvSpPr>
        <p:spPr>
          <a:xfrm>
            <a:off x="3474720" y="5285232"/>
            <a:ext cx="2468880" cy="274320"/>
          </a:xfrm>
          <a:prstGeom prst="rect">
            <a:avLst/>
          </a:prstGeom>
          <a:noFill/>
          <a:ln/>
        </p:spPr>
        <p:txBody>
          <a:bodyPr wrap="square" lIns="0" tIns="0" rIns="0" bIns="0" rtlCol="0" anchor="ctr"/>
          <a:lstStyle/>
          <a:p>
            <a:pPr indent="0" marL="0">
              <a:buNone/>
            </a:pPr>
            <a:r>
              <a:rPr lang="en-US" sz="950" b="1" spc="140" kern="0" dirty="0">
                <a:solidFill>
                  <a:srgbClr val="7FB0D0"/>
                </a:solidFill>
                <a:latin typeface="Calibri" pitchFamily="34" charset="0"/>
                <a:ea typeface="Calibri" pitchFamily="34" charset="-122"/>
                <a:cs typeface="Calibri" pitchFamily="34" charset="-120"/>
              </a:rPr>
              <a:t>SITIOS DE 1.421 M²</a:t>
            </a:r>
            <a:endParaRPr lang="en-US" sz="950" dirty="0"/>
          </a:p>
        </p:txBody>
      </p:sp>
      <p:sp>
        <p:nvSpPr>
          <p:cNvPr id="9" name="Text 7"/>
          <p:cNvSpPr/>
          <p:nvPr/>
        </p:nvSpPr>
        <p:spPr>
          <a:xfrm>
            <a:off x="6172200" y="4709160"/>
            <a:ext cx="246888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42,7%</a:t>
            </a:r>
            <a:endParaRPr lang="en-US" sz="2600" dirty="0"/>
          </a:p>
        </p:txBody>
      </p:sp>
      <p:sp>
        <p:nvSpPr>
          <p:cNvPr id="10" name="Text 8"/>
          <p:cNvSpPr/>
          <p:nvPr/>
        </p:nvSpPr>
        <p:spPr>
          <a:xfrm>
            <a:off x="6172200" y="5285232"/>
            <a:ext cx="2468880" cy="274320"/>
          </a:xfrm>
          <a:prstGeom prst="rect">
            <a:avLst/>
          </a:prstGeom>
          <a:noFill/>
          <a:ln/>
        </p:spPr>
        <p:txBody>
          <a:bodyPr wrap="square" lIns="0" tIns="0" rIns="0" bIns="0" rtlCol="0" anchor="ctr"/>
          <a:lstStyle/>
          <a:p>
            <a:pPr indent="0" marL="0">
              <a:buNone/>
            </a:pPr>
            <a:r>
              <a:rPr lang="en-US" sz="950" b="1" spc="140" kern="0" dirty="0">
                <a:solidFill>
                  <a:srgbClr val="7FB0D0"/>
                </a:solidFill>
                <a:latin typeface="Calibri" pitchFamily="34" charset="0"/>
                <a:ea typeface="Calibri" pitchFamily="34" charset="-122"/>
                <a:cs typeface="Calibri" pitchFamily="34" charset="-120"/>
              </a:rPr>
              <a:t>TIR ESCENARIO BASE</a:t>
            </a:r>
            <a:endParaRPr lang="en-US" sz="950" dirty="0"/>
          </a:p>
        </p:txBody>
      </p:sp>
      <p:sp>
        <p:nvSpPr>
          <p:cNvPr id="11" name="Text 9"/>
          <p:cNvSpPr/>
          <p:nvPr/>
        </p:nvSpPr>
        <p:spPr>
          <a:xfrm>
            <a:off x="8869680" y="4709160"/>
            <a:ext cx="246888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67.000 UF</a:t>
            </a:r>
            <a:endParaRPr lang="en-US" sz="2600" dirty="0"/>
          </a:p>
        </p:txBody>
      </p:sp>
      <p:sp>
        <p:nvSpPr>
          <p:cNvPr id="12" name="Text 10"/>
          <p:cNvSpPr/>
          <p:nvPr/>
        </p:nvSpPr>
        <p:spPr>
          <a:xfrm>
            <a:off x="8869680" y="5285232"/>
            <a:ext cx="2468880" cy="274320"/>
          </a:xfrm>
          <a:prstGeom prst="rect">
            <a:avLst/>
          </a:prstGeom>
          <a:noFill/>
          <a:ln/>
        </p:spPr>
        <p:txBody>
          <a:bodyPr wrap="square" lIns="0" tIns="0" rIns="0" bIns="0" rtlCol="0" anchor="ctr"/>
          <a:lstStyle/>
          <a:p>
            <a:pPr indent="0" marL="0">
              <a:buNone/>
            </a:pPr>
            <a:r>
              <a:rPr lang="en-US" sz="950" b="1" spc="140" kern="0" dirty="0">
                <a:solidFill>
                  <a:srgbClr val="7FB0D0"/>
                </a:solidFill>
                <a:latin typeface="Calibri" pitchFamily="34" charset="0"/>
                <a:ea typeface="Calibri" pitchFamily="34" charset="-122"/>
                <a:cs typeface="Calibri" pitchFamily="34" charset="-120"/>
              </a:rPr>
              <a:t>CAPITAL MÁXIMO</a:t>
            </a:r>
            <a:endParaRPr lang="en-US" sz="950" dirty="0"/>
          </a:p>
        </p:txBody>
      </p:sp>
      <p:sp>
        <p:nvSpPr>
          <p:cNvPr id="13" name="Text 11"/>
          <p:cNvSpPr/>
          <p:nvPr/>
        </p:nvSpPr>
        <p:spPr>
          <a:xfrm>
            <a:off x="777240" y="6080760"/>
            <a:ext cx="10058400" cy="274320"/>
          </a:xfrm>
          <a:prstGeom prst="rect">
            <a:avLst/>
          </a:prstGeom>
          <a:noFill/>
          <a:ln/>
        </p:spPr>
        <p:txBody>
          <a:bodyPr wrap="square" lIns="0" tIns="0" rIns="0" bIns="0" rtlCol="0" anchor="ctr"/>
          <a:lstStyle/>
          <a:p>
            <a:pPr indent="0" marL="0">
              <a:buNone/>
            </a:pPr>
            <a:r>
              <a:rPr lang="en-US" sz="1100" dirty="0">
                <a:solidFill>
                  <a:srgbClr val="5A6670"/>
                </a:solidFill>
                <a:latin typeface="Calibri" pitchFamily="34" charset="0"/>
                <a:ea typeface="Calibri" pitchFamily="34" charset="-122"/>
                <a:cs typeface="Calibri" pitchFamily="34" charset="-120"/>
              </a:rPr>
              <a:t>Roles 3721-2 y 3721-12 · Sector Santa Elena de Huilquilemu · Región del Maule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12B"/>
        </a:solidFill>
      </p:bgPr>
    </p:bg>
    <p:spTree>
      <p:nvGrpSpPr>
        <p:cNvPr id="1" name=""/>
        <p:cNvGrpSpPr/>
        <p:nvPr/>
      </p:nvGrpSpPr>
      <p:grpSpPr>
        <a:xfrm>
          <a:off x="0" y="0"/>
          <a:ext cx="0" cy="0"/>
          <a:chOff x="0" y="0"/>
          <a:chExt cx="0" cy="0"/>
        </a:xfrm>
      </p:grpSpPr>
      <p:sp>
        <p:nvSpPr>
          <p:cNvPr id="2" name="Text 0"/>
          <p:cNvSpPr/>
          <p:nvPr/>
        </p:nvSpPr>
        <p:spPr>
          <a:xfrm>
            <a:off x="731520" y="502920"/>
            <a:ext cx="7315200" cy="274320"/>
          </a:xfrm>
          <a:prstGeom prst="rect">
            <a:avLst/>
          </a:prstGeom>
          <a:noFill/>
          <a:ln/>
        </p:spPr>
        <p:txBody>
          <a:bodyPr wrap="square" lIns="0" tIns="0" rIns="0" bIns="0" rtlCol="0" anchor="ctr"/>
          <a:lstStyle/>
          <a:p>
            <a:pPr indent="0" marL="0">
              <a:buNone/>
            </a:pPr>
            <a:r>
              <a:rPr lang="en-US" sz="1100" b="1" spc="240" kern="0" dirty="0">
                <a:solidFill>
                  <a:srgbClr val="7FB0D0"/>
                </a:solidFill>
                <a:latin typeface="Calibri" pitchFamily="34" charset="0"/>
                <a:ea typeface="Calibri" pitchFamily="34" charset="-122"/>
                <a:cs typeface="Calibri" pitchFamily="34" charset="-120"/>
              </a:rPr>
              <a:t>EL VEREDICTO</a:t>
            </a:r>
            <a:endParaRPr lang="en-US" sz="1100" dirty="0"/>
          </a:p>
        </p:txBody>
      </p:sp>
      <p:sp>
        <p:nvSpPr>
          <p:cNvPr id="3" name="Text 1"/>
          <p:cNvSpPr/>
          <p:nvPr/>
        </p:nvSpPr>
        <p:spPr>
          <a:xfrm>
            <a:off x="713232" y="841248"/>
            <a:ext cx="1078992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Comprar. El precio no está en discusión.</a:t>
            </a:r>
            <a:endParaRPr lang="en-US" sz="3600" dirty="0"/>
          </a:p>
        </p:txBody>
      </p:sp>
      <p:sp>
        <p:nvSpPr>
          <p:cNvPr id="4" name="Shape 2"/>
          <p:cNvSpPr/>
          <p:nvPr/>
        </p:nvSpPr>
        <p:spPr>
          <a:xfrm>
            <a:off x="731520" y="1920240"/>
            <a:ext cx="2560320" cy="1828800"/>
          </a:xfrm>
          <a:prstGeom prst="roundRect">
            <a:avLst>
              <a:gd name="adj" fmla="val 3000"/>
            </a:avLst>
          </a:prstGeom>
          <a:solidFill>
            <a:srgbClr val="1B2F3D"/>
          </a:solidFill>
          <a:ln w="9525">
            <a:solidFill>
              <a:srgbClr val="2E4657"/>
            </a:solidFill>
            <a:prstDash val="solid"/>
          </a:ln>
        </p:spPr>
      </p:sp>
      <p:sp>
        <p:nvSpPr>
          <p:cNvPr id="5" name="Text 3"/>
          <p:cNvSpPr/>
          <p:nvPr/>
        </p:nvSpPr>
        <p:spPr>
          <a:xfrm>
            <a:off x="932688" y="2121408"/>
            <a:ext cx="2194560"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119.000 UF</a:t>
            </a:r>
            <a:endParaRPr lang="en-US" sz="2300" dirty="0"/>
          </a:p>
        </p:txBody>
      </p:sp>
      <p:sp>
        <p:nvSpPr>
          <p:cNvPr id="6" name="Text 4"/>
          <p:cNvSpPr/>
          <p:nvPr/>
        </p:nvSpPr>
        <p:spPr>
          <a:xfrm>
            <a:off x="932688" y="2651760"/>
            <a:ext cx="2194560" cy="256032"/>
          </a:xfrm>
          <a:prstGeom prst="rect">
            <a:avLst/>
          </a:prstGeom>
          <a:noFill/>
          <a:ln/>
        </p:spPr>
        <p:txBody>
          <a:bodyPr wrap="square" lIns="0" tIns="0" rIns="0" bIns="0" rtlCol="0" anchor="ctr"/>
          <a:lstStyle/>
          <a:p>
            <a:pPr indent="0" marL="0">
              <a:buNone/>
            </a:pPr>
            <a:r>
              <a:rPr lang="en-US" sz="950" b="1" spc="130" kern="0" dirty="0">
                <a:solidFill>
                  <a:srgbClr val="7FB0D0"/>
                </a:solidFill>
                <a:latin typeface="Calibri" pitchFamily="34" charset="0"/>
                <a:ea typeface="Calibri" pitchFamily="34" charset="-122"/>
                <a:cs typeface="Calibri" pitchFamily="34" charset="-120"/>
              </a:rPr>
              <a:t>PRECIO PEDIDO</a:t>
            </a:r>
            <a:endParaRPr lang="en-US" sz="950" dirty="0"/>
          </a:p>
        </p:txBody>
      </p:sp>
      <p:sp>
        <p:nvSpPr>
          <p:cNvPr id="7" name="Text 5"/>
          <p:cNvSpPr/>
          <p:nvPr/>
        </p:nvSpPr>
        <p:spPr>
          <a:xfrm>
            <a:off x="932688" y="2971800"/>
            <a:ext cx="2240280" cy="566928"/>
          </a:xfrm>
          <a:prstGeom prst="rect">
            <a:avLst/>
          </a:prstGeom>
          <a:noFill/>
          <a:ln/>
        </p:spPr>
        <p:txBody>
          <a:bodyPr wrap="square" lIns="0" tIns="0" rIns="0" bIns="0" rtlCol="0" anchor="ctr"/>
          <a:lstStyle/>
          <a:p>
            <a:pPr indent="0" marL="0">
              <a:buNone/>
            </a:pPr>
            <a:r>
              <a:rPr lang="en-US" sz="1100" dirty="0">
                <a:solidFill>
                  <a:srgbClr val="A9B4BC"/>
                </a:solidFill>
                <a:latin typeface="Calibri" pitchFamily="34" charset="0"/>
                <a:ea typeface="Calibri" pitchFamily="34" charset="-122"/>
                <a:cs typeface="Calibri" pitchFamily="34" charset="-120"/>
              </a:rPr>
              <a:t>0,62 UF/m² del paño</a:t>
            </a:r>
            <a:endParaRPr lang="en-US" sz="1100" dirty="0"/>
          </a:p>
        </p:txBody>
      </p:sp>
      <p:sp>
        <p:nvSpPr>
          <p:cNvPr id="8" name="Shape 6"/>
          <p:cNvSpPr/>
          <p:nvPr/>
        </p:nvSpPr>
        <p:spPr>
          <a:xfrm>
            <a:off x="3520440" y="1920240"/>
            <a:ext cx="2560320" cy="1828800"/>
          </a:xfrm>
          <a:prstGeom prst="roundRect">
            <a:avLst>
              <a:gd name="adj" fmla="val 3000"/>
            </a:avLst>
          </a:prstGeom>
          <a:solidFill>
            <a:srgbClr val="1B2F3D"/>
          </a:solidFill>
          <a:ln w="9525">
            <a:solidFill>
              <a:srgbClr val="2E4657"/>
            </a:solidFill>
            <a:prstDash val="solid"/>
          </a:ln>
        </p:spPr>
      </p:sp>
      <p:sp>
        <p:nvSpPr>
          <p:cNvPr id="9" name="Text 7"/>
          <p:cNvSpPr/>
          <p:nvPr/>
        </p:nvSpPr>
        <p:spPr>
          <a:xfrm>
            <a:off x="3721608" y="2121408"/>
            <a:ext cx="2194560"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298.000 UF</a:t>
            </a:r>
            <a:endParaRPr lang="en-US" sz="2300" dirty="0"/>
          </a:p>
        </p:txBody>
      </p:sp>
      <p:sp>
        <p:nvSpPr>
          <p:cNvPr id="10" name="Text 8"/>
          <p:cNvSpPr/>
          <p:nvPr/>
        </p:nvSpPr>
        <p:spPr>
          <a:xfrm>
            <a:off x="3721608" y="2651760"/>
            <a:ext cx="2194560" cy="256032"/>
          </a:xfrm>
          <a:prstGeom prst="rect">
            <a:avLst/>
          </a:prstGeom>
          <a:noFill/>
          <a:ln/>
        </p:spPr>
        <p:txBody>
          <a:bodyPr wrap="square" lIns="0" tIns="0" rIns="0" bIns="0" rtlCol="0" anchor="ctr"/>
          <a:lstStyle/>
          <a:p>
            <a:pPr indent="0" marL="0">
              <a:buNone/>
            </a:pPr>
            <a:r>
              <a:rPr lang="en-US" sz="950" b="1" spc="130" kern="0" dirty="0">
                <a:solidFill>
                  <a:srgbClr val="7FB0D0"/>
                </a:solidFill>
                <a:latin typeface="Calibri" pitchFamily="34" charset="0"/>
                <a:ea typeface="Calibri" pitchFamily="34" charset="-122"/>
                <a:cs typeface="Calibri" pitchFamily="34" charset="-120"/>
              </a:rPr>
              <a:t>VALOR RESIDUAL</a:t>
            </a:r>
            <a:endParaRPr lang="en-US" sz="950" dirty="0"/>
          </a:p>
        </p:txBody>
      </p:sp>
      <p:sp>
        <p:nvSpPr>
          <p:cNvPr id="11" name="Text 9"/>
          <p:cNvSpPr/>
          <p:nvPr/>
        </p:nvSpPr>
        <p:spPr>
          <a:xfrm>
            <a:off x="3721608" y="2971800"/>
            <a:ext cx="2240280" cy="566928"/>
          </a:xfrm>
          <a:prstGeom prst="rect">
            <a:avLst/>
          </a:prstGeom>
          <a:noFill/>
          <a:ln/>
        </p:spPr>
        <p:txBody>
          <a:bodyPr wrap="square" lIns="0" tIns="0" rIns="0" bIns="0" rtlCol="0" anchor="ctr"/>
          <a:lstStyle/>
          <a:p>
            <a:pPr indent="0" marL="0">
              <a:buNone/>
            </a:pPr>
            <a:r>
              <a:rPr lang="en-US" sz="1100" dirty="0">
                <a:solidFill>
                  <a:srgbClr val="A9B4BC"/>
                </a:solidFill>
                <a:latin typeface="Calibri" pitchFamily="34" charset="0"/>
                <a:ea typeface="Calibri" pitchFamily="34" charset="-122"/>
                <a:cs typeface="Calibri" pitchFamily="34" charset="-120"/>
              </a:rPr>
              <a:t>a TIR objetivo de 18%</a:t>
            </a:r>
            <a:endParaRPr lang="en-US" sz="1100" dirty="0"/>
          </a:p>
        </p:txBody>
      </p:sp>
      <p:sp>
        <p:nvSpPr>
          <p:cNvPr id="12" name="Shape 10"/>
          <p:cNvSpPr/>
          <p:nvPr/>
        </p:nvSpPr>
        <p:spPr>
          <a:xfrm>
            <a:off x="6309360" y="1920240"/>
            <a:ext cx="2560320" cy="1828800"/>
          </a:xfrm>
          <a:prstGeom prst="roundRect">
            <a:avLst>
              <a:gd name="adj" fmla="val 3000"/>
            </a:avLst>
          </a:prstGeom>
          <a:solidFill>
            <a:srgbClr val="1B2F3D"/>
          </a:solidFill>
          <a:ln w="9525">
            <a:solidFill>
              <a:srgbClr val="2E4657"/>
            </a:solidFill>
            <a:prstDash val="solid"/>
          </a:ln>
        </p:spPr>
      </p:sp>
      <p:sp>
        <p:nvSpPr>
          <p:cNvPr id="13" name="Text 11"/>
          <p:cNvSpPr/>
          <p:nvPr/>
        </p:nvSpPr>
        <p:spPr>
          <a:xfrm>
            <a:off x="6510528" y="2121408"/>
            <a:ext cx="2194560"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44 sitios</a:t>
            </a:r>
            <a:endParaRPr lang="en-US" sz="2300" dirty="0"/>
          </a:p>
        </p:txBody>
      </p:sp>
      <p:sp>
        <p:nvSpPr>
          <p:cNvPr id="14" name="Text 12"/>
          <p:cNvSpPr/>
          <p:nvPr/>
        </p:nvSpPr>
        <p:spPr>
          <a:xfrm>
            <a:off x="6510528" y="2651760"/>
            <a:ext cx="2194560" cy="256032"/>
          </a:xfrm>
          <a:prstGeom prst="rect">
            <a:avLst/>
          </a:prstGeom>
          <a:noFill/>
          <a:ln/>
        </p:spPr>
        <p:txBody>
          <a:bodyPr wrap="square" lIns="0" tIns="0" rIns="0" bIns="0" rtlCol="0" anchor="ctr"/>
          <a:lstStyle/>
          <a:p>
            <a:pPr indent="0" marL="0">
              <a:buNone/>
            </a:pPr>
            <a:r>
              <a:rPr lang="en-US" sz="950" b="1" spc="130" kern="0" dirty="0">
                <a:solidFill>
                  <a:srgbClr val="7FB0D0"/>
                </a:solidFill>
                <a:latin typeface="Calibri" pitchFamily="34" charset="0"/>
                <a:ea typeface="Calibri" pitchFamily="34" charset="-122"/>
                <a:cs typeface="Calibri" pitchFamily="34" charset="-120"/>
              </a:rPr>
              <a:t>PUNTO DE EQUILIBRIO</a:t>
            </a:r>
            <a:endParaRPr lang="en-US" sz="950" dirty="0"/>
          </a:p>
        </p:txBody>
      </p:sp>
      <p:sp>
        <p:nvSpPr>
          <p:cNvPr id="15" name="Text 13"/>
          <p:cNvSpPr/>
          <p:nvPr/>
        </p:nvSpPr>
        <p:spPr>
          <a:xfrm>
            <a:off x="6510528" y="2971800"/>
            <a:ext cx="2240280" cy="566928"/>
          </a:xfrm>
          <a:prstGeom prst="rect">
            <a:avLst/>
          </a:prstGeom>
          <a:noFill/>
          <a:ln/>
        </p:spPr>
        <p:txBody>
          <a:bodyPr wrap="square" lIns="0" tIns="0" rIns="0" bIns="0" rtlCol="0" anchor="ctr"/>
          <a:lstStyle/>
          <a:p>
            <a:pPr indent="0" marL="0">
              <a:buNone/>
            </a:pPr>
            <a:r>
              <a:rPr lang="en-US" sz="1100" dirty="0">
                <a:solidFill>
                  <a:srgbClr val="A9B4BC"/>
                </a:solidFill>
                <a:latin typeface="Calibri" pitchFamily="34" charset="0"/>
                <a:ea typeface="Calibri" pitchFamily="34" charset="-122"/>
                <a:cs typeface="Calibri" pitchFamily="34" charset="-120"/>
              </a:rPr>
              <a:t>la mitad del inventario</a:t>
            </a:r>
            <a:endParaRPr lang="en-US" sz="1100" dirty="0"/>
          </a:p>
        </p:txBody>
      </p:sp>
      <p:sp>
        <p:nvSpPr>
          <p:cNvPr id="16" name="Shape 14"/>
          <p:cNvSpPr/>
          <p:nvPr/>
        </p:nvSpPr>
        <p:spPr>
          <a:xfrm>
            <a:off x="9098280" y="1920240"/>
            <a:ext cx="2560320" cy="1828800"/>
          </a:xfrm>
          <a:prstGeom prst="roundRect">
            <a:avLst>
              <a:gd name="adj" fmla="val 3000"/>
            </a:avLst>
          </a:prstGeom>
          <a:solidFill>
            <a:srgbClr val="1B2F3D"/>
          </a:solidFill>
          <a:ln w="9525">
            <a:solidFill>
              <a:srgbClr val="2E4657"/>
            </a:solidFill>
            <a:prstDash val="solid"/>
          </a:ln>
        </p:spPr>
      </p:sp>
      <p:sp>
        <p:nvSpPr>
          <p:cNvPr id="17" name="Text 15"/>
          <p:cNvSpPr/>
          <p:nvPr/>
        </p:nvSpPr>
        <p:spPr>
          <a:xfrm>
            <a:off x="9299448" y="2121408"/>
            <a:ext cx="2194560" cy="502920"/>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Año 3</a:t>
            </a:r>
            <a:endParaRPr lang="en-US" sz="2300" dirty="0"/>
          </a:p>
        </p:txBody>
      </p:sp>
      <p:sp>
        <p:nvSpPr>
          <p:cNvPr id="18" name="Text 16"/>
          <p:cNvSpPr/>
          <p:nvPr/>
        </p:nvSpPr>
        <p:spPr>
          <a:xfrm>
            <a:off x="9299448" y="2651760"/>
            <a:ext cx="2194560" cy="256032"/>
          </a:xfrm>
          <a:prstGeom prst="rect">
            <a:avLst/>
          </a:prstGeom>
          <a:noFill/>
          <a:ln/>
        </p:spPr>
        <p:txBody>
          <a:bodyPr wrap="square" lIns="0" tIns="0" rIns="0" bIns="0" rtlCol="0" anchor="ctr"/>
          <a:lstStyle/>
          <a:p>
            <a:pPr indent="0" marL="0">
              <a:buNone/>
            </a:pPr>
            <a:r>
              <a:rPr lang="en-US" sz="950" b="1" spc="130" kern="0" dirty="0">
                <a:solidFill>
                  <a:srgbClr val="7FB0D0"/>
                </a:solidFill>
                <a:latin typeface="Calibri" pitchFamily="34" charset="0"/>
                <a:ea typeface="Calibri" pitchFamily="34" charset="-122"/>
                <a:cs typeface="Calibri" pitchFamily="34" charset="-120"/>
              </a:rPr>
              <a:t>RECUPERACIÓN</a:t>
            </a:r>
            <a:endParaRPr lang="en-US" sz="950" dirty="0"/>
          </a:p>
        </p:txBody>
      </p:sp>
      <p:sp>
        <p:nvSpPr>
          <p:cNvPr id="19" name="Text 17"/>
          <p:cNvSpPr/>
          <p:nvPr/>
        </p:nvSpPr>
        <p:spPr>
          <a:xfrm>
            <a:off x="9299448" y="2971800"/>
            <a:ext cx="2240280" cy="566928"/>
          </a:xfrm>
          <a:prstGeom prst="rect">
            <a:avLst/>
          </a:prstGeom>
          <a:noFill/>
          <a:ln/>
        </p:spPr>
        <p:txBody>
          <a:bodyPr wrap="square" lIns="0" tIns="0" rIns="0" bIns="0" rtlCol="0" anchor="ctr"/>
          <a:lstStyle/>
          <a:p>
            <a:pPr indent="0" marL="0">
              <a:buNone/>
            </a:pPr>
            <a:r>
              <a:rPr lang="en-US" sz="1100" dirty="0">
                <a:solidFill>
                  <a:srgbClr val="A9B4BC"/>
                </a:solidFill>
                <a:latin typeface="Calibri" pitchFamily="34" charset="0"/>
                <a:ea typeface="Calibri" pitchFamily="34" charset="-122"/>
                <a:cs typeface="Calibri" pitchFamily="34" charset="-120"/>
              </a:rPr>
              <a:t>el flujo vuelve a cero</a:t>
            </a:r>
            <a:endParaRPr lang="en-US" sz="1100" dirty="0"/>
          </a:p>
        </p:txBody>
      </p:sp>
      <p:sp>
        <p:nvSpPr>
          <p:cNvPr id="20" name="Text 18"/>
          <p:cNvSpPr/>
          <p:nvPr/>
        </p:nvSpPr>
        <p:spPr>
          <a:xfrm>
            <a:off x="731520" y="4160520"/>
            <a:ext cx="10698480" cy="1371600"/>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Calibri" pitchFamily="34" charset="0"/>
                <a:ea typeface="Calibri" pitchFamily="34" charset="-122"/>
                <a:cs typeface="Calibri" pitchFamily="34" charset="-120"/>
              </a:rPr>
              <a:t>Lo que cambió: </a:t>
            </a:r>
            <a:pPr indent="0" marL="0">
              <a:lnSpc>
                <a:spcPts val="2400"/>
              </a:lnSpc>
              <a:buNone/>
            </a:pPr>
            <a:r>
              <a:rPr lang="en-US" sz="1500" dirty="0">
                <a:solidFill>
                  <a:srgbClr val="A9B4BC"/>
                </a:solidFill>
                <a:latin typeface="Calibri" pitchFamily="34" charset="0"/>
                <a:ea typeface="Calibri" pitchFamily="34" charset="-122"/>
                <a:cs typeface="Calibri" pitchFamily="34" charset="-120"/>
              </a:rPr>
              <a:t>con el costo de urbanización corregido, este deja de ser un negocio ajustado que hay que estructurar con cuidado y pasa a ser un buen negocio que hay que ejecutar rápido. El riesgo ya no está en el precio ni en el plazo: está en que el presupuesto de urbanización sea real y en que exista factibilidad sanitaria.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LA CORRECCIÓN QUE CAMBIA TODO</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Corrijo mi estimación de urbanización</a:t>
            </a:r>
            <a:endParaRPr lang="en-US" sz="3100" dirty="0"/>
          </a:p>
        </p:txBody>
      </p:sp>
      <p:sp>
        <p:nvSpPr>
          <p:cNvPr id="4" name="Shape 2"/>
          <p:cNvSpPr/>
          <p:nvPr/>
        </p:nvSpPr>
        <p:spPr>
          <a:xfrm>
            <a:off x="548640" y="1508760"/>
            <a:ext cx="5349240" cy="1965960"/>
          </a:xfrm>
          <a:prstGeom prst="roundRect">
            <a:avLst>
              <a:gd name="adj" fmla="val 2791"/>
            </a:avLst>
          </a:prstGeom>
          <a:solidFill>
            <a:srgbClr val="F6E9DC"/>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5" name="Text 3"/>
          <p:cNvSpPr/>
          <p:nvPr/>
        </p:nvSpPr>
        <p:spPr>
          <a:xfrm>
            <a:off x="868680" y="1737360"/>
            <a:ext cx="4572000" cy="256032"/>
          </a:xfrm>
          <a:prstGeom prst="rect">
            <a:avLst/>
          </a:prstGeom>
          <a:noFill/>
          <a:ln/>
        </p:spPr>
        <p:txBody>
          <a:bodyPr wrap="square" lIns="0" tIns="0" rIns="0" bIns="0" rtlCol="0" anchor="ctr"/>
          <a:lstStyle/>
          <a:p>
            <a:pPr indent="0" marL="0">
              <a:buNone/>
            </a:pPr>
            <a:r>
              <a:rPr lang="en-US" sz="1000" b="1" spc="160" kern="0" dirty="0">
                <a:solidFill>
                  <a:srgbClr val="B07D2B"/>
                </a:solidFill>
                <a:latin typeface="Calibri" pitchFamily="34" charset="0"/>
                <a:ea typeface="Calibri" pitchFamily="34" charset="-122"/>
                <a:cs typeface="Calibri" pitchFamily="34" charset="-120"/>
              </a:rPr>
              <a:t>ESTIMACIÓN ANTERIOR</a:t>
            </a:r>
            <a:endParaRPr lang="en-US" sz="1000" dirty="0"/>
          </a:p>
        </p:txBody>
      </p:sp>
      <p:sp>
        <p:nvSpPr>
          <p:cNvPr id="6" name="Text 4"/>
          <p:cNvSpPr/>
          <p:nvPr/>
        </p:nvSpPr>
        <p:spPr>
          <a:xfrm>
            <a:off x="868680" y="2011680"/>
            <a:ext cx="4754880" cy="566928"/>
          </a:xfrm>
          <a:prstGeom prst="rect">
            <a:avLst/>
          </a:prstGeom>
          <a:noFill/>
          <a:ln/>
        </p:spPr>
        <p:txBody>
          <a:bodyPr wrap="square" lIns="0" tIns="0" rIns="0" bIns="0" rtlCol="0" anchor="ctr"/>
          <a:lstStyle/>
          <a:p>
            <a:pPr indent="0" marL="0">
              <a:buNone/>
            </a:pPr>
            <a:r>
              <a:rPr lang="en-US" sz="3000" b="1" dirty="0">
                <a:solidFill>
                  <a:srgbClr val="B07D2B"/>
                </a:solidFill>
                <a:latin typeface="Calibri" pitchFamily="34" charset="0"/>
                <a:ea typeface="Calibri" pitchFamily="34" charset="-122"/>
                <a:cs typeface="Calibri" pitchFamily="34" charset="-120"/>
              </a:rPr>
              <a:t>135.000 – 185.000 UF</a:t>
            </a:r>
            <a:endParaRPr lang="en-US" sz="3000" dirty="0"/>
          </a:p>
        </p:txBody>
      </p:sp>
      <p:sp>
        <p:nvSpPr>
          <p:cNvPr id="7" name="Text 5"/>
          <p:cNvSpPr/>
          <p:nvPr/>
        </p:nvSpPr>
        <p:spPr>
          <a:xfrm>
            <a:off x="868680" y="2651760"/>
            <a:ext cx="4754880" cy="685800"/>
          </a:xfrm>
          <a:prstGeom prst="rect">
            <a:avLst/>
          </a:prstGeom>
          <a:noFill/>
          <a:ln/>
        </p:spPr>
        <p:txBody>
          <a:bodyPr wrap="square" lIns="0" tIns="0" rIns="0" bIns="0" rtlCol="0" anchor="ctr"/>
          <a:lstStyle/>
          <a:p>
            <a:pPr indent="0" marL="0">
              <a:buNone/>
            </a:pPr>
            <a:r>
              <a:rPr lang="en-US" sz="1250" dirty="0">
                <a:solidFill>
                  <a:srgbClr val="5A6670"/>
                </a:solidFill>
                <a:latin typeface="Calibri" pitchFamily="34" charset="0"/>
                <a:ea typeface="Calibri" pitchFamily="34" charset="-122"/>
                <a:cs typeface="Calibri" pitchFamily="34" charset="-120"/>
              </a:rPr>
              <a:t>Construida sobre valores por metro lineal de vialidad urbana, sin el presupuesto real del proyecto.</a:t>
            </a:r>
            <a:endParaRPr lang="en-US" sz="1250" dirty="0"/>
          </a:p>
        </p:txBody>
      </p:sp>
      <p:sp>
        <p:nvSpPr>
          <p:cNvPr id="8" name="Shape 6"/>
          <p:cNvSpPr/>
          <p:nvPr/>
        </p:nvSpPr>
        <p:spPr>
          <a:xfrm>
            <a:off x="6263640" y="1508760"/>
            <a:ext cx="5349240" cy="1965960"/>
          </a:xfrm>
          <a:prstGeom prst="roundRect">
            <a:avLst>
              <a:gd name="adj" fmla="val 2791"/>
            </a:avLst>
          </a:prstGeom>
          <a:solidFill>
            <a:srgbClr val="E4EBE2"/>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9" name="Text 7"/>
          <p:cNvSpPr/>
          <p:nvPr/>
        </p:nvSpPr>
        <p:spPr>
          <a:xfrm>
            <a:off x="6583680" y="1737360"/>
            <a:ext cx="4572000" cy="256032"/>
          </a:xfrm>
          <a:prstGeom prst="rect">
            <a:avLst/>
          </a:prstGeom>
          <a:noFill/>
          <a:ln/>
        </p:spPr>
        <p:txBody>
          <a:bodyPr wrap="square" lIns="0" tIns="0" rIns="0" bIns="0" rtlCol="0" anchor="ctr"/>
          <a:lstStyle/>
          <a:p>
            <a:pPr indent="0" marL="0">
              <a:buNone/>
            </a:pPr>
            <a:r>
              <a:rPr lang="en-US" sz="1000" b="1" spc="160" kern="0" dirty="0">
                <a:solidFill>
                  <a:srgbClr val="3E6B4A"/>
                </a:solidFill>
                <a:latin typeface="Calibri" pitchFamily="34" charset="0"/>
                <a:ea typeface="Calibri" pitchFamily="34" charset="-122"/>
                <a:cs typeface="Calibri" pitchFamily="34" charset="-120"/>
              </a:rPr>
              <a:t>RANGO RECONSTRUIDO</a:t>
            </a:r>
            <a:endParaRPr lang="en-US" sz="1000" dirty="0"/>
          </a:p>
        </p:txBody>
      </p:sp>
      <p:sp>
        <p:nvSpPr>
          <p:cNvPr id="10" name="Text 8"/>
          <p:cNvSpPr/>
          <p:nvPr/>
        </p:nvSpPr>
        <p:spPr>
          <a:xfrm>
            <a:off x="6583680" y="2011680"/>
            <a:ext cx="4754880" cy="566928"/>
          </a:xfrm>
          <a:prstGeom prst="rect">
            <a:avLst/>
          </a:prstGeom>
          <a:noFill/>
          <a:ln/>
        </p:spPr>
        <p:txBody>
          <a:bodyPr wrap="square" lIns="0" tIns="0" rIns="0" bIns="0" rtlCol="0" anchor="ctr"/>
          <a:lstStyle/>
          <a:p>
            <a:pPr indent="0" marL="0">
              <a:buNone/>
            </a:pPr>
            <a:r>
              <a:rPr lang="en-US" sz="3000" b="1" dirty="0">
                <a:solidFill>
                  <a:srgbClr val="3E6B4A"/>
                </a:solidFill>
                <a:latin typeface="Calibri" pitchFamily="34" charset="0"/>
                <a:ea typeface="Calibri" pitchFamily="34" charset="-122"/>
                <a:cs typeface="Calibri" pitchFamily="34" charset="-120"/>
              </a:rPr>
              <a:t>38.000 – 69.000 UF</a:t>
            </a:r>
            <a:endParaRPr lang="en-US" sz="3000" dirty="0"/>
          </a:p>
        </p:txBody>
      </p:sp>
      <p:sp>
        <p:nvSpPr>
          <p:cNvPr id="11" name="Text 9"/>
          <p:cNvSpPr/>
          <p:nvPr/>
        </p:nvSpPr>
        <p:spPr>
          <a:xfrm>
            <a:off x="6583680" y="2651760"/>
            <a:ext cx="4754880" cy="685800"/>
          </a:xfrm>
          <a:prstGeom prst="rect">
            <a:avLst/>
          </a:prstGeom>
          <a:noFill/>
          <a:ln/>
        </p:spPr>
        <p:txBody>
          <a:bodyPr wrap="square" lIns="0" tIns="0" rIns="0" bIns="0" rtlCol="0" anchor="ctr"/>
          <a:lstStyle/>
          <a:p>
            <a:pPr indent="0" marL="0">
              <a:buNone/>
            </a:pPr>
            <a:r>
              <a:rPr lang="en-US" sz="1250" dirty="0">
                <a:solidFill>
                  <a:srgbClr val="5A6670"/>
                </a:solidFill>
                <a:latin typeface="Calibri" pitchFamily="34" charset="0"/>
                <a:ea typeface="Calibri" pitchFamily="34" charset="-122"/>
                <a:cs typeface="Calibri" pitchFamily="34" charset="-120"/>
              </a:rPr>
              <a:t>Partiendo del resumen por kilómetro entregado, corregido por longitud real y partidas omitidas.</a:t>
            </a:r>
            <a:endParaRPr lang="en-US" sz="1250" dirty="0"/>
          </a:p>
        </p:txBody>
      </p:sp>
      <p:sp>
        <p:nvSpPr>
          <p:cNvPr id="12" name="Text 10"/>
          <p:cNvSpPr/>
          <p:nvPr/>
        </p:nvSpPr>
        <p:spPr>
          <a:xfrm>
            <a:off x="548640" y="3657600"/>
            <a:ext cx="11064240" cy="457200"/>
          </a:xfrm>
          <a:prstGeom prst="rect">
            <a:avLst/>
          </a:prstGeom>
          <a:noFill/>
          <a:ln/>
        </p:spPr>
        <p:txBody>
          <a:bodyPr wrap="square" lIns="0" tIns="0" rIns="0" bIns="0" rtlCol="0" anchor="ctr"/>
          <a:lstStyle/>
          <a:p>
            <a:pPr indent="0" marL="0">
              <a:buNone/>
            </a:pPr>
            <a:r>
              <a:rPr lang="en-US" sz="2400" b="1" dirty="0">
                <a:solidFill>
                  <a:srgbClr val="12212B"/>
                </a:solidFill>
                <a:latin typeface="Cambria" pitchFamily="34" charset="0"/>
                <a:ea typeface="Cambria" pitchFamily="34" charset="-122"/>
                <a:cs typeface="Cambria" pitchFamily="34" charset="-120"/>
              </a:rPr>
              <a:t>Mi estimación estaba entre 2,3 y 2,6 veces alta.</a:t>
            </a:r>
            <a:endParaRPr lang="en-US" sz="2400" dirty="0"/>
          </a:p>
        </p:txBody>
      </p:sp>
      <p:sp>
        <p:nvSpPr>
          <p:cNvPr id="13" name="Text 11"/>
          <p:cNvSpPr/>
          <p:nvPr/>
        </p:nvSpPr>
        <p:spPr>
          <a:xfrm>
            <a:off x="566928" y="4160520"/>
            <a:ext cx="11018520" cy="822960"/>
          </a:xfrm>
          <a:prstGeom prst="rect">
            <a:avLst/>
          </a:prstGeom>
          <a:noFill/>
          <a:ln/>
        </p:spPr>
        <p:txBody>
          <a:bodyPr wrap="square" lIns="0" tIns="0" rIns="0" bIns="0" rtlCol="0" anchor="ctr"/>
          <a:lstStyle/>
          <a:p>
            <a:pPr indent="0" marL="0">
              <a:lnSpc>
                <a:spcPts val="2200"/>
              </a:lnSpc>
              <a:buNone/>
            </a:pPr>
            <a:r>
              <a:rPr lang="en-US" sz="1450" dirty="0">
                <a:solidFill>
                  <a:srgbClr val="5A6670"/>
                </a:solidFill>
                <a:latin typeface="Calibri" pitchFamily="34" charset="0"/>
                <a:ea typeface="Calibri" pitchFamily="34" charset="-122"/>
                <a:cs typeface="Calibri" pitchFamily="34" charset="-120"/>
              </a:rPr>
              <a:t>La razón es estructural: los sitios son enormes —1.421 m² promedio—, de modo que hay muy pocos metros de calle por metro cuadrado vendido. La urbanización sale a 0,30–0,54 UF por m² vendible; en un loteo de sitios de 300 m² sale tres o cuatro veces más.</a:t>
            </a:r>
            <a:endParaRPr lang="en-US" sz="1450" dirty="0"/>
          </a:p>
        </p:txBody>
      </p:sp>
      <p:sp>
        <p:nvSpPr>
          <p:cNvPr id="14" name="Shape 12"/>
          <p:cNvSpPr/>
          <p:nvPr/>
        </p:nvSpPr>
        <p:spPr>
          <a:xfrm>
            <a:off x="548640" y="5120640"/>
            <a:ext cx="2615184" cy="1207008"/>
          </a:xfrm>
          <a:prstGeom prst="roundRect">
            <a:avLst>
              <a:gd name="adj" fmla="val 454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5" name="Text 13"/>
          <p:cNvSpPr/>
          <p:nvPr/>
        </p:nvSpPr>
        <p:spPr>
          <a:xfrm>
            <a:off x="731520" y="5257800"/>
            <a:ext cx="2286000" cy="237744"/>
          </a:xfrm>
          <a:prstGeom prst="rect">
            <a:avLst/>
          </a:prstGeom>
          <a:noFill/>
          <a:ln/>
        </p:spPr>
        <p:txBody>
          <a:bodyPr wrap="square" lIns="0" tIns="0" rIns="0" bIns="0" rtlCol="0" anchor="ctr"/>
          <a:lstStyle/>
          <a:p>
            <a:pPr indent="0" marL="0">
              <a:buNone/>
            </a:pPr>
            <a:r>
              <a:rPr lang="en-US" sz="950" b="1" spc="120" kern="0" dirty="0">
                <a:solidFill>
                  <a:srgbClr val="5A6670"/>
                </a:solidFill>
                <a:latin typeface="Calibri" pitchFamily="34" charset="0"/>
                <a:ea typeface="Calibri" pitchFamily="34" charset="-122"/>
                <a:cs typeface="Calibri" pitchFamily="34" charset="-120"/>
              </a:rPr>
              <a:t>TIR BASE</a:t>
            </a:r>
            <a:endParaRPr lang="en-US" sz="950" dirty="0"/>
          </a:p>
        </p:txBody>
      </p:sp>
      <p:sp>
        <p:nvSpPr>
          <p:cNvPr id="16" name="Text 14"/>
          <p:cNvSpPr/>
          <p:nvPr/>
        </p:nvSpPr>
        <p:spPr>
          <a:xfrm>
            <a:off x="731520" y="5522976"/>
            <a:ext cx="2286000" cy="237744"/>
          </a:xfrm>
          <a:prstGeom prst="rect">
            <a:avLst/>
          </a:prstGeom>
          <a:noFill/>
          <a:ln/>
        </p:spPr>
        <p:txBody>
          <a:bodyPr wrap="square" lIns="0" tIns="0" rIns="0" bIns="0" rtlCol="0" anchor="ctr"/>
          <a:lstStyle/>
          <a:p>
            <a:pPr indent="0" marL="0">
              <a:buNone/>
            </a:pPr>
            <a:r>
              <a:rPr lang="en-US" sz="1200" strike="sngStrike" dirty="0">
                <a:solidFill>
                  <a:srgbClr val="5A6670"/>
                </a:solidFill>
                <a:latin typeface="Calibri" pitchFamily="34" charset="0"/>
                <a:ea typeface="Calibri" pitchFamily="34" charset="-122"/>
                <a:cs typeface="Calibri" pitchFamily="34" charset="-120"/>
              </a:rPr>
              <a:t>20,0%</a:t>
            </a:r>
            <a:endParaRPr lang="en-US" sz="1200" dirty="0"/>
          </a:p>
        </p:txBody>
      </p:sp>
      <p:sp>
        <p:nvSpPr>
          <p:cNvPr id="17" name="Text 15"/>
          <p:cNvSpPr/>
          <p:nvPr/>
        </p:nvSpPr>
        <p:spPr>
          <a:xfrm>
            <a:off x="731520" y="5760720"/>
            <a:ext cx="2286000" cy="365760"/>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 42,7%</a:t>
            </a:r>
            <a:endParaRPr lang="en-US" sz="1700" dirty="0"/>
          </a:p>
        </p:txBody>
      </p:sp>
      <p:sp>
        <p:nvSpPr>
          <p:cNvPr id="18" name="Shape 16"/>
          <p:cNvSpPr/>
          <p:nvPr/>
        </p:nvSpPr>
        <p:spPr>
          <a:xfrm>
            <a:off x="3346704" y="5120640"/>
            <a:ext cx="2615184" cy="1207008"/>
          </a:xfrm>
          <a:prstGeom prst="roundRect">
            <a:avLst>
              <a:gd name="adj" fmla="val 454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9" name="Text 17"/>
          <p:cNvSpPr/>
          <p:nvPr/>
        </p:nvSpPr>
        <p:spPr>
          <a:xfrm>
            <a:off x="3529584" y="5257800"/>
            <a:ext cx="2286000" cy="237744"/>
          </a:xfrm>
          <a:prstGeom prst="rect">
            <a:avLst/>
          </a:prstGeom>
          <a:noFill/>
          <a:ln/>
        </p:spPr>
        <p:txBody>
          <a:bodyPr wrap="square" lIns="0" tIns="0" rIns="0" bIns="0" rtlCol="0" anchor="ctr"/>
          <a:lstStyle/>
          <a:p>
            <a:pPr indent="0" marL="0">
              <a:buNone/>
            </a:pPr>
            <a:r>
              <a:rPr lang="en-US" sz="950" b="1" spc="120" kern="0" dirty="0">
                <a:solidFill>
                  <a:srgbClr val="5A6670"/>
                </a:solidFill>
                <a:latin typeface="Calibri" pitchFamily="34" charset="0"/>
                <a:ea typeface="Calibri" pitchFamily="34" charset="-122"/>
                <a:cs typeface="Calibri" pitchFamily="34" charset="-120"/>
              </a:rPr>
              <a:t>MARGEN NETO</a:t>
            </a:r>
            <a:endParaRPr lang="en-US" sz="950" dirty="0"/>
          </a:p>
        </p:txBody>
      </p:sp>
      <p:sp>
        <p:nvSpPr>
          <p:cNvPr id="20" name="Text 18"/>
          <p:cNvSpPr/>
          <p:nvPr/>
        </p:nvSpPr>
        <p:spPr>
          <a:xfrm>
            <a:off x="3529584" y="5522976"/>
            <a:ext cx="2286000" cy="237744"/>
          </a:xfrm>
          <a:prstGeom prst="rect">
            <a:avLst/>
          </a:prstGeom>
          <a:noFill/>
          <a:ln/>
        </p:spPr>
        <p:txBody>
          <a:bodyPr wrap="square" lIns="0" tIns="0" rIns="0" bIns="0" rtlCol="0" anchor="ctr"/>
          <a:lstStyle/>
          <a:p>
            <a:pPr indent="0" marL="0">
              <a:buNone/>
            </a:pPr>
            <a:r>
              <a:rPr lang="en-US" sz="1200" strike="sngStrike" dirty="0">
                <a:solidFill>
                  <a:srgbClr val="5A6670"/>
                </a:solidFill>
                <a:latin typeface="Calibri" pitchFamily="34" charset="0"/>
                <a:ea typeface="Calibri" pitchFamily="34" charset="-122"/>
                <a:cs typeface="Calibri" pitchFamily="34" charset="-120"/>
              </a:rPr>
              <a:t>25,6%</a:t>
            </a:r>
            <a:endParaRPr lang="en-US" sz="1200" dirty="0"/>
          </a:p>
        </p:txBody>
      </p:sp>
      <p:sp>
        <p:nvSpPr>
          <p:cNvPr id="21" name="Text 19"/>
          <p:cNvSpPr/>
          <p:nvPr/>
        </p:nvSpPr>
        <p:spPr>
          <a:xfrm>
            <a:off x="3529584" y="5760720"/>
            <a:ext cx="2286000" cy="365760"/>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 39,5%</a:t>
            </a:r>
            <a:endParaRPr lang="en-US" sz="1700" dirty="0"/>
          </a:p>
        </p:txBody>
      </p:sp>
      <p:sp>
        <p:nvSpPr>
          <p:cNvPr id="22" name="Shape 20"/>
          <p:cNvSpPr/>
          <p:nvPr/>
        </p:nvSpPr>
        <p:spPr>
          <a:xfrm>
            <a:off x="6144768" y="5120640"/>
            <a:ext cx="2615184" cy="1207008"/>
          </a:xfrm>
          <a:prstGeom prst="roundRect">
            <a:avLst>
              <a:gd name="adj" fmla="val 454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23" name="Text 21"/>
          <p:cNvSpPr/>
          <p:nvPr/>
        </p:nvSpPr>
        <p:spPr>
          <a:xfrm>
            <a:off x="6327648" y="5257800"/>
            <a:ext cx="2286000" cy="237744"/>
          </a:xfrm>
          <a:prstGeom prst="rect">
            <a:avLst/>
          </a:prstGeom>
          <a:noFill/>
          <a:ln/>
        </p:spPr>
        <p:txBody>
          <a:bodyPr wrap="square" lIns="0" tIns="0" rIns="0" bIns="0" rtlCol="0" anchor="ctr"/>
          <a:lstStyle/>
          <a:p>
            <a:pPr indent="0" marL="0">
              <a:buNone/>
            </a:pPr>
            <a:r>
              <a:rPr lang="en-US" sz="950" b="1" spc="120" kern="0" dirty="0">
                <a:solidFill>
                  <a:srgbClr val="5A6670"/>
                </a:solidFill>
                <a:latin typeface="Calibri" pitchFamily="34" charset="0"/>
                <a:ea typeface="Calibri" pitchFamily="34" charset="-122"/>
                <a:cs typeface="Calibri" pitchFamily="34" charset="-120"/>
              </a:rPr>
              <a:t>EQUILIBRIO</a:t>
            </a:r>
            <a:endParaRPr lang="en-US" sz="950" dirty="0"/>
          </a:p>
        </p:txBody>
      </p:sp>
      <p:sp>
        <p:nvSpPr>
          <p:cNvPr id="24" name="Text 22"/>
          <p:cNvSpPr/>
          <p:nvPr/>
        </p:nvSpPr>
        <p:spPr>
          <a:xfrm>
            <a:off x="6327648" y="5522976"/>
            <a:ext cx="2286000" cy="237744"/>
          </a:xfrm>
          <a:prstGeom prst="rect">
            <a:avLst/>
          </a:prstGeom>
          <a:noFill/>
          <a:ln/>
        </p:spPr>
        <p:txBody>
          <a:bodyPr wrap="square" lIns="0" tIns="0" rIns="0" bIns="0" rtlCol="0" anchor="ctr"/>
          <a:lstStyle/>
          <a:p>
            <a:pPr indent="0" marL="0">
              <a:buNone/>
            </a:pPr>
            <a:r>
              <a:rPr lang="en-US" sz="1200" strike="sngStrike" dirty="0">
                <a:solidFill>
                  <a:srgbClr val="5A6670"/>
                </a:solidFill>
                <a:latin typeface="Calibri" pitchFamily="34" charset="0"/>
                <a:ea typeface="Calibri" pitchFamily="34" charset="-122"/>
                <a:cs typeface="Calibri" pitchFamily="34" charset="-120"/>
              </a:rPr>
              <a:t>64 sitios</a:t>
            </a:r>
            <a:endParaRPr lang="en-US" sz="1200" dirty="0"/>
          </a:p>
        </p:txBody>
      </p:sp>
      <p:sp>
        <p:nvSpPr>
          <p:cNvPr id="25" name="Text 23"/>
          <p:cNvSpPr/>
          <p:nvPr/>
        </p:nvSpPr>
        <p:spPr>
          <a:xfrm>
            <a:off x="6327648" y="5760720"/>
            <a:ext cx="2286000" cy="365760"/>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 44 sitios</a:t>
            </a:r>
            <a:endParaRPr lang="en-US" sz="1700" dirty="0"/>
          </a:p>
        </p:txBody>
      </p:sp>
      <p:sp>
        <p:nvSpPr>
          <p:cNvPr id="26" name="Shape 24"/>
          <p:cNvSpPr/>
          <p:nvPr/>
        </p:nvSpPr>
        <p:spPr>
          <a:xfrm>
            <a:off x="8942832" y="5120640"/>
            <a:ext cx="2615184" cy="1207008"/>
          </a:xfrm>
          <a:prstGeom prst="roundRect">
            <a:avLst>
              <a:gd name="adj" fmla="val 454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27" name="Text 25"/>
          <p:cNvSpPr/>
          <p:nvPr/>
        </p:nvSpPr>
        <p:spPr>
          <a:xfrm>
            <a:off x="9125712" y="5257800"/>
            <a:ext cx="2286000" cy="237744"/>
          </a:xfrm>
          <a:prstGeom prst="rect">
            <a:avLst/>
          </a:prstGeom>
          <a:noFill/>
          <a:ln/>
        </p:spPr>
        <p:txBody>
          <a:bodyPr wrap="square" lIns="0" tIns="0" rIns="0" bIns="0" rtlCol="0" anchor="ctr"/>
          <a:lstStyle/>
          <a:p>
            <a:pPr indent="0" marL="0">
              <a:buNone/>
            </a:pPr>
            <a:r>
              <a:rPr lang="en-US" sz="950" b="1" spc="120" kern="0" dirty="0">
                <a:solidFill>
                  <a:srgbClr val="5A6670"/>
                </a:solidFill>
                <a:latin typeface="Calibri" pitchFamily="34" charset="0"/>
                <a:ea typeface="Calibri" pitchFamily="34" charset="-122"/>
                <a:cs typeface="Calibri" pitchFamily="34" charset="-120"/>
              </a:rPr>
              <a:t>CAPITAL MÁXIMO</a:t>
            </a:r>
            <a:endParaRPr lang="en-US" sz="950" dirty="0"/>
          </a:p>
        </p:txBody>
      </p:sp>
      <p:sp>
        <p:nvSpPr>
          <p:cNvPr id="28" name="Text 26"/>
          <p:cNvSpPr/>
          <p:nvPr/>
        </p:nvSpPr>
        <p:spPr>
          <a:xfrm>
            <a:off x="9125712" y="5522976"/>
            <a:ext cx="2286000" cy="237744"/>
          </a:xfrm>
          <a:prstGeom prst="rect">
            <a:avLst/>
          </a:prstGeom>
          <a:noFill/>
          <a:ln/>
        </p:spPr>
        <p:txBody>
          <a:bodyPr wrap="square" lIns="0" tIns="0" rIns="0" bIns="0" rtlCol="0" anchor="ctr"/>
          <a:lstStyle/>
          <a:p>
            <a:pPr indent="0" marL="0">
              <a:buNone/>
            </a:pPr>
            <a:r>
              <a:rPr lang="en-US" sz="1200" strike="sngStrike" dirty="0">
                <a:solidFill>
                  <a:srgbClr val="5A6670"/>
                </a:solidFill>
                <a:latin typeface="Calibri" pitchFamily="34" charset="0"/>
                <a:ea typeface="Calibri" pitchFamily="34" charset="-122"/>
                <a:cs typeface="Calibri" pitchFamily="34" charset="-120"/>
              </a:rPr>
              <a:t>110.000 UF</a:t>
            </a:r>
            <a:endParaRPr lang="en-US" sz="1200" dirty="0"/>
          </a:p>
        </p:txBody>
      </p:sp>
      <p:sp>
        <p:nvSpPr>
          <p:cNvPr id="29" name="Text 27"/>
          <p:cNvSpPr/>
          <p:nvPr/>
        </p:nvSpPr>
        <p:spPr>
          <a:xfrm>
            <a:off x="9125712" y="5760720"/>
            <a:ext cx="2286000" cy="365760"/>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 67.000 UF</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01 · DATOS DUROS</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Lo que dicen los planos, medido</a:t>
            </a:r>
            <a:endParaRPr lang="en-US" sz="3100" dirty="0"/>
          </a:p>
        </p:txBody>
      </p:sp>
      <p:sp>
        <p:nvSpPr>
          <p:cNvPr id="4" name="Text 2"/>
          <p:cNvSpPr/>
          <p:nvPr/>
        </p:nvSpPr>
        <p:spPr>
          <a:xfrm>
            <a:off x="566928" y="1371600"/>
            <a:ext cx="11018520" cy="365760"/>
          </a:xfrm>
          <a:prstGeom prst="rect">
            <a:avLst/>
          </a:prstGeom>
          <a:noFill/>
          <a:ln/>
        </p:spPr>
        <p:txBody>
          <a:bodyPr wrap="square" lIns="0" tIns="0" rIns="0" bIns="0" rtlCol="0" anchor="ctr"/>
          <a:lstStyle/>
          <a:p>
            <a:pPr indent="0" marL="0">
              <a:buNone/>
            </a:pPr>
            <a:r>
              <a:rPr lang="en-US" sz="1350" dirty="0">
                <a:solidFill>
                  <a:srgbClr val="5A6670"/>
                </a:solidFill>
                <a:latin typeface="Calibri" pitchFamily="34" charset="0"/>
                <a:ea typeface="Calibri" pitchFamily="34" charset="-122"/>
                <a:cs typeface="Calibri" pitchFamily="34" charset="-120"/>
              </a:rPr>
              <a:t>Cifras tomadas de los cuadros de superficies de las láminas L_02, L_03, L_05 y L_09. Se sumaron los 90 registros del listado de lotes.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3657600"/>
                <a:gridCol w="2011680"/>
                <a:gridCol w="1554480"/>
                <a:gridCol w="384048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Partida</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Superficie (m²)</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del paño</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Destino</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90 sitios (Lote A1)</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127.866</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66,4%</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Venta — Etapa 1</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Vialidad interior + expropiación</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27.958</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14,5%</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Costo de urbanización</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Paño colegio</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18.619</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Etapa 3 — colegio o estación de servicio</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Áreas verdes</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13.798</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Costo y plusvalía</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Equipamiento comercial</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4.386</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Etapa 2 — locales y pádel</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2212B"/>
                          </a:solidFill>
                          <a:latin typeface="Calibri" pitchFamily="34" charset="0"/>
                          <a:ea typeface="Calibri" pitchFamily="34" charset="-122"/>
                          <a:cs typeface="Calibri" pitchFamily="34" charset="-120"/>
                        </a:rPr>
                        <a:t>Paño fusionado</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192.627</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2212B"/>
                          </a:solidFill>
                          <a:latin typeface="Calibri" pitchFamily="34" charset="0"/>
                          <a:ea typeface="Calibri" pitchFamily="34" charset="-122"/>
                          <a:cs typeface="Calibri" pitchFamily="34" charset="-120"/>
                        </a:rPr>
                        <a:t>19,2627 ha</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92040"/>
            <a:ext cx="2615184" cy="1463040"/>
          </a:xfrm>
          <a:prstGeom prst="roundRect">
            <a:avLst>
              <a:gd name="adj" fmla="val 375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7" name="Text 4"/>
          <p:cNvSpPr/>
          <p:nvPr/>
        </p:nvSpPr>
        <p:spPr>
          <a:xfrm>
            <a:off x="731520" y="5047488"/>
            <a:ext cx="2286000" cy="237744"/>
          </a:xfrm>
          <a:prstGeom prst="rect">
            <a:avLst/>
          </a:prstGeom>
          <a:noFill/>
          <a:ln/>
        </p:spPr>
        <p:txBody>
          <a:bodyPr wrap="square" lIns="0" tIns="0" rIns="0" bIns="0" rtlCol="0" anchor="ctr"/>
          <a:lstStyle/>
          <a:p>
            <a:pPr indent="0" marL="0">
              <a:buNone/>
            </a:pPr>
            <a:r>
              <a:rPr lang="en-US" sz="900" b="1" spc="120" kern="0" dirty="0">
                <a:solidFill>
                  <a:srgbClr val="2C5D7C"/>
                </a:solidFill>
                <a:latin typeface="Calibri" pitchFamily="34" charset="0"/>
                <a:ea typeface="Calibri" pitchFamily="34" charset="-122"/>
                <a:cs typeface="Calibri" pitchFamily="34" charset="-120"/>
              </a:rPr>
              <a:t>SITIO PROMEDIO</a:t>
            </a:r>
            <a:endParaRPr lang="en-US" sz="900" dirty="0"/>
          </a:p>
        </p:txBody>
      </p:sp>
      <p:sp>
        <p:nvSpPr>
          <p:cNvPr id="8" name="Text 5"/>
          <p:cNvSpPr/>
          <p:nvPr/>
        </p:nvSpPr>
        <p:spPr>
          <a:xfrm>
            <a:off x="731520" y="5303520"/>
            <a:ext cx="2331720" cy="384048"/>
          </a:xfrm>
          <a:prstGeom prst="rect">
            <a:avLst/>
          </a:prstGeom>
          <a:noFill/>
          <a:ln/>
        </p:spPr>
        <p:txBody>
          <a:bodyPr wrap="square" lIns="0" tIns="0" rIns="0" bIns="0" rtlCol="0" anchor="ctr"/>
          <a:lstStyle/>
          <a:p>
            <a:pPr indent="0" marL="0">
              <a:buNone/>
            </a:pPr>
            <a:r>
              <a:rPr lang="en-US" sz="1700" b="1" dirty="0">
                <a:solidFill>
                  <a:srgbClr val="12212B"/>
                </a:solidFill>
                <a:latin typeface="Calibri" pitchFamily="34" charset="0"/>
                <a:ea typeface="Calibri" pitchFamily="34" charset="-122"/>
                <a:cs typeface="Calibri" pitchFamily="34" charset="-120"/>
              </a:rPr>
              <a:t>1.421 m²</a:t>
            </a:r>
            <a:endParaRPr lang="en-US" sz="1700" dirty="0"/>
          </a:p>
        </p:txBody>
      </p:sp>
      <p:sp>
        <p:nvSpPr>
          <p:cNvPr id="9" name="Text 6"/>
          <p:cNvSpPr/>
          <p:nvPr/>
        </p:nvSpPr>
        <p:spPr>
          <a:xfrm>
            <a:off x="731520" y="5705856"/>
            <a:ext cx="2331720" cy="566928"/>
          </a:xfrm>
          <a:prstGeom prst="rect">
            <a:avLst/>
          </a:prstGeom>
          <a:noFill/>
          <a:ln/>
        </p:spPr>
        <p:txBody>
          <a:bodyPr wrap="square" lIns="0" tIns="0" rIns="0" bIns="0" rtlCol="0" anchor="ctr"/>
          <a:lstStyle/>
          <a:p>
            <a:pPr indent="0" marL="0">
              <a:buNone/>
            </a:pPr>
            <a:r>
              <a:rPr lang="en-US" sz="1050" dirty="0">
                <a:solidFill>
                  <a:srgbClr val="5A6670"/>
                </a:solidFill>
                <a:latin typeface="Calibri" pitchFamily="34" charset="0"/>
                <a:ea typeface="Calibri" pitchFamily="34" charset="-122"/>
                <a:cs typeface="Calibri" pitchFamily="34" charset="-120"/>
              </a:rPr>
              <a:t>rango 1.400 – 1.590</a:t>
            </a:r>
            <a:endParaRPr lang="en-US" sz="1050" dirty="0"/>
          </a:p>
        </p:txBody>
      </p:sp>
      <p:sp>
        <p:nvSpPr>
          <p:cNvPr id="10" name="Shape 7"/>
          <p:cNvSpPr/>
          <p:nvPr/>
        </p:nvSpPr>
        <p:spPr>
          <a:xfrm>
            <a:off x="3346704" y="4892040"/>
            <a:ext cx="2615184" cy="1463040"/>
          </a:xfrm>
          <a:prstGeom prst="roundRect">
            <a:avLst>
              <a:gd name="adj" fmla="val 375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1" name="Text 8"/>
          <p:cNvSpPr/>
          <p:nvPr/>
        </p:nvSpPr>
        <p:spPr>
          <a:xfrm>
            <a:off x="3529584" y="5047488"/>
            <a:ext cx="2286000" cy="237744"/>
          </a:xfrm>
          <a:prstGeom prst="rect">
            <a:avLst/>
          </a:prstGeom>
          <a:noFill/>
          <a:ln/>
        </p:spPr>
        <p:txBody>
          <a:bodyPr wrap="square" lIns="0" tIns="0" rIns="0" bIns="0" rtlCol="0" anchor="ctr"/>
          <a:lstStyle/>
          <a:p>
            <a:pPr indent="0" marL="0">
              <a:buNone/>
            </a:pPr>
            <a:r>
              <a:rPr lang="en-US" sz="900" b="1" spc="120" kern="0" dirty="0">
                <a:solidFill>
                  <a:srgbClr val="2C5D7C"/>
                </a:solidFill>
                <a:latin typeface="Calibri" pitchFamily="34" charset="0"/>
                <a:ea typeface="Calibri" pitchFamily="34" charset="-122"/>
                <a:cs typeface="Calibri" pitchFamily="34" charset="-120"/>
              </a:rPr>
              <a:t>RÉGIMEN</a:t>
            </a:r>
            <a:endParaRPr lang="en-US" sz="900" dirty="0"/>
          </a:p>
        </p:txBody>
      </p:sp>
      <p:sp>
        <p:nvSpPr>
          <p:cNvPr id="12" name="Text 9"/>
          <p:cNvSpPr/>
          <p:nvPr/>
        </p:nvSpPr>
        <p:spPr>
          <a:xfrm>
            <a:off x="3529584" y="5303520"/>
            <a:ext cx="2331720" cy="384048"/>
          </a:xfrm>
          <a:prstGeom prst="rect">
            <a:avLst/>
          </a:prstGeom>
          <a:noFill/>
          <a:ln/>
        </p:spPr>
        <p:txBody>
          <a:bodyPr wrap="square" lIns="0" tIns="0" rIns="0" bIns="0" rtlCol="0" anchor="ctr"/>
          <a:lstStyle/>
          <a:p>
            <a:pPr indent="0" marL="0">
              <a:buNone/>
            </a:pPr>
            <a:r>
              <a:rPr lang="en-US" sz="1700" b="1" dirty="0">
                <a:solidFill>
                  <a:srgbClr val="12212B"/>
                </a:solidFill>
                <a:latin typeface="Calibri" pitchFamily="34" charset="0"/>
                <a:ea typeface="Calibri" pitchFamily="34" charset="-122"/>
                <a:cs typeface="Calibri" pitchFamily="34" charset="-120"/>
              </a:rPr>
              <a:t>Condominio tipo B</a:t>
            </a:r>
            <a:endParaRPr lang="en-US" sz="1700" dirty="0"/>
          </a:p>
        </p:txBody>
      </p:sp>
      <p:sp>
        <p:nvSpPr>
          <p:cNvPr id="13" name="Text 10"/>
          <p:cNvSpPr/>
          <p:nvPr/>
        </p:nvSpPr>
        <p:spPr>
          <a:xfrm>
            <a:off x="3529584" y="5705856"/>
            <a:ext cx="2331720" cy="566928"/>
          </a:xfrm>
          <a:prstGeom prst="rect">
            <a:avLst/>
          </a:prstGeom>
          <a:noFill/>
          <a:ln/>
        </p:spPr>
        <p:txBody>
          <a:bodyPr wrap="square" lIns="0" tIns="0" rIns="0" bIns="0" rtlCol="0" anchor="ctr"/>
          <a:lstStyle/>
          <a:p>
            <a:pPr indent="0" marL="0">
              <a:buNone/>
            </a:pPr>
            <a:r>
              <a:rPr lang="en-US" sz="1050" dirty="0">
                <a:solidFill>
                  <a:srgbClr val="5A6670"/>
                </a:solidFill>
                <a:latin typeface="Calibri" pitchFamily="34" charset="0"/>
                <a:ea typeface="Calibri" pitchFamily="34" charset="-122"/>
                <a:cs typeface="Calibri" pitchFamily="34" charset="-120"/>
              </a:rPr>
              <a:t>calles y áreas verdes comunes</a:t>
            </a:r>
            <a:endParaRPr lang="en-US" sz="1050" dirty="0"/>
          </a:p>
        </p:txBody>
      </p:sp>
      <p:sp>
        <p:nvSpPr>
          <p:cNvPr id="14" name="Shape 11"/>
          <p:cNvSpPr/>
          <p:nvPr/>
        </p:nvSpPr>
        <p:spPr>
          <a:xfrm>
            <a:off x="6144768" y="4892040"/>
            <a:ext cx="2615184" cy="1463040"/>
          </a:xfrm>
          <a:prstGeom prst="roundRect">
            <a:avLst>
              <a:gd name="adj" fmla="val 375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5" name="Text 12"/>
          <p:cNvSpPr/>
          <p:nvPr/>
        </p:nvSpPr>
        <p:spPr>
          <a:xfrm>
            <a:off x="6327648" y="5047488"/>
            <a:ext cx="2286000" cy="237744"/>
          </a:xfrm>
          <a:prstGeom prst="rect">
            <a:avLst/>
          </a:prstGeom>
          <a:noFill/>
          <a:ln/>
        </p:spPr>
        <p:txBody>
          <a:bodyPr wrap="square" lIns="0" tIns="0" rIns="0" bIns="0" rtlCol="0" anchor="ctr"/>
          <a:lstStyle/>
          <a:p>
            <a:pPr indent="0" marL="0">
              <a:buNone/>
            </a:pPr>
            <a:r>
              <a:rPr lang="en-US" sz="900" b="1" spc="120" kern="0" dirty="0">
                <a:solidFill>
                  <a:srgbClr val="2C5D7C"/>
                </a:solidFill>
                <a:latin typeface="Calibri" pitchFamily="34" charset="0"/>
                <a:ea typeface="Calibri" pitchFamily="34" charset="-122"/>
                <a:cs typeface="Calibri" pitchFamily="34" charset="-120"/>
              </a:rPr>
              <a:t>EQUIPAMIENTO COMERCIAL</a:t>
            </a:r>
            <a:endParaRPr lang="en-US" sz="900" dirty="0"/>
          </a:p>
        </p:txBody>
      </p:sp>
      <p:sp>
        <p:nvSpPr>
          <p:cNvPr id="16" name="Text 13"/>
          <p:cNvSpPr/>
          <p:nvPr/>
        </p:nvSpPr>
        <p:spPr>
          <a:xfrm>
            <a:off x="6327648" y="5303520"/>
            <a:ext cx="2331720" cy="384048"/>
          </a:xfrm>
          <a:prstGeom prst="rect">
            <a:avLst/>
          </a:prstGeom>
          <a:noFill/>
          <a:ln/>
        </p:spPr>
        <p:txBody>
          <a:bodyPr wrap="square" lIns="0" tIns="0" rIns="0" bIns="0" rtlCol="0" anchor="ctr"/>
          <a:lstStyle/>
          <a:p>
            <a:pPr indent="0" marL="0">
              <a:buNone/>
            </a:pPr>
            <a:r>
              <a:rPr lang="en-US" sz="1700" b="1" dirty="0">
                <a:solidFill>
                  <a:srgbClr val="12212B"/>
                </a:solidFill>
                <a:latin typeface="Calibri" pitchFamily="34" charset="0"/>
                <a:ea typeface="Calibri" pitchFamily="34" charset="-122"/>
                <a:cs typeface="Calibri" pitchFamily="34" charset="-120"/>
              </a:rPr>
              <a:t>729,7 m²</a:t>
            </a:r>
            <a:endParaRPr lang="en-US" sz="1700" dirty="0"/>
          </a:p>
        </p:txBody>
      </p:sp>
      <p:sp>
        <p:nvSpPr>
          <p:cNvPr id="17" name="Text 14"/>
          <p:cNvSpPr/>
          <p:nvPr/>
        </p:nvSpPr>
        <p:spPr>
          <a:xfrm>
            <a:off x="6327648" y="5705856"/>
            <a:ext cx="2331720" cy="566928"/>
          </a:xfrm>
          <a:prstGeom prst="rect">
            <a:avLst/>
          </a:prstGeom>
          <a:noFill/>
          <a:ln/>
        </p:spPr>
        <p:txBody>
          <a:bodyPr wrap="square" lIns="0" tIns="0" rIns="0" bIns="0" rtlCol="0" anchor="ctr"/>
          <a:lstStyle/>
          <a:p>
            <a:pPr indent="0" marL="0">
              <a:buNone/>
            </a:pPr>
            <a:r>
              <a:rPr lang="en-US" sz="1050" dirty="0">
                <a:solidFill>
                  <a:srgbClr val="5A6670"/>
                </a:solidFill>
                <a:latin typeface="Calibri" pitchFamily="34" charset="0"/>
                <a:ea typeface="Calibri" pitchFamily="34" charset="-122"/>
                <a:cs typeface="Calibri" pitchFamily="34" charset="-120"/>
              </a:rPr>
              <a:t>619 arrendables + 4 canchas de pádel</a:t>
            </a:r>
            <a:endParaRPr lang="en-US" sz="1050" dirty="0"/>
          </a:p>
        </p:txBody>
      </p:sp>
      <p:sp>
        <p:nvSpPr>
          <p:cNvPr id="18" name="Shape 15"/>
          <p:cNvSpPr/>
          <p:nvPr/>
        </p:nvSpPr>
        <p:spPr>
          <a:xfrm>
            <a:off x="8942832" y="4892040"/>
            <a:ext cx="2615184" cy="1463040"/>
          </a:xfrm>
          <a:prstGeom prst="roundRect">
            <a:avLst>
              <a:gd name="adj" fmla="val 375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9" name="Text 16"/>
          <p:cNvSpPr/>
          <p:nvPr/>
        </p:nvSpPr>
        <p:spPr>
          <a:xfrm>
            <a:off x="9125712" y="5047488"/>
            <a:ext cx="2286000" cy="237744"/>
          </a:xfrm>
          <a:prstGeom prst="rect">
            <a:avLst/>
          </a:prstGeom>
          <a:noFill/>
          <a:ln/>
        </p:spPr>
        <p:txBody>
          <a:bodyPr wrap="square" lIns="0" tIns="0" rIns="0" bIns="0" rtlCol="0" anchor="ctr"/>
          <a:lstStyle/>
          <a:p>
            <a:pPr indent="0" marL="0">
              <a:buNone/>
            </a:pPr>
            <a:r>
              <a:rPr lang="en-US" sz="900" b="1" spc="120" kern="0" dirty="0">
                <a:solidFill>
                  <a:srgbClr val="2C5D7C"/>
                </a:solidFill>
                <a:latin typeface="Calibri" pitchFamily="34" charset="0"/>
                <a:ea typeface="Calibri" pitchFamily="34" charset="-122"/>
                <a:cs typeface="Calibri" pitchFamily="34" charset="-120"/>
              </a:rPr>
              <a:t>COLEGIO PROYECTADO</a:t>
            </a:r>
            <a:endParaRPr lang="en-US" sz="900" dirty="0"/>
          </a:p>
        </p:txBody>
      </p:sp>
      <p:sp>
        <p:nvSpPr>
          <p:cNvPr id="20" name="Text 17"/>
          <p:cNvSpPr/>
          <p:nvPr/>
        </p:nvSpPr>
        <p:spPr>
          <a:xfrm>
            <a:off x="9125712" y="5303520"/>
            <a:ext cx="2331720" cy="384048"/>
          </a:xfrm>
          <a:prstGeom prst="rect">
            <a:avLst/>
          </a:prstGeom>
          <a:noFill/>
          <a:ln/>
        </p:spPr>
        <p:txBody>
          <a:bodyPr wrap="square" lIns="0" tIns="0" rIns="0" bIns="0" rtlCol="0" anchor="ctr"/>
          <a:lstStyle/>
          <a:p>
            <a:pPr indent="0" marL="0">
              <a:buNone/>
            </a:pPr>
            <a:r>
              <a:rPr lang="en-US" sz="1700" b="1" dirty="0">
                <a:solidFill>
                  <a:srgbClr val="12212B"/>
                </a:solidFill>
                <a:latin typeface="Calibri" pitchFamily="34" charset="0"/>
                <a:ea typeface="Calibri" pitchFamily="34" charset="-122"/>
                <a:cs typeface="Calibri" pitchFamily="34" charset="-120"/>
              </a:rPr>
              <a:t>3.849 m²</a:t>
            </a:r>
            <a:endParaRPr lang="en-US" sz="1700" dirty="0"/>
          </a:p>
        </p:txBody>
      </p:sp>
      <p:sp>
        <p:nvSpPr>
          <p:cNvPr id="21" name="Text 18"/>
          <p:cNvSpPr/>
          <p:nvPr/>
        </p:nvSpPr>
        <p:spPr>
          <a:xfrm>
            <a:off x="9125712" y="5705856"/>
            <a:ext cx="2331720" cy="566928"/>
          </a:xfrm>
          <a:prstGeom prst="rect">
            <a:avLst/>
          </a:prstGeom>
          <a:noFill/>
          <a:ln/>
        </p:spPr>
        <p:txBody>
          <a:bodyPr wrap="square" lIns="0" tIns="0" rIns="0" bIns="0" rtlCol="0" anchor="ctr"/>
          <a:lstStyle/>
          <a:p>
            <a:pPr indent="0" marL="0">
              <a:buNone/>
            </a:pPr>
            <a:r>
              <a:rPr lang="en-US" sz="1050" dirty="0">
                <a:solidFill>
                  <a:srgbClr val="5A6670"/>
                </a:solidFill>
                <a:latin typeface="Calibri" pitchFamily="34" charset="0"/>
                <a:ea typeface="Calibri" pitchFamily="34" charset="-122"/>
                <a:cs typeface="Calibri" pitchFamily="34" charset="-120"/>
              </a:rPr>
              <a:t>cerrados + 2.088 de patio techado, 980 alumnos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02 · URBANIZACIÓN</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El presupuesto entregado, reconstruido</a:t>
            </a:r>
            <a:endParaRPr lang="en-US" sz="3100" dirty="0"/>
          </a:p>
        </p:txBody>
      </p:sp>
      <p:sp>
        <p:nvSpPr>
          <p:cNvPr id="4" name="Text 2"/>
          <p:cNvSpPr/>
          <p:nvPr/>
        </p:nvSpPr>
        <p:spPr>
          <a:xfrm>
            <a:off x="566928" y="1371600"/>
            <a:ext cx="11018520" cy="320040"/>
          </a:xfrm>
          <a:prstGeom prst="rect">
            <a:avLst/>
          </a:prstGeom>
          <a:noFill/>
          <a:ln/>
        </p:spPr>
        <p:txBody>
          <a:bodyPr wrap="square" lIns="0" tIns="0" rIns="0" bIns="0" rtlCol="0" anchor="ctr"/>
          <a:lstStyle/>
          <a:p>
            <a:pPr indent="0" marL="0">
              <a:buNone/>
            </a:pPr>
            <a:r>
              <a:rPr lang="en-US" sz="1350" dirty="0">
                <a:solidFill>
                  <a:srgbClr val="5A6670"/>
                </a:solidFill>
                <a:latin typeface="Calibri" pitchFamily="34" charset="0"/>
                <a:ea typeface="Calibri" pitchFamily="34" charset="-122"/>
                <a:cs typeface="Calibri" pitchFamily="34" charset="-120"/>
              </a:rPr>
              <a:t>El resumen estima $377 a $678 millones por kilómetro. Tiene dos problemas que corregir antes de usarlo.</a:t>
            </a:r>
            <a:endParaRPr lang="en-US" sz="1350" dirty="0"/>
          </a:p>
        </p:txBody>
      </p:sp>
      <p:sp>
        <p:nvSpPr>
          <p:cNvPr id="5" name="Shape 3"/>
          <p:cNvSpPr/>
          <p:nvPr/>
        </p:nvSpPr>
        <p:spPr>
          <a:xfrm>
            <a:off x="548640" y="1810512"/>
            <a:ext cx="5486400" cy="1371600"/>
          </a:xfrm>
          <a:prstGeom prst="roundRect">
            <a:avLst>
              <a:gd name="adj" fmla="val 4000"/>
            </a:avLst>
          </a:prstGeom>
          <a:solidFill>
            <a:srgbClr val="F6E9DC"/>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6" name="Text 4"/>
          <p:cNvSpPr/>
          <p:nvPr/>
        </p:nvSpPr>
        <p:spPr>
          <a:xfrm>
            <a:off x="841248" y="1975104"/>
            <a:ext cx="4937760" cy="237744"/>
          </a:xfrm>
          <a:prstGeom prst="rect">
            <a:avLst/>
          </a:prstGeom>
          <a:noFill/>
          <a:ln/>
        </p:spPr>
        <p:txBody>
          <a:bodyPr wrap="square" lIns="0" tIns="0" rIns="0" bIns="0" rtlCol="0" anchor="ctr"/>
          <a:lstStyle/>
          <a:p>
            <a:pPr indent="0" marL="0">
              <a:buNone/>
            </a:pPr>
            <a:r>
              <a:rPr lang="en-US" sz="950" b="1" spc="150" kern="0" dirty="0">
                <a:solidFill>
                  <a:srgbClr val="B07D2B"/>
                </a:solidFill>
                <a:latin typeface="Calibri" pitchFamily="34" charset="0"/>
                <a:ea typeface="Calibri" pitchFamily="34" charset="-122"/>
                <a:cs typeface="Calibri" pitchFamily="34" charset="-120"/>
              </a:rPr>
              <a:t>PROBLEMA 1</a:t>
            </a:r>
            <a:endParaRPr lang="en-US" sz="950" dirty="0"/>
          </a:p>
        </p:txBody>
      </p:sp>
      <p:sp>
        <p:nvSpPr>
          <p:cNvPr id="7" name="Text 5"/>
          <p:cNvSpPr/>
          <p:nvPr/>
        </p:nvSpPr>
        <p:spPr>
          <a:xfrm>
            <a:off x="841248" y="2212848"/>
            <a:ext cx="4937760" cy="320040"/>
          </a:xfrm>
          <a:prstGeom prst="rect">
            <a:avLst/>
          </a:prstGeom>
          <a:noFill/>
          <a:ln/>
        </p:spPr>
        <p:txBody>
          <a:bodyPr wrap="square" lIns="0" tIns="0" rIns="0" bIns="0" rtlCol="0" anchor="ctr"/>
          <a:lstStyle/>
          <a:p>
            <a:pPr indent="0" marL="0">
              <a:buNone/>
            </a:pPr>
            <a:r>
              <a:rPr lang="en-US" sz="1550" b="1" dirty="0">
                <a:solidFill>
                  <a:srgbClr val="12212B"/>
                </a:solidFill>
                <a:latin typeface="Calibri" pitchFamily="34" charset="0"/>
                <a:ea typeface="Calibri" pitchFamily="34" charset="-122"/>
                <a:cs typeface="Calibri" pitchFamily="34" charset="-120"/>
              </a:rPr>
              <a:t>El loteo no tiene 1 km de calles, tiene 2</a:t>
            </a:r>
            <a:endParaRPr lang="en-US" sz="1550" dirty="0"/>
          </a:p>
        </p:txBody>
      </p:sp>
      <p:sp>
        <p:nvSpPr>
          <p:cNvPr id="8" name="Text 6"/>
          <p:cNvSpPr/>
          <p:nvPr/>
        </p:nvSpPr>
        <p:spPr>
          <a:xfrm>
            <a:off x="841248" y="2542032"/>
            <a:ext cx="4983480" cy="548640"/>
          </a:xfrm>
          <a:prstGeom prst="rect">
            <a:avLst/>
          </a:prstGeom>
          <a:noFill/>
          <a:ln/>
        </p:spPr>
        <p:txBody>
          <a:bodyPr wrap="square" lIns="0" tIns="0" rIns="0" bIns="0" rtlCol="0" anchor="ctr"/>
          <a:lstStyle/>
          <a:p>
            <a:pPr indent="0" marL="0">
              <a:buNone/>
            </a:pPr>
            <a:r>
              <a:rPr lang="en-US" sz="1150" dirty="0">
                <a:solidFill>
                  <a:srgbClr val="5A6670"/>
                </a:solidFill>
                <a:latin typeface="Calibri" pitchFamily="34" charset="0"/>
                <a:ea typeface="Calibri" pitchFamily="34" charset="-122"/>
                <a:cs typeface="Calibri" pitchFamily="34" charset="-120"/>
              </a:rPr>
              <a:t>26.114 m² de vialidad con perfiles de 18 y 11 m dan ~2.000 metros lineales. El presupuesto se multiplica por dos.</a:t>
            </a:r>
            <a:endParaRPr lang="en-US" sz="1150" dirty="0"/>
          </a:p>
        </p:txBody>
      </p:sp>
      <p:sp>
        <p:nvSpPr>
          <p:cNvPr id="9" name="Shape 7"/>
          <p:cNvSpPr/>
          <p:nvPr/>
        </p:nvSpPr>
        <p:spPr>
          <a:xfrm>
            <a:off x="6263640" y="1810512"/>
            <a:ext cx="5349240" cy="1371600"/>
          </a:xfrm>
          <a:prstGeom prst="roundRect">
            <a:avLst>
              <a:gd name="adj" fmla="val 4000"/>
            </a:avLst>
          </a:prstGeom>
          <a:solidFill>
            <a:srgbClr val="F6E9DC"/>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0" name="Text 8"/>
          <p:cNvSpPr/>
          <p:nvPr/>
        </p:nvSpPr>
        <p:spPr>
          <a:xfrm>
            <a:off x="6556248" y="1975104"/>
            <a:ext cx="4754880" cy="237744"/>
          </a:xfrm>
          <a:prstGeom prst="rect">
            <a:avLst/>
          </a:prstGeom>
          <a:noFill/>
          <a:ln/>
        </p:spPr>
        <p:txBody>
          <a:bodyPr wrap="square" lIns="0" tIns="0" rIns="0" bIns="0" rtlCol="0" anchor="ctr"/>
          <a:lstStyle/>
          <a:p>
            <a:pPr indent="0" marL="0">
              <a:buNone/>
            </a:pPr>
            <a:r>
              <a:rPr lang="en-US" sz="950" b="1" spc="150" kern="0" dirty="0">
                <a:solidFill>
                  <a:srgbClr val="B07D2B"/>
                </a:solidFill>
                <a:latin typeface="Calibri" pitchFamily="34" charset="0"/>
                <a:ea typeface="Calibri" pitchFamily="34" charset="-122"/>
                <a:cs typeface="Calibri" pitchFamily="34" charset="-120"/>
              </a:rPr>
              <a:t>PROBLEMA 2</a:t>
            </a:r>
            <a:endParaRPr lang="en-US" sz="950" dirty="0"/>
          </a:p>
        </p:txBody>
      </p:sp>
      <p:sp>
        <p:nvSpPr>
          <p:cNvPr id="11" name="Text 9"/>
          <p:cNvSpPr/>
          <p:nvPr/>
        </p:nvSpPr>
        <p:spPr>
          <a:xfrm>
            <a:off x="6556248" y="2212848"/>
            <a:ext cx="4754880" cy="320040"/>
          </a:xfrm>
          <a:prstGeom prst="rect">
            <a:avLst/>
          </a:prstGeom>
          <a:noFill/>
          <a:ln/>
        </p:spPr>
        <p:txBody>
          <a:bodyPr wrap="square" lIns="0" tIns="0" rIns="0" bIns="0" rtlCol="0" anchor="ctr"/>
          <a:lstStyle/>
          <a:p>
            <a:pPr indent="0" marL="0">
              <a:buNone/>
            </a:pPr>
            <a:r>
              <a:rPr lang="en-US" sz="1550" b="1" dirty="0">
                <a:solidFill>
                  <a:srgbClr val="12212B"/>
                </a:solidFill>
                <a:latin typeface="Calibri" pitchFamily="34" charset="0"/>
                <a:ea typeface="Calibri" pitchFamily="34" charset="-122"/>
                <a:cs typeface="Calibri" pitchFamily="34" charset="-120"/>
              </a:rPr>
              <a:t>Faltan siete partidas completas</a:t>
            </a:r>
            <a:endParaRPr lang="en-US" sz="1550" dirty="0"/>
          </a:p>
        </p:txBody>
      </p:sp>
      <p:sp>
        <p:nvSpPr>
          <p:cNvPr id="12" name="Text 10"/>
          <p:cNvSpPr/>
          <p:nvPr/>
        </p:nvSpPr>
        <p:spPr>
          <a:xfrm>
            <a:off x="6556248" y="2542032"/>
            <a:ext cx="4846320" cy="548640"/>
          </a:xfrm>
          <a:prstGeom prst="rect">
            <a:avLst/>
          </a:prstGeom>
          <a:noFill/>
          <a:ln/>
        </p:spPr>
        <p:txBody>
          <a:bodyPr wrap="square" lIns="0" tIns="0" rIns="0" bIns="0" rtlCol="0" anchor="ctr"/>
          <a:lstStyle/>
          <a:p>
            <a:pPr indent="0" marL="0">
              <a:buNone/>
            </a:pPr>
            <a:r>
              <a:rPr lang="en-US" sz="1150" dirty="0">
                <a:solidFill>
                  <a:srgbClr val="5A6670"/>
                </a:solidFill>
                <a:latin typeface="Calibri" pitchFamily="34" charset="0"/>
                <a:ea typeface="Calibri" pitchFamily="34" charset="-122"/>
                <a:cs typeface="Calibri" pitchFamily="34" charset="-120"/>
              </a:rPr>
              <a:t>Suman 16.900 – 30.400 UF: casi tanto como el presupuesto original.</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364992"/>
          <a:ext cx="11064240" cy="914400"/>
        </p:xfrm>
        <a:graphic>
          <a:graphicData uri="http://schemas.openxmlformats.org/drawingml/2006/table">
            <a:tbl>
              <a:tblPr/>
              <a:tblGrid>
                <a:gridCol w="3749040"/>
                <a:gridCol w="1828800"/>
                <a:gridCol w="5486400"/>
              </a:tblGrid>
              <a:tr h="33832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Partida omitida</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UF</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Por qué es obligatoria</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Aguas lluvias</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2.203 – 4.407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El terreno va de la cota 149 a la 163 y tiene canales y un tranque</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Áreas verdes ejecutadas</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4.064 – 6.757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13.798 m² con riego, especies y mobiliario</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Proyectos, especialidades, ITO y permisos</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3.672 – 6.365</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Entre 6% y 10% del costo de obra</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Cierre perimetral</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2.326 – 3.599</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~2.100 ml; un condominio con control de acceso lo necesita</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Empalmes y aportes reembolsables</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2.203 – 4.407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90 arranques de agua y alcantarillado</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Canales y servidumbres</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1.469 – 2.938</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Cinco tramos, dos entubados, según L_03</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Movimiento de tierras y rasante</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979 – 1.959</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Preparación previa a cualquier pavimento</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bl>
          </a:graphicData>
        </a:graphic>
      </p:graphicFrame>
      <p:sp>
        <p:nvSpPr>
          <p:cNvPr id="14" name="Text 11"/>
          <p:cNvSpPr/>
          <p:nvPr/>
        </p:nvSpPr>
        <p:spPr>
          <a:xfrm>
            <a:off x="566928" y="6035040"/>
            <a:ext cx="11018520" cy="365760"/>
          </a:xfrm>
          <a:prstGeom prst="rect">
            <a:avLst/>
          </a:prstGeom>
          <a:noFill/>
          <a:ln/>
        </p:spPr>
        <p:txBody>
          <a:bodyPr wrap="square" lIns="0" tIns="0" rIns="0" bIns="0" rtlCol="0" anchor="ctr"/>
          <a:lstStyle/>
          <a:p>
            <a:pPr indent="0" marL="0">
              <a:buNone/>
            </a:pPr>
            <a:r>
              <a:rPr lang="en-US" sz="1400" dirty="0">
                <a:solidFill>
                  <a:srgbClr val="5A6670"/>
                </a:solidFill>
                <a:latin typeface="Calibri" pitchFamily="34" charset="0"/>
                <a:ea typeface="Calibri" pitchFamily="34" charset="-122"/>
                <a:cs typeface="Calibri" pitchFamily="34" charset="-120"/>
              </a:rPr>
              <a:t>Total reconciliado con imprevistos:  </a:t>
            </a:r>
            <a:pPr indent="0" marL="0">
              <a:buNone/>
            </a:pPr>
            <a:r>
              <a:rPr lang="en-US" sz="1400" b="1" dirty="0">
                <a:solidFill>
                  <a:srgbClr val="3E6B4A"/>
                </a:solidFill>
                <a:latin typeface="Calibri" pitchFamily="34" charset="0"/>
                <a:ea typeface="Calibri" pitchFamily="34" charset="-122"/>
                <a:cs typeface="Calibri" pitchFamily="34" charset="-120"/>
              </a:rPr>
              <a:t>38.241 – 68.915 UF</a:t>
            </a:r>
            <a:pPr indent="0" marL="0">
              <a:buNone/>
            </a:pPr>
            <a:r>
              <a:rPr lang="en-US" sz="1400" dirty="0">
                <a:solidFill>
                  <a:srgbClr val="5A6670"/>
                </a:solidFill>
                <a:latin typeface="Calibri" pitchFamily="34" charset="0"/>
                <a:ea typeface="Calibri" pitchFamily="34" charset="-122"/>
                <a:cs typeface="Calibri" pitchFamily="34" charset="-120"/>
              </a:rPr>
              <a:t>   ·   425 – 766 UF por sitio   ·   0,30 – 0,54 UF por m² vendible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03 · RESULTADOS DE LA ETAPA 1</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El loteo en tres escenarios</a:t>
            </a:r>
            <a:endParaRPr lang="en-US" sz="3100" dirty="0"/>
          </a:p>
        </p:txBody>
      </p:sp>
      <p:graphicFrame>
        <p:nvGraphicFramePr>
          <p:cNvPr id="4" name="Chart 0" descr=""/>
          <p:cNvGraphicFramePr/>
          <p:nvPr/>
        </p:nvGraphicFramePr>
        <p:xfrm>
          <a:off x="548640" y="1481328"/>
          <a:ext cx="50292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943600" y="1481328"/>
          <a:ext cx="5669280"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407408"/>
          <a:ext cx="11064240" cy="914400"/>
        </p:xfrm>
        <a:graphic>
          <a:graphicData uri="http://schemas.openxmlformats.org/drawingml/2006/table">
            <a:tbl>
              <a:tblPr/>
              <a:tblGrid>
                <a:gridCol w="3931920"/>
                <a:gridCol w="2377440"/>
                <a:gridCol w="2377440"/>
                <a:gridCol w="2377440"/>
              </a:tblGrid>
              <a:tr h="292608">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Conservador</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Optimista</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r>
              <a:tr h="29260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Ingresos totales</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457.476</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496.546</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505.071</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Costos totales con terreno</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268.949</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227.633</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204.491</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Margen neto</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30,1%</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39,5%</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43,4%</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VAN al 12%</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+18.584</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+80.537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+135.726</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Capital máximo expuesto</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80.500</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67.000</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52.250</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Último año de venta</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Año 11</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Año 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Año 5</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04 · CAJA</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Flujo de caja del escenario base</a:t>
            </a:r>
            <a:endParaRPr lang="en-US" sz="3100" dirty="0"/>
          </a:p>
        </p:txBody>
      </p:sp>
      <p:graphicFrame>
        <p:nvGraphicFramePr>
          <p:cNvPr id="4" name="Chart 0" descr=""/>
          <p:cNvGraphicFramePr/>
          <p:nvPr/>
        </p:nvGraphicFramePr>
        <p:xfrm>
          <a:off x="548640" y="1463040"/>
          <a:ext cx="1106424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4983480"/>
            <a:ext cx="3566160" cy="1371600"/>
          </a:xfrm>
          <a:prstGeom prst="roundRect">
            <a:avLst>
              <a:gd name="adj" fmla="val 40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6" name="Text 3"/>
          <p:cNvSpPr/>
          <p:nvPr/>
        </p:nvSpPr>
        <p:spPr>
          <a:xfrm>
            <a:off x="768096" y="5148072"/>
            <a:ext cx="3108960" cy="237744"/>
          </a:xfrm>
          <a:prstGeom prst="rect">
            <a:avLst/>
          </a:prstGeom>
          <a:noFill/>
          <a:ln/>
        </p:spPr>
        <p:txBody>
          <a:bodyPr wrap="square" lIns="0" tIns="0" rIns="0" bIns="0" rtlCol="0" anchor="ctr"/>
          <a:lstStyle/>
          <a:p>
            <a:pPr indent="0" marL="0">
              <a:buNone/>
            </a:pPr>
            <a:r>
              <a:rPr lang="en-US" sz="950" b="1" spc="120" kern="0" dirty="0">
                <a:solidFill>
                  <a:srgbClr val="2C5D7C"/>
                </a:solidFill>
                <a:latin typeface="Calibri" pitchFamily="34" charset="0"/>
                <a:ea typeface="Calibri" pitchFamily="34" charset="-122"/>
                <a:cs typeface="Calibri" pitchFamily="34" charset="-120"/>
              </a:rPr>
              <a:t>PEAK DE CAJA NEGATIVA</a:t>
            </a:r>
            <a:endParaRPr lang="en-US" sz="950" dirty="0"/>
          </a:p>
        </p:txBody>
      </p:sp>
      <p:sp>
        <p:nvSpPr>
          <p:cNvPr id="7" name="Text 4"/>
          <p:cNvSpPr/>
          <p:nvPr/>
        </p:nvSpPr>
        <p:spPr>
          <a:xfrm>
            <a:off x="768096" y="5394960"/>
            <a:ext cx="3108960" cy="411480"/>
          </a:xfrm>
          <a:prstGeom prst="rect">
            <a:avLst/>
          </a:prstGeom>
          <a:noFill/>
          <a:ln/>
        </p:spPr>
        <p:txBody>
          <a:bodyPr wrap="square" lIns="0" tIns="0" rIns="0" bIns="0" rtlCol="0" anchor="ctr"/>
          <a:lstStyle/>
          <a:p>
            <a:pPr indent="0" marL="0">
              <a:buNone/>
            </a:pPr>
            <a:r>
              <a:rPr lang="en-US" sz="2000" b="1" dirty="0">
                <a:solidFill>
                  <a:srgbClr val="12212B"/>
                </a:solidFill>
                <a:latin typeface="Calibri" pitchFamily="34" charset="0"/>
                <a:ea typeface="Calibri" pitchFamily="34" charset="-122"/>
                <a:cs typeface="Calibri" pitchFamily="34" charset="-120"/>
              </a:rPr>
              <a:t>67.000 UF</a:t>
            </a:r>
            <a:endParaRPr lang="en-US" sz="2000" dirty="0"/>
          </a:p>
        </p:txBody>
      </p:sp>
      <p:sp>
        <p:nvSpPr>
          <p:cNvPr id="8" name="Text 5"/>
          <p:cNvSpPr/>
          <p:nvPr/>
        </p:nvSpPr>
        <p:spPr>
          <a:xfrm>
            <a:off x="768096" y="5815584"/>
            <a:ext cx="3200400" cy="457200"/>
          </a:xfrm>
          <a:prstGeom prst="rect">
            <a:avLst/>
          </a:prstGeom>
          <a:noFill/>
          <a:ln/>
        </p:spPr>
        <p:txBody>
          <a:bodyPr wrap="square" lIns="0" tIns="0" rIns="0" bIns="0" rtlCol="0" anchor="ctr"/>
          <a:lstStyle/>
          <a:p>
            <a:pPr indent="0" marL="0">
              <a:buNone/>
            </a:pPr>
            <a:r>
              <a:rPr lang="en-US" sz="1100" dirty="0">
                <a:solidFill>
                  <a:srgbClr val="5A6670"/>
                </a:solidFill>
                <a:latin typeface="Calibri" pitchFamily="34" charset="0"/>
                <a:ea typeface="Calibri" pitchFamily="34" charset="-122"/>
                <a:cs typeface="Calibri" pitchFamily="34" charset="-120"/>
              </a:rPr>
              <a:t>en el año 1, antes de vender el primer sitio</a:t>
            </a:r>
            <a:endParaRPr lang="en-US" sz="1100" dirty="0"/>
          </a:p>
        </p:txBody>
      </p:sp>
      <p:sp>
        <p:nvSpPr>
          <p:cNvPr id="9" name="Shape 6"/>
          <p:cNvSpPr/>
          <p:nvPr/>
        </p:nvSpPr>
        <p:spPr>
          <a:xfrm>
            <a:off x="4297680" y="4983480"/>
            <a:ext cx="3566160" cy="1371600"/>
          </a:xfrm>
          <a:prstGeom prst="roundRect">
            <a:avLst>
              <a:gd name="adj" fmla="val 40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0" name="Text 7"/>
          <p:cNvSpPr/>
          <p:nvPr/>
        </p:nvSpPr>
        <p:spPr>
          <a:xfrm>
            <a:off x="4517136" y="5148072"/>
            <a:ext cx="3108960" cy="237744"/>
          </a:xfrm>
          <a:prstGeom prst="rect">
            <a:avLst/>
          </a:prstGeom>
          <a:noFill/>
          <a:ln/>
        </p:spPr>
        <p:txBody>
          <a:bodyPr wrap="square" lIns="0" tIns="0" rIns="0" bIns="0" rtlCol="0" anchor="ctr"/>
          <a:lstStyle/>
          <a:p>
            <a:pPr indent="0" marL="0">
              <a:buNone/>
            </a:pPr>
            <a:r>
              <a:rPr lang="en-US" sz="950" b="1" spc="120" kern="0" dirty="0">
                <a:solidFill>
                  <a:srgbClr val="2C5D7C"/>
                </a:solidFill>
                <a:latin typeface="Calibri" pitchFamily="34" charset="0"/>
                <a:ea typeface="Calibri" pitchFamily="34" charset="-122"/>
                <a:cs typeface="Calibri" pitchFamily="34" charset="-120"/>
              </a:rPr>
              <a:t>RECUPERACIÓN</a:t>
            </a:r>
            <a:endParaRPr lang="en-US" sz="950" dirty="0"/>
          </a:p>
        </p:txBody>
      </p:sp>
      <p:sp>
        <p:nvSpPr>
          <p:cNvPr id="11" name="Text 8"/>
          <p:cNvSpPr/>
          <p:nvPr/>
        </p:nvSpPr>
        <p:spPr>
          <a:xfrm>
            <a:off x="4517136" y="5394960"/>
            <a:ext cx="3108960" cy="411480"/>
          </a:xfrm>
          <a:prstGeom prst="rect">
            <a:avLst/>
          </a:prstGeom>
          <a:noFill/>
          <a:ln/>
        </p:spPr>
        <p:txBody>
          <a:bodyPr wrap="square" lIns="0" tIns="0" rIns="0" bIns="0" rtlCol="0" anchor="ctr"/>
          <a:lstStyle/>
          <a:p>
            <a:pPr indent="0" marL="0">
              <a:buNone/>
            </a:pPr>
            <a:r>
              <a:rPr lang="en-US" sz="2000" b="1" dirty="0">
                <a:solidFill>
                  <a:srgbClr val="12212B"/>
                </a:solidFill>
                <a:latin typeface="Calibri" pitchFamily="34" charset="0"/>
                <a:ea typeface="Calibri" pitchFamily="34" charset="-122"/>
                <a:cs typeface="Calibri" pitchFamily="34" charset="-120"/>
              </a:rPr>
              <a:t>Año 3</a:t>
            </a:r>
            <a:endParaRPr lang="en-US" sz="2000" dirty="0"/>
          </a:p>
        </p:txBody>
      </p:sp>
      <p:sp>
        <p:nvSpPr>
          <p:cNvPr id="12" name="Text 9"/>
          <p:cNvSpPr/>
          <p:nvPr/>
        </p:nvSpPr>
        <p:spPr>
          <a:xfrm>
            <a:off x="4517136" y="5815584"/>
            <a:ext cx="3200400" cy="457200"/>
          </a:xfrm>
          <a:prstGeom prst="rect">
            <a:avLst/>
          </a:prstGeom>
          <a:noFill/>
          <a:ln/>
        </p:spPr>
        <p:txBody>
          <a:bodyPr wrap="square" lIns="0" tIns="0" rIns="0" bIns="0" rtlCol="0" anchor="ctr"/>
          <a:lstStyle/>
          <a:p>
            <a:pPr indent="0" marL="0">
              <a:buNone/>
            </a:pPr>
            <a:r>
              <a:rPr lang="en-US" sz="1100" dirty="0">
                <a:solidFill>
                  <a:srgbClr val="5A6670"/>
                </a:solidFill>
                <a:latin typeface="Calibri" pitchFamily="34" charset="0"/>
                <a:ea typeface="Calibri" pitchFamily="34" charset="-122"/>
                <a:cs typeface="Calibri" pitchFamily="34" charset="-120"/>
              </a:rPr>
              <a:t>el flujo acumulado vuelve a cero</a:t>
            </a:r>
            <a:endParaRPr lang="en-US" sz="1100" dirty="0"/>
          </a:p>
        </p:txBody>
      </p:sp>
      <p:sp>
        <p:nvSpPr>
          <p:cNvPr id="13" name="Shape 10"/>
          <p:cNvSpPr/>
          <p:nvPr/>
        </p:nvSpPr>
        <p:spPr>
          <a:xfrm>
            <a:off x="8046720" y="4983480"/>
            <a:ext cx="3566160" cy="1371600"/>
          </a:xfrm>
          <a:prstGeom prst="roundRect">
            <a:avLst>
              <a:gd name="adj" fmla="val 40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4" name="Text 11"/>
          <p:cNvSpPr/>
          <p:nvPr/>
        </p:nvSpPr>
        <p:spPr>
          <a:xfrm>
            <a:off x="8266176" y="5148072"/>
            <a:ext cx="3108960" cy="237744"/>
          </a:xfrm>
          <a:prstGeom prst="rect">
            <a:avLst/>
          </a:prstGeom>
          <a:noFill/>
          <a:ln/>
        </p:spPr>
        <p:txBody>
          <a:bodyPr wrap="square" lIns="0" tIns="0" rIns="0" bIns="0" rtlCol="0" anchor="ctr"/>
          <a:lstStyle/>
          <a:p>
            <a:pPr indent="0" marL="0">
              <a:buNone/>
            </a:pPr>
            <a:r>
              <a:rPr lang="en-US" sz="950" b="1" spc="120" kern="0" dirty="0">
                <a:solidFill>
                  <a:srgbClr val="2C5D7C"/>
                </a:solidFill>
                <a:latin typeface="Calibri" pitchFamily="34" charset="0"/>
                <a:ea typeface="Calibri" pitchFamily="34" charset="-122"/>
                <a:cs typeface="Calibri" pitchFamily="34" charset="-120"/>
              </a:rPr>
              <a:t>TERRENO PAGADO</a:t>
            </a:r>
            <a:endParaRPr lang="en-US" sz="950" dirty="0"/>
          </a:p>
        </p:txBody>
      </p:sp>
      <p:sp>
        <p:nvSpPr>
          <p:cNvPr id="15" name="Text 12"/>
          <p:cNvSpPr/>
          <p:nvPr/>
        </p:nvSpPr>
        <p:spPr>
          <a:xfrm>
            <a:off x="8266176" y="5394960"/>
            <a:ext cx="3108960" cy="411480"/>
          </a:xfrm>
          <a:prstGeom prst="rect">
            <a:avLst/>
          </a:prstGeom>
          <a:noFill/>
          <a:ln/>
        </p:spPr>
        <p:txBody>
          <a:bodyPr wrap="square" lIns="0" tIns="0" rIns="0" bIns="0" rtlCol="0" anchor="ctr"/>
          <a:lstStyle/>
          <a:p>
            <a:pPr indent="0" marL="0">
              <a:buNone/>
            </a:pPr>
            <a:r>
              <a:rPr lang="en-US" sz="2000" b="1" dirty="0">
                <a:solidFill>
                  <a:srgbClr val="12212B"/>
                </a:solidFill>
                <a:latin typeface="Calibri" pitchFamily="34" charset="0"/>
                <a:ea typeface="Calibri" pitchFamily="34" charset="-122"/>
                <a:cs typeface="Calibri" pitchFamily="34" charset="-120"/>
              </a:rPr>
              <a:t>Año 6</a:t>
            </a:r>
            <a:endParaRPr lang="en-US" sz="2000" dirty="0"/>
          </a:p>
        </p:txBody>
      </p:sp>
      <p:sp>
        <p:nvSpPr>
          <p:cNvPr id="16" name="Text 13"/>
          <p:cNvSpPr/>
          <p:nvPr/>
        </p:nvSpPr>
        <p:spPr>
          <a:xfrm>
            <a:off x="8266176" y="5815584"/>
            <a:ext cx="3200400" cy="457200"/>
          </a:xfrm>
          <a:prstGeom prst="rect">
            <a:avLst/>
          </a:prstGeom>
          <a:noFill/>
          <a:ln/>
        </p:spPr>
        <p:txBody>
          <a:bodyPr wrap="square" lIns="0" tIns="0" rIns="0" bIns="0" rtlCol="0" anchor="ctr"/>
          <a:lstStyle/>
          <a:p>
            <a:pPr indent="0" marL="0">
              <a:buNone/>
            </a:pPr>
            <a:r>
              <a:rPr lang="en-US" sz="1100" dirty="0">
                <a:solidFill>
                  <a:srgbClr val="5A6670"/>
                </a:solidFill>
                <a:latin typeface="Calibri" pitchFamily="34" charset="0"/>
                <a:ea typeface="Calibri" pitchFamily="34" charset="-122"/>
                <a:cs typeface="Calibri" pitchFamily="34" charset="-120"/>
              </a:rPr>
              <a:t>5 años desde el permiso, sin saldo final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05 · SENSIBILIDAD</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Dónde se rompe el negocio</a:t>
            </a:r>
            <a:endParaRPr lang="en-US" sz="3100" dirty="0"/>
          </a:p>
        </p:txBody>
      </p:sp>
      <p:sp>
        <p:nvSpPr>
          <p:cNvPr id="4" name="Text 2"/>
          <p:cNvSpPr/>
          <p:nvPr/>
        </p:nvSpPr>
        <p:spPr>
          <a:xfrm>
            <a:off x="566928" y="1371600"/>
            <a:ext cx="11018520" cy="320040"/>
          </a:xfrm>
          <a:prstGeom prst="rect">
            <a:avLst/>
          </a:prstGeom>
          <a:noFill/>
          <a:ln/>
        </p:spPr>
        <p:txBody>
          <a:bodyPr wrap="square" lIns="0" tIns="0" rIns="0" bIns="0" rtlCol="0" anchor="ctr"/>
          <a:lstStyle/>
          <a:p>
            <a:pPr indent="0" marL="0">
              <a:buNone/>
            </a:pPr>
            <a:r>
              <a:rPr lang="en-US" sz="1350" dirty="0">
                <a:solidFill>
                  <a:srgbClr val="5A6670"/>
                </a:solidFill>
                <a:latin typeface="Calibri" pitchFamily="34" charset="0"/>
                <a:ea typeface="Calibri" pitchFamily="34" charset="-122"/>
                <a:cs typeface="Calibri" pitchFamily="34" charset="-120"/>
              </a:rPr>
              <a:t>TIR según velocidad de venta y costo de urbanización. Todo lo demás en supuestos base.</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931920"/>
                <a:gridCol w="2377440"/>
                <a:gridCol w="2377440"/>
                <a:gridCol w="2377440"/>
              </a:tblGrid>
              <a:tr h="32918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Sitios vendidos por año</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Urbanización 45.000 UF</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Urbanización 60.000 UF</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Urbanización 80.000 UF</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8  ·  0,7 al mes</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0EFE3"/>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6E9DC"/>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6E9DC"/>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10  ·  escenario conservador</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35,3%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E6EDE2"/>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30,9%</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E6EDE2"/>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26,2%</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0EFE3"/>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12  ·  1 al mes</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42,2%</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37,2%</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E6EDE2"/>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31,3%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E6EDE2"/>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15  ·  escenario base</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48,3%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42,7%</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39,7%</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E6EDE2"/>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18  ·  1,5 al mes</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56,5%</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50,3%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42,7%</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21  ·  escenario optimista</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63,8%</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57,1%</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48,8%</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r>
              <a:tr h="329184">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24  ·  2 al mes</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70,6%</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63,4%</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c>
                  <a:txBody>
                    <a:bodyPr/>
                    <a:lstStyle/>
                    <a:p>
                      <a:pPr algn="r" indent="0" marL="0">
                        <a:buNone/>
                      </a:pPr>
                      <a:r>
                        <a:rPr lang="en-US" sz="1200" b="1" dirty="0">
                          <a:solidFill>
                            <a:srgbClr val="12212B"/>
                          </a:solidFill>
                          <a:latin typeface="Calibri" pitchFamily="34" charset="0"/>
                          <a:ea typeface="Calibri" pitchFamily="34" charset="-122"/>
                          <a:cs typeface="Calibri" pitchFamily="34" charset="-120"/>
                        </a:rPr>
                        <a:t>54,6%</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D8E6D6"/>
                    </a:solidFill>
                  </a:tcPr>
                </a:tc>
              </a:tr>
            </a:tbl>
          </a:graphicData>
        </a:graphic>
      </p:graphicFrame>
      <p:sp>
        <p:nvSpPr>
          <p:cNvPr id="6" name="Shape 3"/>
          <p:cNvSpPr/>
          <p:nvPr/>
        </p:nvSpPr>
        <p:spPr>
          <a:xfrm>
            <a:off x="548640" y="5120640"/>
            <a:ext cx="11064240" cy="1234440"/>
          </a:xfrm>
          <a:prstGeom prst="roundRect">
            <a:avLst>
              <a:gd name="adj" fmla="val 4444"/>
            </a:avLst>
          </a:prstGeom>
          <a:solidFill>
            <a:srgbClr val="E4EBE2"/>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7" name="Text 4"/>
          <p:cNvSpPr/>
          <p:nvPr/>
        </p:nvSpPr>
        <p:spPr>
          <a:xfrm>
            <a:off x="868680" y="5285232"/>
            <a:ext cx="10424160" cy="320040"/>
          </a:xfrm>
          <a:prstGeom prst="rect">
            <a:avLst/>
          </a:prstGeom>
          <a:noFill/>
          <a:ln/>
        </p:spPr>
        <p:txBody>
          <a:bodyPr wrap="square" lIns="0" tIns="0" rIns="0" bIns="0" rtlCol="0" anchor="ctr"/>
          <a:lstStyle/>
          <a:p>
            <a:pPr indent="0" marL="0">
              <a:buNone/>
            </a:pPr>
            <a:r>
              <a:rPr lang="en-US" sz="1600" b="1" dirty="0">
                <a:solidFill>
                  <a:srgbClr val="3E6B4A"/>
                </a:solidFill>
                <a:latin typeface="Calibri" pitchFamily="34" charset="0"/>
                <a:ea typeface="Calibri" pitchFamily="34" charset="-122"/>
                <a:cs typeface="Calibri" pitchFamily="34" charset="-120"/>
              </a:rPr>
              <a:t>Ya no hay línea de flotación dentro del rango realista</a:t>
            </a:r>
            <a:endParaRPr lang="en-US" sz="1600" dirty="0"/>
          </a:p>
        </p:txBody>
      </p:sp>
      <p:sp>
        <p:nvSpPr>
          <p:cNvPr id="8" name="Text 5"/>
          <p:cNvSpPr/>
          <p:nvPr/>
        </p:nvSpPr>
        <p:spPr>
          <a:xfrm>
            <a:off x="868680" y="5605272"/>
            <a:ext cx="10469880" cy="685800"/>
          </a:xfrm>
          <a:prstGeom prst="rect">
            <a:avLst/>
          </a:prstGeom>
          <a:noFill/>
          <a:ln/>
        </p:spPr>
        <p:txBody>
          <a:bodyPr wrap="square" lIns="0" tIns="0" rIns="0" bIns="0" rtlCol="0" anchor="ctr"/>
          <a:lstStyle/>
          <a:p>
            <a:pPr indent="0" marL="0">
              <a:lnSpc>
                <a:spcPts val="1700"/>
              </a:lnSpc>
              <a:buNone/>
            </a:pPr>
            <a:r>
              <a:rPr lang="en-US" sz="1250" dirty="0">
                <a:solidFill>
                  <a:srgbClr val="5A6670"/>
                </a:solidFill>
                <a:latin typeface="Calibri" pitchFamily="34" charset="0"/>
                <a:ea typeface="Calibri" pitchFamily="34" charset="-122"/>
                <a:cs typeface="Calibri" pitchFamily="34" charset="-120"/>
              </a:rPr>
              <a:t>Antes el proyecto se hundía bajo 12 sitios al año. Ahora toda la matriz rinde sobre 20%: incluso a 0,7 sitios al mes con la urbanización en el techo del rango. La velocidad sigue valiendo 30 puntos de TIR entre el peor y el mejor caso, pero dejó de ser un riesgo de supervivencia y pasó a ser una palanca de rentabilidad.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06 · PRECIO Y PUNTO DE EQUILIBRIO</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El terreno está barato, no caro</a:t>
            </a:r>
            <a:endParaRPr lang="en-US" sz="3100" dirty="0"/>
          </a:p>
        </p:txBody>
      </p:sp>
      <p:graphicFrame>
        <p:nvGraphicFramePr>
          <p:cNvPr id="4" name="Chart 0" descr=""/>
          <p:cNvGraphicFramePr/>
          <p:nvPr/>
        </p:nvGraphicFramePr>
        <p:xfrm>
          <a:off x="548640" y="146304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463040"/>
            <a:ext cx="5257800" cy="1481328"/>
          </a:xfrm>
          <a:prstGeom prst="roundRect">
            <a:avLst>
              <a:gd name="adj" fmla="val 3704"/>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6" name="Text 3"/>
          <p:cNvSpPr/>
          <p:nvPr/>
        </p:nvSpPr>
        <p:spPr>
          <a:xfrm>
            <a:off x="6675120" y="1600200"/>
            <a:ext cx="4617720" cy="502920"/>
          </a:xfrm>
          <a:prstGeom prst="rect">
            <a:avLst/>
          </a:prstGeom>
          <a:noFill/>
          <a:ln/>
        </p:spPr>
        <p:txBody>
          <a:bodyPr wrap="square" lIns="0" tIns="0" rIns="0" bIns="0" rtlCol="0" anchor="ctr"/>
          <a:lstStyle/>
          <a:p>
            <a:pPr indent="0" marL="0">
              <a:buNone/>
            </a:pPr>
            <a:r>
              <a:rPr lang="en-US" sz="3000" b="1" dirty="0">
                <a:solidFill>
                  <a:srgbClr val="2C5D7C"/>
                </a:solidFill>
                <a:latin typeface="Calibri" pitchFamily="34" charset="0"/>
                <a:ea typeface="Calibri" pitchFamily="34" charset="-122"/>
                <a:cs typeface="Calibri" pitchFamily="34" charset="-120"/>
              </a:rPr>
              <a:t>25 sitios</a:t>
            </a:r>
            <a:endParaRPr lang="en-US" sz="3000" dirty="0"/>
          </a:p>
        </p:txBody>
      </p:sp>
      <p:sp>
        <p:nvSpPr>
          <p:cNvPr id="7" name="Text 4"/>
          <p:cNvSpPr/>
          <p:nvPr/>
        </p:nvSpPr>
        <p:spPr>
          <a:xfrm>
            <a:off x="6675120" y="2112264"/>
            <a:ext cx="4617720" cy="237744"/>
          </a:xfrm>
          <a:prstGeom prst="rect">
            <a:avLst/>
          </a:prstGeom>
          <a:noFill/>
          <a:ln/>
        </p:spPr>
        <p:txBody>
          <a:bodyPr wrap="square" lIns="0" tIns="0" rIns="0" bIns="0" rtlCol="0" anchor="ctr"/>
          <a:lstStyle/>
          <a:p>
            <a:pPr indent="0" marL="0">
              <a:buNone/>
            </a:pPr>
            <a:r>
              <a:rPr lang="en-US" sz="950" b="1" spc="140" kern="0" dirty="0">
                <a:solidFill>
                  <a:srgbClr val="5A6670"/>
                </a:solidFill>
                <a:latin typeface="Calibri" pitchFamily="34" charset="0"/>
                <a:ea typeface="Calibri" pitchFamily="34" charset="-122"/>
                <a:cs typeface="Calibri" pitchFamily="34" charset="-120"/>
              </a:rPr>
              <a:t>PARA CUBRIR EL TERRENO COMPLETO</a:t>
            </a:r>
            <a:endParaRPr lang="en-US" sz="950" dirty="0"/>
          </a:p>
        </p:txBody>
      </p:sp>
      <p:sp>
        <p:nvSpPr>
          <p:cNvPr id="8" name="Text 5"/>
          <p:cNvSpPr/>
          <p:nvPr/>
        </p:nvSpPr>
        <p:spPr>
          <a:xfrm>
            <a:off x="6675120" y="2377440"/>
            <a:ext cx="4617720" cy="548640"/>
          </a:xfrm>
          <a:prstGeom prst="rect">
            <a:avLst/>
          </a:prstGeom>
          <a:noFill/>
          <a:ln/>
        </p:spPr>
        <p:txBody>
          <a:bodyPr wrap="square" lIns="0" tIns="0" rIns="0" bIns="0" rtlCol="0" anchor="ctr"/>
          <a:lstStyle/>
          <a:p>
            <a:pPr indent="0" marL="0">
              <a:lnSpc>
                <a:spcPts val="1600"/>
              </a:lnSpc>
              <a:buNone/>
            </a:pPr>
            <a:r>
              <a:rPr lang="en-US" sz="1150" dirty="0">
                <a:solidFill>
                  <a:srgbClr val="5A6670"/>
                </a:solidFill>
                <a:latin typeface="Calibri" pitchFamily="34" charset="0"/>
                <a:ea typeface="Calibri" pitchFamily="34" charset="-122"/>
                <a:cs typeface="Calibri" pitchFamily="34" charset="-120"/>
              </a:rPr>
              <a:t>Cada sitio deja 4.749 UF netos. El saldo de 99.000 UF se cubre con 21.</a:t>
            </a:r>
            <a:endParaRPr lang="en-US" sz="1150" dirty="0"/>
          </a:p>
        </p:txBody>
      </p:sp>
      <p:sp>
        <p:nvSpPr>
          <p:cNvPr id="9" name="Shape 6"/>
          <p:cNvSpPr/>
          <p:nvPr/>
        </p:nvSpPr>
        <p:spPr>
          <a:xfrm>
            <a:off x="6355080" y="2999232"/>
            <a:ext cx="5257800" cy="1481328"/>
          </a:xfrm>
          <a:prstGeom prst="roundRect">
            <a:avLst>
              <a:gd name="adj" fmla="val 3704"/>
            </a:avLst>
          </a:prstGeom>
          <a:solidFill>
            <a:srgbClr val="E4EBE2"/>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0" name="Text 7"/>
          <p:cNvSpPr/>
          <p:nvPr/>
        </p:nvSpPr>
        <p:spPr>
          <a:xfrm>
            <a:off x="6675120" y="3136392"/>
            <a:ext cx="4617720" cy="502920"/>
          </a:xfrm>
          <a:prstGeom prst="rect">
            <a:avLst/>
          </a:prstGeom>
          <a:noFill/>
          <a:ln/>
        </p:spPr>
        <p:txBody>
          <a:bodyPr wrap="square" lIns="0" tIns="0" rIns="0" bIns="0" rtlCol="0" anchor="ctr"/>
          <a:lstStyle/>
          <a:p>
            <a:pPr indent="0" marL="0">
              <a:buNone/>
            </a:pPr>
            <a:r>
              <a:rPr lang="en-US" sz="3000" b="1" dirty="0">
                <a:solidFill>
                  <a:srgbClr val="3E6B4A"/>
                </a:solidFill>
                <a:latin typeface="Calibri" pitchFamily="34" charset="0"/>
                <a:ea typeface="Calibri" pitchFamily="34" charset="-122"/>
                <a:cs typeface="Calibri" pitchFamily="34" charset="-120"/>
              </a:rPr>
              <a:t>44 sitios</a:t>
            </a:r>
            <a:endParaRPr lang="en-US" sz="3000" dirty="0"/>
          </a:p>
        </p:txBody>
      </p:sp>
      <p:sp>
        <p:nvSpPr>
          <p:cNvPr id="11" name="Text 8"/>
          <p:cNvSpPr/>
          <p:nvPr/>
        </p:nvSpPr>
        <p:spPr>
          <a:xfrm>
            <a:off x="6675120" y="3648456"/>
            <a:ext cx="4617720" cy="237744"/>
          </a:xfrm>
          <a:prstGeom prst="rect">
            <a:avLst/>
          </a:prstGeom>
          <a:noFill/>
          <a:ln/>
        </p:spPr>
        <p:txBody>
          <a:bodyPr wrap="square" lIns="0" tIns="0" rIns="0" bIns="0" rtlCol="0" anchor="ctr"/>
          <a:lstStyle/>
          <a:p>
            <a:pPr indent="0" marL="0">
              <a:buNone/>
            </a:pPr>
            <a:r>
              <a:rPr lang="en-US" sz="950" b="1" spc="140" kern="0" dirty="0">
                <a:solidFill>
                  <a:srgbClr val="5A6670"/>
                </a:solidFill>
                <a:latin typeface="Calibri" pitchFamily="34" charset="0"/>
                <a:ea typeface="Calibri" pitchFamily="34" charset="-122"/>
                <a:cs typeface="Calibri" pitchFamily="34" charset="-120"/>
              </a:rPr>
              <a:t>PARA NO PERDER PLATA</a:t>
            </a:r>
            <a:endParaRPr lang="en-US" sz="950" dirty="0"/>
          </a:p>
        </p:txBody>
      </p:sp>
      <p:sp>
        <p:nvSpPr>
          <p:cNvPr id="12" name="Text 9"/>
          <p:cNvSpPr/>
          <p:nvPr/>
        </p:nvSpPr>
        <p:spPr>
          <a:xfrm>
            <a:off x="6675120" y="3913632"/>
            <a:ext cx="4617720" cy="548640"/>
          </a:xfrm>
          <a:prstGeom prst="rect">
            <a:avLst/>
          </a:prstGeom>
          <a:noFill/>
          <a:ln/>
        </p:spPr>
        <p:txBody>
          <a:bodyPr wrap="square" lIns="0" tIns="0" rIns="0" bIns="0" rtlCol="0" anchor="ctr"/>
          <a:lstStyle/>
          <a:p>
            <a:pPr indent="0" marL="0">
              <a:lnSpc>
                <a:spcPts val="1600"/>
              </a:lnSpc>
              <a:buNone/>
            </a:pPr>
            <a:r>
              <a:rPr lang="en-US" sz="1150" dirty="0">
                <a:solidFill>
                  <a:srgbClr val="5A6670"/>
                </a:solidFill>
                <a:latin typeface="Calibri" pitchFamily="34" charset="0"/>
                <a:ea typeface="Calibri" pitchFamily="34" charset="-122"/>
                <a:cs typeface="Calibri" pitchFamily="34" charset="-120"/>
              </a:rPr>
              <a:t>La mitad del inventario. Antes de la corrección eran 64, el 71%.</a:t>
            </a:r>
            <a:endParaRPr lang="en-US" sz="1150" dirty="0"/>
          </a:p>
        </p:txBody>
      </p:sp>
      <p:sp>
        <p:nvSpPr>
          <p:cNvPr id="13" name="Shape 10"/>
          <p:cNvSpPr/>
          <p:nvPr/>
        </p:nvSpPr>
        <p:spPr>
          <a:xfrm>
            <a:off x="548640" y="4754880"/>
            <a:ext cx="11064240" cy="1481328"/>
          </a:xfrm>
          <a:prstGeom prst="roundRect">
            <a:avLst>
              <a:gd name="adj" fmla="val 3704"/>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4" name="Text 11"/>
          <p:cNvSpPr/>
          <p:nvPr/>
        </p:nvSpPr>
        <p:spPr>
          <a:xfrm>
            <a:off x="868680" y="4937760"/>
            <a:ext cx="10424160" cy="301752"/>
          </a:xfrm>
          <a:prstGeom prst="rect">
            <a:avLst/>
          </a:prstGeom>
          <a:noFill/>
          <a:ln/>
        </p:spPr>
        <p:txBody>
          <a:bodyPr wrap="square" lIns="0" tIns="0" rIns="0" bIns="0" rtlCol="0" anchor="ctr"/>
          <a:lstStyle/>
          <a:p>
            <a:pPr indent="0" marL="0">
              <a:buNone/>
            </a:pPr>
            <a:r>
              <a:rPr lang="en-US" sz="1550" b="1" dirty="0">
                <a:solidFill>
                  <a:srgbClr val="12212B"/>
                </a:solidFill>
                <a:latin typeface="Calibri" pitchFamily="34" charset="0"/>
                <a:ea typeface="Calibri" pitchFamily="34" charset="-122"/>
                <a:cs typeface="Calibri" pitchFamily="34" charset="-120"/>
              </a:rPr>
              <a:t>Qué cambia esto estratégicamente</a:t>
            </a:r>
            <a:endParaRPr lang="en-US" sz="1550" dirty="0"/>
          </a:p>
        </p:txBody>
      </p:sp>
      <p:sp>
        <p:nvSpPr>
          <p:cNvPr id="15" name="Text 12"/>
          <p:cNvSpPr/>
          <p:nvPr/>
        </p:nvSpPr>
        <p:spPr>
          <a:xfrm>
            <a:off x="868680" y="5276088"/>
            <a:ext cx="10469880" cy="868680"/>
          </a:xfrm>
          <a:prstGeom prst="rect">
            <a:avLst/>
          </a:prstGeom>
          <a:noFill/>
          <a:ln/>
        </p:spPr>
        <p:txBody>
          <a:bodyPr wrap="square" lIns="0" tIns="0" rIns="0" bIns="0" rtlCol="0" anchor="ctr"/>
          <a:lstStyle/>
          <a:p>
            <a:pPr indent="0" marL="0">
              <a:lnSpc>
                <a:spcPts val="1700"/>
              </a:lnSpc>
              <a:buNone/>
            </a:pPr>
            <a:r>
              <a:rPr lang="en-US" sz="1250" dirty="0">
                <a:solidFill>
                  <a:srgbClr val="5A6670"/>
                </a:solidFill>
                <a:latin typeface="Calibri" pitchFamily="34" charset="0"/>
                <a:ea typeface="Calibri" pitchFamily="34" charset="-122"/>
                <a:cs typeface="Calibri" pitchFamily="34" charset="-120"/>
              </a:rPr>
              <a:t>Que el equilibrio esté en la mitad del inventario le da al proyecto algo que antes no tenía: margen para bajar precio y acelerar. Si a mitad de camino conviene liquidar los últimos 30 sitios a 3,2 UF/m² para cerrar el ciclo y liberar capital hacia la etapa comercial, el negocio lo resiste sin problemas. Esa opcionalidad vale más que los dos o tres puntos de margen que se sacrifican.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07 · PLAZO DE PAGO DEL TERRENO</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Los 5 años corren desde el permiso</a:t>
            </a:r>
            <a:endParaRPr lang="en-US" sz="3100" dirty="0"/>
          </a:p>
        </p:txBody>
      </p:sp>
      <p:sp>
        <p:nvSpPr>
          <p:cNvPr id="4" name="Text 2"/>
          <p:cNvSpPr/>
          <p:nvPr/>
        </p:nvSpPr>
        <p:spPr>
          <a:xfrm>
            <a:off x="566928" y="1371600"/>
            <a:ext cx="11018520" cy="320040"/>
          </a:xfrm>
          <a:prstGeom prst="rect">
            <a:avLst/>
          </a:prstGeom>
          <a:noFill/>
          <a:ln/>
        </p:spPr>
        <p:txBody>
          <a:bodyPr wrap="square" lIns="0" tIns="0" rIns="0" bIns="0" rtlCol="0" anchor="ctr"/>
          <a:lstStyle/>
          <a:p>
            <a:pPr indent="0" marL="0">
              <a:buNone/>
            </a:pPr>
            <a:r>
              <a:rPr lang="en-US" sz="1350" dirty="0">
                <a:solidFill>
                  <a:srgbClr val="5A6670"/>
                </a:solidFill>
                <a:latin typeface="Calibri" pitchFamily="34" charset="0"/>
                <a:ea typeface="Calibri" pitchFamily="34" charset="-122"/>
                <a:cs typeface="Calibri" pitchFamily="34" charset="-120"/>
              </a:rPr>
              <a:t>Con un año para tramitar el permiso, el vencimiento real cae en el año 6 del proyecto. Eso vale, en la práctica, un año completo de ventas.</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3291840"/>
                <a:gridCol w="2103120"/>
                <a:gridCol w="2011680"/>
                <a:gridCol w="2103120"/>
                <a:gridCol w="155448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Ritmo de venta</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Vendidos al vencer (año 6)</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Ingresos acumulados</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de cada venta necesario</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Saldo al vencer</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0,8 al mes  ·  10 al año</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271.360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B07D2B"/>
                          </a:solidFill>
                          <a:latin typeface="Calibri" pitchFamily="34" charset="0"/>
                          <a:ea typeface="Calibri" pitchFamily="34" charset="-122"/>
                          <a:cs typeface="Calibri" pitchFamily="34" charset="-120"/>
                        </a:rPr>
                        <a:t>14.024</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1,0 al mes  ·  12 al año</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325.632</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3E6B4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1,2 al mes  ·  15 al año  (base)</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407.040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3E6B4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2212B"/>
                          </a:solidFill>
                          <a:latin typeface="Calibri" pitchFamily="34" charset="0"/>
                          <a:ea typeface="Calibri" pitchFamily="34" charset="-122"/>
                          <a:cs typeface="Calibri" pitchFamily="34" charset="-120"/>
                        </a:rPr>
                        <a:t>2,0 al mes  ·  24 al año</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477.366</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2B"/>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3E6B4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069080"/>
            <a:ext cx="5394960" cy="2286000"/>
          </a:xfrm>
          <a:prstGeom prst="roundRect">
            <a:avLst>
              <a:gd name="adj" fmla="val 2400"/>
            </a:avLst>
          </a:prstGeom>
          <a:solidFill>
            <a:srgbClr val="E4EBE2"/>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7" name="Text 4"/>
          <p:cNvSpPr/>
          <p:nvPr/>
        </p:nvSpPr>
        <p:spPr>
          <a:xfrm>
            <a:off x="841248" y="4251960"/>
            <a:ext cx="4846320" cy="256032"/>
          </a:xfrm>
          <a:prstGeom prst="rect">
            <a:avLst/>
          </a:prstGeom>
          <a:noFill/>
          <a:ln/>
        </p:spPr>
        <p:txBody>
          <a:bodyPr wrap="square" lIns="0" tIns="0" rIns="0" bIns="0" rtlCol="0" anchor="ctr"/>
          <a:lstStyle/>
          <a:p>
            <a:pPr indent="0" marL="0">
              <a:buNone/>
            </a:pPr>
            <a:r>
              <a:rPr lang="en-US" sz="950" b="1" spc="140" kern="0" dirty="0">
                <a:solidFill>
                  <a:srgbClr val="3E6B4A"/>
                </a:solidFill>
                <a:latin typeface="Calibri" pitchFamily="34" charset="0"/>
                <a:ea typeface="Calibri" pitchFamily="34" charset="-122"/>
                <a:cs typeface="Calibri" pitchFamily="34" charset="-120"/>
              </a:rPr>
              <a:t>EL PLAZO DEJÓ DE SER UN PROBLEMA</a:t>
            </a:r>
            <a:endParaRPr lang="en-US" sz="950" dirty="0"/>
          </a:p>
        </p:txBody>
      </p:sp>
      <p:sp>
        <p:nvSpPr>
          <p:cNvPr id="8" name="Text 5"/>
          <p:cNvSpPr/>
          <p:nvPr/>
        </p:nvSpPr>
        <p:spPr>
          <a:xfrm>
            <a:off x="841248" y="4553712"/>
            <a:ext cx="4892040" cy="1691640"/>
          </a:xfrm>
          <a:prstGeom prst="rect">
            <a:avLst/>
          </a:prstGeom>
          <a:noFill/>
          <a:ln/>
        </p:spPr>
        <p:txBody>
          <a:bodyPr wrap="square" lIns="0" tIns="0" rIns="0" bIns="0" rtlCol="0" anchor="ctr"/>
          <a:lstStyle/>
          <a:p>
            <a:pPr indent="0" marL="0">
              <a:lnSpc>
                <a:spcPts val="1800"/>
              </a:lnSpc>
              <a:buNone/>
            </a:pPr>
            <a:r>
              <a:rPr lang="en-US" sz="1250" dirty="0">
                <a:solidFill>
                  <a:srgbClr val="5A6670"/>
                </a:solidFill>
                <a:latin typeface="Calibri" pitchFamily="34" charset="0"/>
                <a:ea typeface="Calibri" pitchFamily="34" charset="-122"/>
                <a:cs typeface="Calibri" pitchFamily="34" charset="-120"/>
              </a:rPr>
              <a:t>Desde 1 sitio al mes el terreno queda pagado dentro del plazo destinando el 30–33% de cada escritura, sin saldo final. Sólo a 0,8 al mes aparecen 14.000 UF, cubribles con caja propia.</a:t>
            </a:r>
            <a:endParaRPr lang="en-US" sz="1250" dirty="0"/>
          </a:p>
          <a:p>
            <a:pPr indent="0" marL="0">
              <a:lnSpc>
                <a:spcPts val="1800"/>
              </a:lnSpc>
              <a:buNone/>
            </a:pPr>
            <a:endParaRPr lang="en-US" sz="1250" dirty="0"/>
          </a:p>
          <a:p>
            <a:pPr indent="0" marL="0">
              <a:lnSpc>
                <a:spcPts val="1800"/>
              </a:lnSpc>
              <a:buNone/>
            </a:pPr>
            <a:r>
              <a:rPr lang="en-US" sz="1250" dirty="0">
                <a:solidFill>
                  <a:srgbClr val="5A6670"/>
                </a:solidFill>
                <a:latin typeface="Calibri" pitchFamily="34" charset="0"/>
                <a:ea typeface="Calibri" pitchFamily="34" charset="-122"/>
                <a:cs typeface="Calibri" pitchFamily="34" charset="-120"/>
              </a:rPr>
              <a:t>En la revisión anterior, con el plazo corriendo desde la escritura, ese saldo era de 43.000 UF y caía en el peor momento.</a:t>
            </a:r>
            <a:endParaRPr lang="en-US" sz="1250" dirty="0"/>
          </a:p>
        </p:txBody>
      </p:sp>
      <p:sp>
        <p:nvSpPr>
          <p:cNvPr id="9" name="Shape 6"/>
          <p:cNvSpPr/>
          <p:nvPr/>
        </p:nvSpPr>
        <p:spPr>
          <a:xfrm>
            <a:off x="6263640" y="4069080"/>
            <a:ext cx="5349240" cy="2286000"/>
          </a:xfrm>
          <a:prstGeom prst="roundRect">
            <a:avLst>
              <a:gd name="adj" fmla="val 24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0" name="Text 7"/>
          <p:cNvSpPr/>
          <p:nvPr/>
        </p:nvSpPr>
        <p:spPr>
          <a:xfrm>
            <a:off x="6556248" y="4251960"/>
            <a:ext cx="4754880" cy="256032"/>
          </a:xfrm>
          <a:prstGeom prst="rect">
            <a:avLst/>
          </a:prstGeom>
          <a:noFill/>
          <a:ln/>
        </p:spPr>
        <p:txBody>
          <a:bodyPr wrap="square" lIns="0" tIns="0" rIns="0" bIns="0" rtlCol="0" anchor="ctr"/>
          <a:lstStyle/>
          <a:p>
            <a:pPr indent="0" marL="0">
              <a:buNone/>
            </a:pPr>
            <a:r>
              <a:rPr lang="en-US" sz="950" b="1" spc="140" kern="0" dirty="0">
                <a:solidFill>
                  <a:srgbClr val="2C5D7C"/>
                </a:solidFill>
                <a:latin typeface="Calibri" pitchFamily="34" charset="0"/>
                <a:ea typeface="Calibri" pitchFamily="34" charset="-122"/>
                <a:cs typeface="Calibri" pitchFamily="34" charset="-120"/>
              </a:rPr>
              <a:t>LO QUE HAY QUE DEJAR ESCRITO</a:t>
            </a:r>
            <a:endParaRPr lang="en-US" sz="950" dirty="0"/>
          </a:p>
        </p:txBody>
      </p:sp>
      <p:sp>
        <p:nvSpPr>
          <p:cNvPr id="11" name="Text 8"/>
          <p:cNvSpPr/>
          <p:nvPr/>
        </p:nvSpPr>
        <p:spPr>
          <a:xfrm>
            <a:off x="6556248" y="4553712"/>
            <a:ext cx="4846320" cy="16916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A6670"/>
                </a:solidFill>
                <a:latin typeface="Calibri" pitchFamily="34" charset="0"/>
                <a:ea typeface="Calibri" pitchFamily="34" charset="-122"/>
                <a:cs typeface="Calibri" pitchFamily="34" charset="-120"/>
              </a:rPr>
              <a:t>«Cinco años contados desde la aprobación del permiso de loteo», con esa redacción exacta.</a:t>
            </a:r>
            <a:endParaRPr lang="en-US" sz="1200" dirty="0"/>
          </a:p>
          <a:p>
            <a:pPr marL="342900" indent="-342900">
              <a:spcAft>
                <a:spcPts val="800"/>
              </a:spcAft>
              <a:buSzPct val="100000"/>
              <a:buChar char="•"/>
            </a:pPr>
            <a:r>
              <a:rPr lang="en-US" sz="1200" dirty="0">
                <a:solidFill>
                  <a:srgbClr val="5A6670"/>
                </a:solidFill>
                <a:latin typeface="Calibri" pitchFamily="34" charset="0"/>
                <a:ea typeface="Calibri" pitchFamily="34" charset="-122"/>
                <a:cs typeface="Calibri" pitchFamily="34" charset="-120"/>
              </a:rPr>
              <a:t>Prórroga automática de 24 meses si la tramitación excede el año pactado.</a:t>
            </a:r>
            <a:endParaRPr lang="en-US" sz="1200" dirty="0"/>
          </a:p>
          <a:p>
            <a:pPr marL="342900" indent="-342900">
              <a:spcAft>
                <a:spcPts val="800"/>
              </a:spcAft>
              <a:buSzPct val="100000"/>
              <a:buChar char="•"/>
            </a:pPr>
            <a:r>
              <a:rPr lang="en-US" sz="1200" dirty="0">
                <a:solidFill>
                  <a:srgbClr val="5A6670"/>
                </a:solidFill>
                <a:latin typeface="Calibri" pitchFamily="34" charset="0"/>
                <a:ea typeface="Calibri" pitchFamily="34" charset="-122"/>
                <a:cs typeface="Calibri" pitchFamily="34" charset="-120"/>
              </a:rPr>
              <a:t>30% de cada escritura al terreno, ≈1.500 UF por sitio.</a:t>
            </a:r>
            <a:endParaRPr lang="en-US" sz="1200" dirty="0"/>
          </a:p>
          <a:p>
            <a:pPr marL="342900" indent="-342900">
              <a:spcAft>
                <a:spcPts val="800"/>
              </a:spcAft>
              <a:buSzPct val="100000"/>
              <a:buChar char="•"/>
            </a:pPr>
            <a:r>
              <a:rPr lang="en-US" sz="1200" dirty="0">
                <a:solidFill>
                  <a:srgbClr val="5A6670"/>
                </a:solidFill>
                <a:latin typeface="Calibri" pitchFamily="34" charset="0"/>
                <a:ea typeface="Calibri" pitchFamily="34" charset="-122"/>
                <a:cs typeface="Calibri" pitchFamily="34" charset="-120"/>
              </a:rPr>
              <a:t>Hipoteca con alzamientos parciales tarifados, plazo de 10 días hábiles y multa.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08 · NEGOCIACIÓN Y ESTRUCTURA DE CAPITAL</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Condiciones a exigir y capital a levantar</a:t>
            </a:r>
            <a:endParaRPr lang="en-US" sz="3100" dirty="0"/>
          </a:p>
        </p:txBody>
      </p:sp>
      <p:sp>
        <p:nvSpPr>
          <p:cNvPr id="4" name="Text 2"/>
          <p:cNvSpPr/>
          <p:nvPr/>
        </p:nvSpPr>
        <p:spPr>
          <a:xfrm>
            <a:off x="566928" y="1371600"/>
            <a:ext cx="5486400" cy="256032"/>
          </a:xfrm>
          <a:prstGeom prst="rect">
            <a:avLst/>
          </a:prstGeom>
          <a:noFill/>
          <a:ln/>
        </p:spPr>
        <p:txBody>
          <a:bodyPr wrap="square" lIns="0" tIns="0" rIns="0" bIns="0" rtlCol="0" anchor="ctr"/>
          <a:lstStyle/>
          <a:p>
            <a:pPr indent="0" marL="0">
              <a:buNone/>
            </a:pPr>
            <a:r>
              <a:rPr lang="en-US" sz="1000" b="1" spc="150" kern="0" dirty="0">
                <a:solidFill>
                  <a:srgbClr val="2C5D7C"/>
                </a:solidFill>
                <a:latin typeface="Calibri" pitchFamily="34" charset="0"/>
                <a:ea typeface="Calibri" pitchFamily="34" charset="-122"/>
                <a:cs typeface="Calibri" pitchFamily="34" charset="-120"/>
              </a:rPr>
              <a:t>QUÉ EXIGIR AL VENDEDOR</a:t>
            </a:r>
            <a:endParaRPr lang="en-US" sz="1000" dirty="0"/>
          </a:p>
        </p:txBody>
      </p:sp>
      <p:sp>
        <p:nvSpPr>
          <p:cNvPr id="5" name="Shape 3"/>
          <p:cNvSpPr/>
          <p:nvPr/>
        </p:nvSpPr>
        <p:spPr>
          <a:xfrm>
            <a:off x="548640" y="1691640"/>
            <a:ext cx="5486400" cy="3749040"/>
          </a:xfrm>
          <a:prstGeom prst="roundRect">
            <a:avLst>
              <a:gd name="adj" fmla="val 1463"/>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6" name="Text 4"/>
          <p:cNvSpPr/>
          <p:nvPr/>
        </p:nvSpPr>
        <p:spPr>
          <a:xfrm>
            <a:off x="868680" y="1874520"/>
            <a:ext cx="4892040" cy="342900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Condición suspensiva de permiso y factibilidad, con devolución íntegra del pie si en 18 meses no están.</a:t>
            </a:r>
            <a:endParaRPr lang="en-US" sz="1150" dirty="0"/>
          </a:p>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Prórroga automática de 24 meses por demora de tramitación.</a:t>
            </a:r>
            <a:endParaRPr lang="en-US" sz="1150" dirty="0"/>
          </a:p>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Servidumbres de canal saneadas antes de la compraventa, o retención de precio por el costo de la obra.</a:t>
            </a:r>
            <a:endParaRPr lang="en-US" sz="1150" dirty="0"/>
          </a:p>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Expropiación de los 1.843,70 m² por cuenta del vendedor.</a:t>
            </a:r>
            <a:endParaRPr lang="en-US" sz="1150" dirty="0"/>
          </a:p>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Alzamientos parciales tarifados, con monto por sitio, plazo y multa.</a:t>
            </a:r>
            <a:endParaRPr lang="en-US" sz="1150" dirty="0"/>
          </a:p>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Prepago sin multa y sin aceleración por metas de venta.</a:t>
            </a:r>
            <a:endParaRPr lang="en-US" sz="1150" dirty="0"/>
          </a:p>
          <a:p>
            <a:pPr marL="342900" indent="-342900">
              <a:lnSpc>
                <a:spcPts val="1500"/>
              </a:lnSpc>
              <a:spcAft>
                <a:spcPts val="600"/>
              </a:spcAft>
              <a:buSzPct val="100000"/>
              <a:buChar char="•"/>
            </a:pPr>
            <a:r>
              <a:rPr lang="en-US" sz="1150" dirty="0">
                <a:solidFill>
                  <a:srgbClr val="12212B"/>
                </a:solidFill>
                <a:latin typeface="Calibri" pitchFamily="34" charset="0"/>
                <a:ea typeface="Calibri" pitchFamily="34" charset="-122"/>
                <a:cs typeface="Calibri" pitchFamily="34" charset="-120"/>
              </a:rPr>
              <a:t>Derecho de primera oferta sobre paños colindantes del vendedor.</a:t>
            </a:r>
            <a:endParaRPr lang="en-US" sz="1150" dirty="0"/>
          </a:p>
        </p:txBody>
      </p:sp>
      <p:sp>
        <p:nvSpPr>
          <p:cNvPr id="7" name="Text 5"/>
          <p:cNvSpPr/>
          <p:nvPr/>
        </p:nvSpPr>
        <p:spPr>
          <a:xfrm>
            <a:off x="6281928" y="1371600"/>
            <a:ext cx="5486400" cy="256032"/>
          </a:xfrm>
          <a:prstGeom prst="rect">
            <a:avLst/>
          </a:prstGeom>
          <a:noFill/>
          <a:ln/>
        </p:spPr>
        <p:txBody>
          <a:bodyPr wrap="square" lIns="0" tIns="0" rIns="0" bIns="0" rtlCol="0" anchor="ctr"/>
          <a:lstStyle/>
          <a:p>
            <a:pPr indent="0" marL="0">
              <a:buNone/>
            </a:pPr>
            <a:r>
              <a:rPr lang="en-US" sz="1000" b="1" spc="150" kern="0" dirty="0">
                <a:solidFill>
                  <a:srgbClr val="2C5D7C"/>
                </a:solidFill>
                <a:latin typeface="Calibri" pitchFamily="34" charset="0"/>
                <a:ea typeface="Calibri" pitchFamily="34" charset="-122"/>
                <a:cs typeface="Calibri" pitchFamily="34" charset="-120"/>
              </a:rPr>
              <a:t>CUÁNTO CAPITAL SE NECESITA</a:t>
            </a:r>
            <a:endParaRPr lang="en-US" sz="1000" dirty="0"/>
          </a:p>
        </p:txBody>
      </p:sp>
      <p:sp>
        <p:nvSpPr>
          <p:cNvPr id="8" name="Shape 6"/>
          <p:cNvSpPr/>
          <p:nvPr/>
        </p:nvSpPr>
        <p:spPr>
          <a:xfrm>
            <a:off x="6263640" y="1691640"/>
            <a:ext cx="5349240" cy="731520"/>
          </a:xfrm>
          <a:prstGeom prst="roundRect">
            <a:avLst>
              <a:gd name="adj" fmla="val 75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9" name="Text 7"/>
          <p:cNvSpPr/>
          <p:nvPr/>
        </p:nvSpPr>
        <p:spPr>
          <a:xfrm>
            <a:off x="6556248" y="1874520"/>
            <a:ext cx="2377440" cy="365760"/>
          </a:xfrm>
          <a:prstGeom prst="rect">
            <a:avLst/>
          </a:prstGeom>
          <a:noFill/>
          <a:ln/>
        </p:spPr>
        <p:txBody>
          <a:bodyPr wrap="square" lIns="0" tIns="0" rIns="0" bIns="0" rtlCol="0" anchor="ctr"/>
          <a:lstStyle/>
          <a:p>
            <a:pPr indent="0" marL="0">
              <a:buNone/>
            </a:pPr>
            <a:r>
              <a:rPr lang="en-US" sz="1400" b="1" dirty="0">
                <a:solidFill>
                  <a:srgbClr val="5A6670"/>
                </a:solidFill>
                <a:latin typeface="Calibri" pitchFamily="34" charset="0"/>
                <a:ea typeface="Calibri" pitchFamily="34" charset="-122"/>
                <a:cs typeface="Calibri" pitchFamily="34" charset="-120"/>
              </a:rPr>
              <a:t>Conservador</a:t>
            </a:r>
            <a:endParaRPr lang="en-US" sz="1400" dirty="0"/>
          </a:p>
        </p:txBody>
      </p:sp>
      <p:sp>
        <p:nvSpPr>
          <p:cNvPr id="10" name="Text 8"/>
          <p:cNvSpPr/>
          <p:nvPr/>
        </p:nvSpPr>
        <p:spPr>
          <a:xfrm>
            <a:off x="8778240" y="1837944"/>
            <a:ext cx="2606040" cy="411480"/>
          </a:xfrm>
          <a:prstGeom prst="rect">
            <a:avLst/>
          </a:prstGeom>
          <a:noFill/>
          <a:ln/>
        </p:spPr>
        <p:txBody>
          <a:bodyPr wrap="square" lIns="0" tIns="0" rIns="0" bIns="0" rtlCol="0" anchor="ctr"/>
          <a:lstStyle/>
          <a:p>
            <a:pPr algn="r" indent="0" marL="0">
              <a:buNone/>
            </a:pPr>
            <a:r>
              <a:rPr lang="en-US" sz="2100" b="1" dirty="0">
                <a:solidFill>
                  <a:srgbClr val="B07D2B"/>
                </a:solidFill>
                <a:latin typeface="Calibri" pitchFamily="34" charset="0"/>
                <a:ea typeface="Calibri" pitchFamily="34" charset="-122"/>
                <a:cs typeface="Calibri" pitchFamily="34" charset="-120"/>
              </a:rPr>
              <a:t>80.500 UF</a:t>
            </a:r>
            <a:endParaRPr lang="en-US" sz="2100" dirty="0"/>
          </a:p>
        </p:txBody>
      </p:sp>
      <p:sp>
        <p:nvSpPr>
          <p:cNvPr id="11" name="Shape 9"/>
          <p:cNvSpPr/>
          <p:nvPr/>
        </p:nvSpPr>
        <p:spPr>
          <a:xfrm>
            <a:off x="6263640" y="2560320"/>
            <a:ext cx="5349240" cy="731520"/>
          </a:xfrm>
          <a:prstGeom prst="roundRect">
            <a:avLst>
              <a:gd name="adj" fmla="val 75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2" name="Text 10"/>
          <p:cNvSpPr/>
          <p:nvPr/>
        </p:nvSpPr>
        <p:spPr>
          <a:xfrm>
            <a:off x="6556248" y="2743200"/>
            <a:ext cx="2377440" cy="365760"/>
          </a:xfrm>
          <a:prstGeom prst="rect">
            <a:avLst/>
          </a:prstGeom>
          <a:noFill/>
          <a:ln/>
        </p:spPr>
        <p:txBody>
          <a:bodyPr wrap="square" lIns="0" tIns="0" rIns="0" bIns="0" rtlCol="0" anchor="ctr"/>
          <a:lstStyle/>
          <a:p>
            <a:pPr indent="0" marL="0">
              <a:buNone/>
            </a:pPr>
            <a:r>
              <a:rPr lang="en-US" sz="1400" b="1" dirty="0">
                <a:solidFill>
                  <a:srgbClr val="5A6670"/>
                </a:solidFill>
                <a:latin typeface="Calibri" pitchFamily="34" charset="0"/>
                <a:ea typeface="Calibri" pitchFamily="34" charset="-122"/>
                <a:cs typeface="Calibri" pitchFamily="34" charset="-120"/>
              </a:rPr>
              <a:t>Base</a:t>
            </a:r>
            <a:endParaRPr lang="en-US" sz="1400" dirty="0"/>
          </a:p>
        </p:txBody>
      </p:sp>
      <p:sp>
        <p:nvSpPr>
          <p:cNvPr id="13" name="Text 11"/>
          <p:cNvSpPr/>
          <p:nvPr/>
        </p:nvSpPr>
        <p:spPr>
          <a:xfrm>
            <a:off x="8778240" y="2706624"/>
            <a:ext cx="2606040" cy="411480"/>
          </a:xfrm>
          <a:prstGeom prst="rect">
            <a:avLst/>
          </a:prstGeom>
          <a:noFill/>
          <a:ln/>
        </p:spPr>
        <p:txBody>
          <a:bodyPr wrap="square" lIns="0" tIns="0" rIns="0" bIns="0" rtlCol="0" anchor="ctr"/>
          <a:lstStyle/>
          <a:p>
            <a:pPr algn="r" indent="0" marL="0">
              <a:buNone/>
            </a:pPr>
            <a:r>
              <a:rPr lang="en-US" sz="2100" b="1" dirty="0">
                <a:solidFill>
                  <a:srgbClr val="2C5D7C"/>
                </a:solidFill>
                <a:latin typeface="Calibri" pitchFamily="34" charset="0"/>
                <a:ea typeface="Calibri" pitchFamily="34" charset="-122"/>
                <a:cs typeface="Calibri" pitchFamily="34" charset="-120"/>
              </a:rPr>
              <a:t>67.000 UF</a:t>
            </a:r>
            <a:endParaRPr lang="en-US" sz="2100" dirty="0"/>
          </a:p>
        </p:txBody>
      </p:sp>
      <p:sp>
        <p:nvSpPr>
          <p:cNvPr id="14" name="Shape 12"/>
          <p:cNvSpPr/>
          <p:nvPr/>
        </p:nvSpPr>
        <p:spPr>
          <a:xfrm>
            <a:off x="6263640" y="3429000"/>
            <a:ext cx="5349240" cy="731520"/>
          </a:xfrm>
          <a:prstGeom prst="roundRect">
            <a:avLst>
              <a:gd name="adj" fmla="val 7500"/>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5" name="Text 13"/>
          <p:cNvSpPr/>
          <p:nvPr/>
        </p:nvSpPr>
        <p:spPr>
          <a:xfrm>
            <a:off x="6556248" y="3611880"/>
            <a:ext cx="2377440" cy="365760"/>
          </a:xfrm>
          <a:prstGeom prst="rect">
            <a:avLst/>
          </a:prstGeom>
          <a:noFill/>
          <a:ln/>
        </p:spPr>
        <p:txBody>
          <a:bodyPr wrap="square" lIns="0" tIns="0" rIns="0" bIns="0" rtlCol="0" anchor="ctr"/>
          <a:lstStyle/>
          <a:p>
            <a:pPr indent="0" marL="0">
              <a:buNone/>
            </a:pPr>
            <a:r>
              <a:rPr lang="en-US" sz="1400" b="1" dirty="0">
                <a:solidFill>
                  <a:srgbClr val="5A6670"/>
                </a:solidFill>
                <a:latin typeface="Calibri" pitchFamily="34" charset="0"/>
                <a:ea typeface="Calibri" pitchFamily="34" charset="-122"/>
                <a:cs typeface="Calibri" pitchFamily="34" charset="-120"/>
              </a:rPr>
              <a:t>Optimista</a:t>
            </a:r>
            <a:endParaRPr lang="en-US" sz="1400" dirty="0"/>
          </a:p>
        </p:txBody>
      </p:sp>
      <p:sp>
        <p:nvSpPr>
          <p:cNvPr id="16" name="Text 14"/>
          <p:cNvSpPr/>
          <p:nvPr/>
        </p:nvSpPr>
        <p:spPr>
          <a:xfrm>
            <a:off x="8778240" y="3575304"/>
            <a:ext cx="2606040" cy="411480"/>
          </a:xfrm>
          <a:prstGeom prst="rect">
            <a:avLst/>
          </a:prstGeom>
          <a:noFill/>
          <a:ln/>
        </p:spPr>
        <p:txBody>
          <a:bodyPr wrap="square" lIns="0" tIns="0" rIns="0" bIns="0" rtlCol="0" anchor="ctr"/>
          <a:lstStyle/>
          <a:p>
            <a:pPr algn="r" indent="0" marL="0">
              <a:buNone/>
            </a:pPr>
            <a:r>
              <a:rPr lang="en-US" sz="2100" b="1" dirty="0">
                <a:solidFill>
                  <a:srgbClr val="3E6B4A"/>
                </a:solidFill>
                <a:latin typeface="Calibri" pitchFamily="34" charset="0"/>
                <a:ea typeface="Calibri" pitchFamily="34" charset="-122"/>
                <a:cs typeface="Calibri" pitchFamily="34" charset="-120"/>
              </a:rPr>
              <a:t>52.250 UF</a:t>
            </a:r>
            <a:endParaRPr lang="en-US" sz="2100" dirty="0"/>
          </a:p>
        </p:txBody>
      </p:sp>
      <p:sp>
        <p:nvSpPr>
          <p:cNvPr id="17" name="Shape 15"/>
          <p:cNvSpPr/>
          <p:nvPr/>
        </p:nvSpPr>
        <p:spPr>
          <a:xfrm>
            <a:off x="6263640" y="4297680"/>
            <a:ext cx="5349240" cy="1097280"/>
          </a:xfrm>
          <a:prstGeom prst="roundRect">
            <a:avLst>
              <a:gd name="adj" fmla="val 5000"/>
            </a:avLst>
          </a:prstGeom>
          <a:solidFill>
            <a:srgbClr val="E4EBE2"/>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8" name="Text 16"/>
          <p:cNvSpPr/>
          <p:nvPr/>
        </p:nvSpPr>
        <p:spPr>
          <a:xfrm>
            <a:off x="6556248" y="4462272"/>
            <a:ext cx="4846320" cy="822960"/>
          </a:xfrm>
          <a:prstGeom prst="rect">
            <a:avLst/>
          </a:prstGeom>
          <a:noFill/>
          <a:ln/>
        </p:spPr>
        <p:txBody>
          <a:bodyPr wrap="square" lIns="0" tIns="0" rIns="0" bIns="0" rtlCol="0" anchor="ctr"/>
          <a:lstStyle/>
          <a:p>
            <a:pPr indent="0" marL="0">
              <a:lnSpc>
                <a:spcPts val="1700"/>
              </a:lnSpc>
              <a:buNone/>
            </a:pPr>
            <a:r>
              <a:rPr lang="en-US" sz="1250" dirty="0">
                <a:solidFill>
                  <a:srgbClr val="5A6670"/>
                </a:solidFill>
                <a:latin typeface="Calibri" pitchFamily="34" charset="0"/>
                <a:ea typeface="Calibri" pitchFamily="34" charset="-122"/>
                <a:cs typeface="Calibri" pitchFamily="34" charset="-120"/>
              </a:rPr>
              <a:t>Con pie de 10.000 UF, urbanización por macro-etapas de 23 sitios y promesas con 20% anticipado, el peak del escenario base baja a cerca de 45.000 UF.</a:t>
            </a:r>
            <a:endParaRPr lang="en-US" sz="1250" dirty="0"/>
          </a:p>
        </p:txBody>
      </p:sp>
      <p:sp>
        <p:nvSpPr>
          <p:cNvPr id="19" name="Shape 17"/>
          <p:cNvSpPr/>
          <p:nvPr/>
        </p:nvSpPr>
        <p:spPr>
          <a:xfrm>
            <a:off x="548640" y="5532120"/>
            <a:ext cx="11064240" cy="822960"/>
          </a:xfrm>
          <a:prstGeom prst="roundRect">
            <a:avLst>
              <a:gd name="adj" fmla="val 6667"/>
            </a:avLst>
          </a:prstGeom>
          <a:solidFill>
            <a:srgbClr val="12212B"/>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20" name="Text 18"/>
          <p:cNvSpPr/>
          <p:nvPr/>
        </p:nvSpPr>
        <p:spPr>
          <a:xfrm>
            <a:off x="868680" y="5687568"/>
            <a:ext cx="10424160" cy="54864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Recomendación:  </a:t>
            </a:r>
            <a:pPr indent="0" marL="0">
              <a:lnSpc>
                <a:spcPts val="1800"/>
              </a:lnSpc>
              <a:buNone/>
            </a:pPr>
            <a:r>
              <a:rPr lang="en-US" sz="1300" dirty="0">
                <a:solidFill>
                  <a:srgbClr val="A9B4BC"/>
                </a:solidFill>
                <a:latin typeface="Calibri" pitchFamily="34" charset="0"/>
                <a:ea typeface="Calibri" pitchFamily="34" charset="-122"/>
                <a:cs typeface="Calibri" pitchFamily="34" charset="-120"/>
              </a:rPr>
              <a:t>levantar 95.000 UF — 60.000 de capital propio o de socios y 35.000 como línea de urbanización con garantía sobre macrolotes no vendidos. Sobredimensionar aquí es barato; quedarse corto en el año 1, no.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09 · ETAPA 2</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El centro comercial es chico — y trae pádel</a:t>
            </a:r>
            <a:endParaRPr lang="en-US" sz="3100" dirty="0"/>
          </a:p>
        </p:txBody>
      </p:sp>
      <p:sp>
        <p:nvSpPr>
          <p:cNvPr id="4" name="Text 2"/>
          <p:cNvSpPr/>
          <p:nvPr/>
        </p:nvSpPr>
        <p:spPr>
          <a:xfrm>
            <a:off x="566928" y="1371600"/>
            <a:ext cx="11018520" cy="548640"/>
          </a:xfrm>
          <a:prstGeom prst="rect">
            <a:avLst/>
          </a:prstGeom>
          <a:noFill/>
          <a:ln/>
        </p:spPr>
        <p:txBody>
          <a:bodyPr wrap="square" lIns="0" tIns="0" rIns="0" bIns="0" rtlCol="0" anchor="ctr"/>
          <a:lstStyle/>
          <a:p>
            <a:pPr indent="0" marL="0">
              <a:lnSpc>
                <a:spcPts val="1900"/>
              </a:lnSpc>
              <a:buNone/>
            </a:pPr>
            <a:r>
              <a:rPr lang="en-US" sz="1350" dirty="0">
                <a:solidFill>
                  <a:srgbClr val="5A6670"/>
                </a:solidFill>
                <a:latin typeface="Calibri" pitchFamily="34" charset="0"/>
                <a:ea typeface="Calibri" pitchFamily="34" charset="-122"/>
                <a:cs typeface="Calibri" pitchFamily="34" charset="-120"/>
              </a:rPr>
              <a:t>La lámina L_05 muestra el proyecto real: 729,7 m² construidos, de los cuales 619,2 son arrendables. Ocho locales de 38,4 m², dos restaurantes de 156 m², cuatro canchas de pádel y el control de acceso del loteo.</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6766560" cy="914400"/>
        </p:xfrm>
        <a:graphic>
          <a:graphicData uri="http://schemas.openxmlformats.org/drawingml/2006/table">
            <a:tbl>
              <a:tblPr/>
              <a:tblGrid>
                <a:gridCol w="2926080"/>
                <a:gridCol w="1280160"/>
                <a:gridCol w="1280160"/>
                <a:gridCol w="1280160"/>
              </a:tblGrid>
              <a:tr h="33832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Centro comercial y pádel</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Conservador</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Optimista</a:t>
                      </a:r>
                      <a:endParaRPr lang="en-US" sz="110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2C5D7C"/>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Renta bruta anual (UF)</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2.078</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2.598</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3.117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NOI locales + pádel (UF)</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2.054</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3.003</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3.956</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Inversión con terreno asignado (UF)</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33.082</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29.974</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28.069</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Yield on cost</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14,1%</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Valor estabilizado (UF)</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21.626</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35.331</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2212B"/>
                          </a:solidFill>
                          <a:latin typeface="Calibri" pitchFamily="34" charset="0"/>
                          <a:ea typeface="Calibri" pitchFamily="34" charset="-122"/>
                          <a:cs typeface="Calibri" pitchFamily="34" charset="-120"/>
                        </a:rPr>
                        <a:t>52.748</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2212B"/>
                          </a:solidFill>
                          <a:latin typeface="Calibri" pitchFamily="34" charset="0"/>
                          <a:ea typeface="Calibri" pitchFamily="34" charset="-122"/>
                          <a:cs typeface="Calibri" pitchFamily="34" charset="-120"/>
                        </a:rPr>
                        <a:t>Creación de valor (UF)</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9C3B2E"/>
                          </a:solidFill>
                          <a:latin typeface="Calibri" pitchFamily="34" charset="0"/>
                          <a:ea typeface="Calibri" pitchFamily="34" charset="-122"/>
                          <a:cs typeface="Calibri" pitchFamily="34" charset="-120"/>
                        </a:rPr>
                        <a:t>−11.456</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3E6B4A"/>
                          </a:solidFill>
                          <a:latin typeface="Calibri" pitchFamily="34" charset="0"/>
                          <a:ea typeface="Calibri" pitchFamily="34" charset="-122"/>
                          <a:cs typeface="Calibri" pitchFamily="34" charset="-120"/>
                        </a:rPr>
                        <a:t>+5.357</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3E6B4A"/>
                          </a:solidFill>
                          <a:latin typeface="Calibri" pitchFamily="34" charset="0"/>
                          <a:ea typeface="Calibri" pitchFamily="34" charset="-122"/>
                          <a:cs typeface="Calibri" pitchFamily="34" charset="-120"/>
                        </a:rPr>
                        <a:t>+24.679</a:t>
                      </a:r>
                      <a:endParaRPr lang="en-US" sz="1150" dirty="0">
                        <a:latin typeface="Calibri" charset="0"/>
                        <a:ea typeface="Calibri" charset="0"/>
                        <a:cs typeface="Calibri" charset="0"/>
                      </a:endParaRPr>
                    </a:p>
                  </a:txBody>
                  <a:tcPr marL="91440" marR="91440" marT="45720" marB="45720" anchor="ctr">
                    <a:lnL w="6350" cap="flat" cmpd="sng" algn="ctr">
                      <a:solidFill>
                        <a:srgbClr val="DCE0D8"/>
                      </a:solidFill>
                      <a:prstDash val="solid"/>
                      <a:round/>
                      <a:headEnd type="none" w="med" len="med"/>
                      <a:tailEnd type="none" w="med" len="med"/>
                    </a:lnL>
                    <a:lnR w="6350" cap="flat" cmpd="sng" algn="ctr">
                      <a:solidFill>
                        <a:srgbClr val="DCE0D8"/>
                      </a:solidFill>
                      <a:prstDash val="solid"/>
                      <a:round/>
                      <a:headEnd type="none" w="med" len="med"/>
                      <a:tailEnd type="none" w="med" len="med"/>
                    </a:lnR>
                    <a:lnT w="6350" cap="flat" cmpd="sng" algn="ctr">
                      <a:solidFill>
                        <a:srgbClr val="DCE0D8"/>
                      </a:solidFill>
                      <a:prstDash val="solid"/>
                      <a:round/>
                      <a:headEnd type="none" w="med" len="med"/>
                      <a:tailEnd type="none" w="med" len="med"/>
                    </a:lnT>
                    <a:lnB w="6350" cap="flat" cmpd="sng" algn="ctr">
                      <a:solidFill>
                        <a:srgbClr val="DCE0D8"/>
                      </a:solidFill>
                      <a:prstDash val="solid"/>
                      <a:round/>
                      <a:headEnd type="none" w="med" len="med"/>
                      <a:tailEnd type="none" w="med" len="med"/>
                    </a:lnB>
                    <a:solidFill>
                      <a:srgbClr val="FFFFFF"/>
                    </a:solidFill>
                  </a:tcPr>
                </a:tc>
              </a:tr>
            </a:tbl>
          </a:graphicData>
        </a:graphic>
      </p:graphicFrame>
      <p:sp>
        <p:nvSpPr>
          <p:cNvPr id="6" name="Shape 3"/>
          <p:cNvSpPr/>
          <p:nvPr/>
        </p:nvSpPr>
        <p:spPr>
          <a:xfrm>
            <a:off x="7543800" y="2057400"/>
            <a:ext cx="4069080" cy="1600200"/>
          </a:xfrm>
          <a:prstGeom prst="roundRect">
            <a:avLst>
              <a:gd name="adj" fmla="val 3429"/>
            </a:avLst>
          </a:prstGeom>
          <a:solidFill>
            <a:srgbClr val="F6E9DC"/>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7" name="Text 4"/>
          <p:cNvSpPr/>
          <p:nvPr/>
        </p:nvSpPr>
        <p:spPr>
          <a:xfrm>
            <a:off x="7818120" y="2212848"/>
            <a:ext cx="3566160" cy="256032"/>
          </a:xfrm>
          <a:prstGeom prst="rect">
            <a:avLst/>
          </a:prstGeom>
          <a:noFill/>
          <a:ln/>
        </p:spPr>
        <p:txBody>
          <a:bodyPr wrap="square" lIns="0" tIns="0" rIns="0" bIns="0" rtlCol="0" anchor="ctr"/>
          <a:lstStyle/>
          <a:p>
            <a:pPr indent="0" marL="0">
              <a:buNone/>
            </a:pPr>
            <a:r>
              <a:rPr lang="en-US" sz="900" b="1" spc="120" kern="0" dirty="0">
                <a:solidFill>
                  <a:srgbClr val="B07D2B"/>
                </a:solidFill>
                <a:latin typeface="Calibri" pitchFamily="34" charset="0"/>
                <a:ea typeface="Calibri" pitchFamily="34" charset="-122"/>
                <a:cs typeface="Calibri" pitchFamily="34" charset="-120"/>
              </a:rPr>
              <a:t>SU JUSTIFICACIÓN NO ES FINANCIERA</a:t>
            </a:r>
            <a:endParaRPr lang="en-US" sz="900" dirty="0"/>
          </a:p>
        </p:txBody>
      </p:sp>
      <p:sp>
        <p:nvSpPr>
          <p:cNvPr id="8" name="Text 5"/>
          <p:cNvSpPr/>
          <p:nvPr/>
        </p:nvSpPr>
        <p:spPr>
          <a:xfrm>
            <a:off x="7818120" y="2487168"/>
            <a:ext cx="3566160" cy="1051560"/>
          </a:xfrm>
          <a:prstGeom prst="rect">
            <a:avLst/>
          </a:prstGeom>
          <a:noFill/>
          <a:ln/>
        </p:spPr>
        <p:txBody>
          <a:bodyPr wrap="square" lIns="0" tIns="0" rIns="0" bIns="0" rtlCol="0" anchor="ctr"/>
          <a:lstStyle/>
          <a:p>
            <a:pPr indent="0" marL="0">
              <a:lnSpc>
                <a:spcPts val="1700"/>
              </a:lnSpc>
              <a:buNone/>
            </a:pPr>
            <a:r>
              <a:rPr lang="en-US" sz="1200" dirty="0">
                <a:solidFill>
                  <a:srgbClr val="5A6670"/>
                </a:solidFill>
                <a:latin typeface="Calibri" pitchFamily="34" charset="0"/>
                <a:ea typeface="Calibri" pitchFamily="34" charset="-122"/>
                <a:cs typeface="Calibri" pitchFamily="34" charset="-120"/>
              </a:rPr>
              <a:t>Crea apenas 5.357 UF en escenario base. Se construye porque es lo que permite vender el sitio 60 al mismo precio que el sitio 20, no porque sea buen activo por sí solo.</a:t>
            </a:r>
            <a:endParaRPr lang="en-US" sz="1200" dirty="0"/>
          </a:p>
        </p:txBody>
      </p:sp>
      <p:sp>
        <p:nvSpPr>
          <p:cNvPr id="9" name="Shape 6"/>
          <p:cNvSpPr/>
          <p:nvPr/>
        </p:nvSpPr>
        <p:spPr>
          <a:xfrm>
            <a:off x="7543800" y="3794760"/>
            <a:ext cx="4069080" cy="1508760"/>
          </a:xfrm>
          <a:prstGeom prst="roundRect">
            <a:avLst>
              <a:gd name="adj" fmla="val 3636"/>
            </a:avLst>
          </a:prstGeom>
          <a:solidFill>
            <a:srgbClr val="E4EBE2"/>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0" name="Text 7"/>
          <p:cNvSpPr/>
          <p:nvPr/>
        </p:nvSpPr>
        <p:spPr>
          <a:xfrm>
            <a:off x="7818120" y="3950208"/>
            <a:ext cx="3566160" cy="256032"/>
          </a:xfrm>
          <a:prstGeom prst="rect">
            <a:avLst/>
          </a:prstGeom>
          <a:noFill/>
          <a:ln/>
        </p:spPr>
        <p:txBody>
          <a:bodyPr wrap="square" lIns="0" tIns="0" rIns="0" bIns="0" rtlCol="0" anchor="ctr"/>
          <a:lstStyle/>
          <a:p>
            <a:pPr indent="0" marL="0">
              <a:buNone/>
            </a:pPr>
            <a:r>
              <a:rPr lang="en-US" sz="900" b="1" spc="120" kern="0" dirty="0">
                <a:solidFill>
                  <a:srgbClr val="3E6B4A"/>
                </a:solidFill>
                <a:latin typeface="Calibri" pitchFamily="34" charset="0"/>
                <a:ea typeface="Calibri" pitchFamily="34" charset="-122"/>
                <a:cs typeface="Calibri" pitchFamily="34" charset="-120"/>
              </a:rPr>
              <a:t>EL PÁDEL MERECE ATENCIÓN PROPIA</a:t>
            </a:r>
            <a:endParaRPr lang="en-US" sz="900" dirty="0"/>
          </a:p>
        </p:txBody>
      </p:sp>
      <p:sp>
        <p:nvSpPr>
          <p:cNvPr id="11" name="Text 8"/>
          <p:cNvSpPr/>
          <p:nvPr/>
        </p:nvSpPr>
        <p:spPr>
          <a:xfrm>
            <a:off x="7818120" y="4224528"/>
            <a:ext cx="3566160" cy="960120"/>
          </a:xfrm>
          <a:prstGeom prst="rect">
            <a:avLst/>
          </a:prstGeom>
          <a:noFill/>
          <a:ln/>
        </p:spPr>
        <p:txBody>
          <a:bodyPr wrap="square" lIns="0" tIns="0" rIns="0" bIns="0" rtlCol="0" anchor="ctr"/>
          <a:lstStyle/>
          <a:p>
            <a:pPr indent="0" marL="0">
              <a:lnSpc>
                <a:spcPts val="1700"/>
              </a:lnSpc>
              <a:buNone/>
            </a:pPr>
            <a:r>
              <a:rPr lang="en-US" sz="1200" dirty="0">
                <a:solidFill>
                  <a:srgbClr val="5A6670"/>
                </a:solidFill>
                <a:latin typeface="Calibri" pitchFamily="34" charset="0"/>
                <a:ea typeface="Calibri" pitchFamily="34" charset="-122"/>
                <a:cs typeface="Calibri" pitchFamily="34" charset="-120"/>
              </a:rPr>
              <a:t>Cuatro canchas aportan 500–1.350 UF netas al año sobre 3.500 UF de inversión. Arrendarlas a un operador, no operarlas.</a:t>
            </a:r>
            <a:endParaRPr lang="en-US" sz="1200" dirty="0"/>
          </a:p>
        </p:txBody>
      </p:sp>
      <p:sp>
        <p:nvSpPr>
          <p:cNvPr id="12" name="Shape 9"/>
          <p:cNvSpPr/>
          <p:nvPr/>
        </p:nvSpPr>
        <p:spPr>
          <a:xfrm>
            <a:off x="7543800" y="5486400"/>
            <a:ext cx="4069080" cy="868680"/>
          </a:xfrm>
          <a:prstGeom prst="roundRect">
            <a:avLst>
              <a:gd name="adj" fmla="val 6316"/>
            </a:avLst>
          </a:prstGeom>
          <a:solidFill>
            <a:srgbClr val="12212B"/>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3" name="Text 10"/>
          <p:cNvSpPr/>
          <p:nvPr/>
        </p:nvSpPr>
        <p:spPr>
          <a:xfrm>
            <a:off x="7818120" y="5632704"/>
            <a:ext cx="3611880" cy="594360"/>
          </a:xfrm>
          <a:prstGeom prst="rect">
            <a:avLst/>
          </a:prstGeom>
          <a:noFill/>
          <a:ln/>
        </p:spPr>
        <p:txBody>
          <a:bodyPr wrap="square" lIns="0" tIns="0" rIns="0" bIns="0" rtlCol="0" anchor="t"/>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619,2 m² arrendables</a:t>
            </a:r>
            <a:endParaRPr lang="en-US" sz="1400" dirty="0"/>
          </a:p>
          <a:p>
            <a:pPr indent="0" marL="0">
              <a:lnSpc>
                <a:spcPts val="1700"/>
              </a:lnSpc>
              <a:buNone/>
            </a:pPr>
            <a:r>
              <a:rPr lang="en-US" sz="1100" dirty="0">
                <a:solidFill>
                  <a:srgbClr val="A9B4BC"/>
                </a:solidFill>
                <a:latin typeface="Calibri" pitchFamily="34" charset="0"/>
                <a:ea typeface="Calibri" pitchFamily="34" charset="-122"/>
                <a:cs typeface="Calibri" pitchFamily="34" charset="-120"/>
              </a:rPr>
              <a:t>4 canchas de pádel · control de acceso</a:t>
            </a:r>
            <a:endParaRPr lang="en-US" sz="1400" dirty="0"/>
          </a:p>
        </p:txBody>
      </p:sp>
      <p:sp>
        <p:nvSpPr>
          <p:cNvPr id="14" name="Shape 11"/>
          <p:cNvSpPr/>
          <p:nvPr/>
        </p:nvSpPr>
        <p:spPr>
          <a:xfrm>
            <a:off x="548640" y="4617720"/>
            <a:ext cx="6766560" cy="1737360"/>
          </a:xfrm>
          <a:prstGeom prst="roundRect">
            <a:avLst>
              <a:gd name="adj" fmla="val 3158"/>
            </a:avLst>
          </a:prstGeom>
          <a:solidFill>
            <a:srgbClr val="F6E9DC"/>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5" name="Text 12"/>
          <p:cNvSpPr/>
          <p:nvPr/>
        </p:nvSpPr>
        <p:spPr>
          <a:xfrm>
            <a:off x="868680" y="4800600"/>
            <a:ext cx="6126480" cy="301752"/>
          </a:xfrm>
          <a:prstGeom prst="rect">
            <a:avLst/>
          </a:prstGeom>
          <a:noFill/>
          <a:ln/>
        </p:spPr>
        <p:txBody>
          <a:bodyPr wrap="square" lIns="0" tIns="0" rIns="0" bIns="0" rtlCol="0" anchor="ctr"/>
          <a:lstStyle/>
          <a:p>
            <a:pPr indent="0" marL="0">
              <a:buNone/>
            </a:pPr>
            <a:r>
              <a:rPr lang="en-US" sz="1500" b="1" dirty="0">
                <a:solidFill>
                  <a:srgbClr val="12212B"/>
                </a:solidFill>
                <a:latin typeface="Calibri" pitchFamily="34" charset="0"/>
                <a:ea typeface="Calibri" pitchFamily="34" charset="-122"/>
                <a:cs typeface="Calibri" pitchFamily="34" charset="-120"/>
              </a:rPr>
              <a:t>Corrección de diseño que conviene hacer ahora</a:t>
            </a:r>
            <a:endParaRPr lang="en-US" sz="1500" dirty="0"/>
          </a:p>
        </p:txBody>
      </p:sp>
      <p:sp>
        <p:nvSpPr>
          <p:cNvPr id="16" name="Text 13"/>
          <p:cNvSpPr/>
          <p:nvPr/>
        </p:nvSpPr>
        <p:spPr>
          <a:xfrm>
            <a:off x="868680" y="5138928"/>
            <a:ext cx="6172200" cy="1097280"/>
          </a:xfrm>
          <a:prstGeom prst="rect">
            <a:avLst/>
          </a:prstGeom>
          <a:noFill/>
          <a:ln/>
        </p:spPr>
        <p:txBody>
          <a:bodyPr wrap="square" lIns="0" tIns="0" rIns="0" bIns="0" rtlCol="0" anchor="ctr"/>
          <a:lstStyle/>
          <a:p>
            <a:pPr indent="0" marL="0">
              <a:lnSpc>
                <a:spcPts val="1700"/>
              </a:lnSpc>
              <a:buNone/>
            </a:pPr>
            <a:r>
              <a:rPr lang="en-US" sz="1200" dirty="0">
                <a:solidFill>
                  <a:srgbClr val="5A6670"/>
                </a:solidFill>
                <a:latin typeface="Calibri" pitchFamily="34" charset="0"/>
                <a:ea typeface="Calibri" pitchFamily="34" charset="-122"/>
                <a:cs typeface="Calibri" pitchFamily="34" charset="-120"/>
              </a:rPr>
              <a:t>Los locales de 38,4 m² son chicos para casi todo operador de conveniencia relevante: un minimarket de cadena necesita 250–400 m². Fusionar cuatro locales en uno, aunque baje la renta por m², atrae un ancla real y sube la ocupación de todo el resto. Es un cambio de proyecto barato si se hace antes de construir.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10 · ETAPA 3 · PAÑO NORTE DE 18.619 M²</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Colegio o estación de servicio</a:t>
            </a:r>
            <a:endParaRPr lang="en-US" sz="3100" dirty="0"/>
          </a:p>
        </p:txBody>
      </p:sp>
      <p:sp>
        <p:nvSpPr>
          <p:cNvPr id="4" name="Shape 2"/>
          <p:cNvSpPr/>
          <p:nvPr/>
        </p:nvSpPr>
        <p:spPr>
          <a:xfrm>
            <a:off x="548640" y="1463040"/>
            <a:ext cx="5486400" cy="3200400"/>
          </a:xfrm>
          <a:prstGeom prst="roundRect">
            <a:avLst>
              <a:gd name="adj" fmla="val 1714"/>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5" name="Text 3"/>
          <p:cNvSpPr/>
          <p:nvPr/>
        </p:nvSpPr>
        <p:spPr>
          <a:xfrm>
            <a:off x="868680" y="1645920"/>
            <a:ext cx="4846320" cy="256032"/>
          </a:xfrm>
          <a:prstGeom prst="rect">
            <a:avLst/>
          </a:prstGeom>
          <a:noFill/>
          <a:ln/>
        </p:spPr>
        <p:txBody>
          <a:bodyPr wrap="square" lIns="0" tIns="0" rIns="0" bIns="0" rtlCol="0" anchor="ctr"/>
          <a:lstStyle/>
          <a:p>
            <a:pPr indent="0" marL="0">
              <a:buNone/>
            </a:pPr>
            <a:r>
              <a:rPr lang="en-US" sz="950" b="1" spc="140" kern="0" dirty="0">
                <a:solidFill>
                  <a:srgbClr val="B07D2B"/>
                </a:solidFill>
                <a:latin typeface="Calibri" pitchFamily="34" charset="0"/>
                <a:ea typeface="Calibri" pitchFamily="34" charset="-122"/>
                <a:cs typeface="Calibri" pitchFamily="34" charset="-120"/>
              </a:rPr>
              <a:t>ALTERNATIVA A  ·  COLEGIO</a:t>
            </a:r>
            <a:endParaRPr lang="en-US" sz="950" dirty="0"/>
          </a:p>
        </p:txBody>
      </p:sp>
      <p:sp>
        <p:nvSpPr>
          <p:cNvPr id="6" name="Text 4"/>
          <p:cNvSpPr/>
          <p:nvPr/>
        </p:nvSpPr>
        <p:spPr>
          <a:xfrm>
            <a:off x="868680" y="1920240"/>
            <a:ext cx="4892040" cy="640080"/>
          </a:xfrm>
          <a:prstGeom prst="rect">
            <a:avLst/>
          </a:prstGeom>
          <a:noFill/>
          <a:ln/>
        </p:spPr>
        <p:txBody>
          <a:bodyPr wrap="square" lIns="0" tIns="0" rIns="0" bIns="0" rtlCol="0" anchor="ctr"/>
          <a:lstStyle/>
          <a:p>
            <a:pPr indent="0" marL="0">
              <a:buNone/>
            </a:pPr>
            <a:r>
              <a:rPr lang="en-US" sz="2000" b="1" dirty="0">
                <a:solidFill>
                  <a:srgbClr val="12212B"/>
                </a:solidFill>
                <a:latin typeface="Cambria" pitchFamily="34" charset="0"/>
                <a:ea typeface="Cambria" pitchFamily="34" charset="-122"/>
                <a:cs typeface="Cambria" pitchFamily="34" charset="-120"/>
              </a:rPr>
              <a:t>Destruye valor en dos de tres escenarios</a:t>
            </a:r>
            <a:endParaRPr lang="en-US" sz="2000" dirty="0"/>
          </a:p>
        </p:txBody>
      </p:sp>
      <p:sp>
        <p:nvSpPr>
          <p:cNvPr id="7" name="Text 5"/>
          <p:cNvSpPr/>
          <p:nvPr/>
        </p:nvSpPr>
        <p:spPr>
          <a:xfrm>
            <a:off x="868680" y="2606040"/>
            <a:ext cx="4892040" cy="1874520"/>
          </a:xfrm>
          <a:prstGeom prst="rect">
            <a:avLst/>
          </a:prstGeom>
          <a:noFill/>
          <a:ln/>
        </p:spPr>
        <p:txBody>
          <a:bodyPr wrap="square" lIns="0" tIns="0" rIns="0" bIns="0" rtlCol="0" anchor="ctr"/>
          <a:lstStyle/>
          <a:p>
            <a:pPr indent="0" marL="0">
              <a:lnSpc>
                <a:spcPts val="1800"/>
              </a:lnSpc>
              <a:buNone/>
            </a:pPr>
            <a:r>
              <a:rPr lang="en-US" sz="1250" dirty="0">
                <a:solidFill>
                  <a:srgbClr val="5A6670"/>
                </a:solidFill>
                <a:latin typeface="Calibri" pitchFamily="34" charset="0"/>
                <a:ea typeface="Calibri" pitchFamily="34" charset="-122"/>
                <a:cs typeface="Calibri" pitchFamily="34" charset="-120"/>
              </a:rPr>
              <a:t>177.894 UF de inversión —casi tanto como toda la utilidad neta del loteo— para un activo monofuncional que rinde 6,9% y se recupera en 14,5 años. Si el sostenedor falla, no hay uso alternativo.</a:t>
            </a:r>
            <a:endParaRPr lang="en-US" sz="1250" dirty="0"/>
          </a:p>
          <a:p>
            <a:pPr indent="0" marL="0">
              <a:lnSpc>
                <a:spcPts val="1800"/>
              </a:lnSpc>
              <a:buNone/>
            </a:pPr>
            <a:endParaRPr lang="en-US" sz="1250" dirty="0"/>
          </a:p>
          <a:p>
            <a:pPr indent="0" marL="0">
              <a:lnSpc>
                <a:spcPts val="1800"/>
              </a:lnSpc>
              <a:buNone/>
            </a:pPr>
            <a:r>
              <a:rPr lang="en-US" sz="1250" dirty="0">
                <a:solidFill>
                  <a:srgbClr val="5A6670"/>
                </a:solidFill>
                <a:latin typeface="Calibri" pitchFamily="34" charset="0"/>
                <a:ea typeface="Calibri" pitchFamily="34" charset="-122"/>
                <a:cs typeface="Calibri" pitchFamily="34" charset="-120"/>
              </a:rPr>
              <a:t>La vía razonable es vender el paño sin construir: 45.885 UF a 2,5 UF/m², cuatro veces el costo asignado del terreno, con cero riesgo y cero capital.</a:t>
            </a:r>
            <a:endParaRPr lang="en-US" sz="1250" dirty="0"/>
          </a:p>
        </p:txBody>
      </p:sp>
      <p:sp>
        <p:nvSpPr>
          <p:cNvPr id="8" name="Shape 6"/>
          <p:cNvSpPr/>
          <p:nvPr/>
        </p:nvSpPr>
        <p:spPr>
          <a:xfrm>
            <a:off x="6263640" y="1463040"/>
            <a:ext cx="5349240" cy="3200400"/>
          </a:xfrm>
          <a:prstGeom prst="roundRect">
            <a:avLst>
              <a:gd name="adj" fmla="val 1714"/>
            </a:avLst>
          </a:prstGeom>
          <a:solidFill>
            <a:srgbClr val="E4EBE2"/>
          </a:solidFill>
          <a:ln w="19050">
            <a:solidFill>
              <a:srgbClr val="3E6B4A"/>
            </a:solidFill>
            <a:prstDash val="solid"/>
          </a:ln>
          <a:effectLst>
            <a:outerShdw sx="100000" sy="100000" kx="0" ky="0" algn="bl" rotWithShape="0" blurRad="127000" dist="25400" dir="5400000">
              <a:srgbClr val="8A9299">
                <a:alpha val="22000"/>
              </a:srgbClr>
            </a:outerShdw>
          </a:effectLst>
        </p:spPr>
      </p:sp>
      <p:sp>
        <p:nvSpPr>
          <p:cNvPr id="9" name="Text 7"/>
          <p:cNvSpPr/>
          <p:nvPr/>
        </p:nvSpPr>
        <p:spPr>
          <a:xfrm>
            <a:off x="6556248" y="1645920"/>
            <a:ext cx="4846320" cy="256032"/>
          </a:xfrm>
          <a:prstGeom prst="rect">
            <a:avLst/>
          </a:prstGeom>
          <a:noFill/>
          <a:ln/>
        </p:spPr>
        <p:txBody>
          <a:bodyPr wrap="square" lIns="0" tIns="0" rIns="0" bIns="0" rtlCol="0" anchor="ctr"/>
          <a:lstStyle/>
          <a:p>
            <a:pPr indent="0" marL="0">
              <a:buNone/>
            </a:pPr>
            <a:r>
              <a:rPr lang="en-US" sz="950" b="1" spc="140" kern="0" dirty="0">
                <a:solidFill>
                  <a:srgbClr val="3E6B4A"/>
                </a:solidFill>
                <a:latin typeface="Calibri" pitchFamily="34" charset="0"/>
                <a:ea typeface="Calibri" pitchFamily="34" charset="-122"/>
                <a:cs typeface="Calibri" pitchFamily="34" charset="-120"/>
              </a:rPr>
              <a:t>ALTERNATIVA B  ·  ESTACIÓN DE SERVICIO</a:t>
            </a:r>
            <a:endParaRPr lang="en-US" sz="950" dirty="0"/>
          </a:p>
        </p:txBody>
      </p:sp>
      <p:sp>
        <p:nvSpPr>
          <p:cNvPr id="10" name="Text 8"/>
          <p:cNvSpPr/>
          <p:nvPr/>
        </p:nvSpPr>
        <p:spPr>
          <a:xfrm>
            <a:off x="6556248" y="1920240"/>
            <a:ext cx="4846320" cy="640080"/>
          </a:xfrm>
          <a:prstGeom prst="rect">
            <a:avLst/>
          </a:prstGeom>
          <a:noFill/>
          <a:ln/>
        </p:spPr>
        <p:txBody>
          <a:bodyPr wrap="square" lIns="0" tIns="0" rIns="0" bIns="0" rtlCol="0" anchor="ctr"/>
          <a:lstStyle/>
          <a:p>
            <a:pPr indent="0" marL="0">
              <a:buNone/>
            </a:pPr>
            <a:r>
              <a:rPr lang="en-US" sz="2000" b="1" dirty="0">
                <a:solidFill>
                  <a:srgbClr val="12212B"/>
                </a:solidFill>
                <a:latin typeface="Cambria" pitchFamily="34" charset="0"/>
                <a:ea typeface="Cambria" pitchFamily="34" charset="-122"/>
                <a:cs typeface="Cambria" pitchFamily="34" charset="-120"/>
              </a:rPr>
              <a:t>El mejor retorno de todo el masterplan</a:t>
            </a:r>
            <a:endParaRPr lang="en-US" sz="2000" dirty="0"/>
          </a:p>
        </p:txBody>
      </p:sp>
      <p:sp>
        <p:nvSpPr>
          <p:cNvPr id="11" name="Text 9"/>
          <p:cNvSpPr/>
          <p:nvPr/>
        </p:nvSpPr>
        <p:spPr>
          <a:xfrm>
            <a:off x="6556248" y="2606040"/>
            <a:ext cx="4846320" cy="914400"/>
          </a:xfrm>
          <a:prstGeom prst="rect">
            <a:avLst/>
          </a:prstGeom>
          <a:noFill/>
          <a:ln/>
        </p:spPr>
        <p:txBody>
          <a:bodyPr wrap="square" lIns="0" tIns="0" rIns="0" bIns="0" rtlCol="0" anchor="ctr"/>
          <a:lstStyle/>
          <a:p>
            <a:pPr indent="0" marL="0">
              <a:lnSpc>
                <a:spcPts val="1800"/>
              </a:lnSpc>
              <a:buNone/>
            </a:pPr>
            <a:r>
              <a:rPr lang="en-US" sz="1250" dirty="0">
                <a:solidFill>
                  <a:srgbClr val="5A6670"/>
                </a:solidFill>
                <a:latin typeface="Calibri" pitchFamily="34" charset="0"/>
                <a:ea typeface="Calibri" pitchFamily="34" charset="-122"/>
                <a:cs typeface="Calibri" pitchFamily="34" charset="-120"/>
              </a:rPr>
              <a:t>2.200 m² con frente a Avenida San Miguel arrendados a un operador de marca que construye por su cuenta. Inversión propia: 4.879 UF en accesos, EISTU y empalmes. Canon de 350 UF al mes.</a:t>
            </a:r>
            <a:endParaRPr lang="en-US" sz="1250" dirty="0"/>
          </a:p>
        </p:txBody>
      </p:sp>
      <p:sp>
        <p:nvSpPr>
          <p:cNvPr id="12" name="Text 10"/>
          <p:cNvSpPr/>
          <p:nvPr/>
        </p:nvSpPr>
        <p:spPr>
          <a:xfrm>
            <a:off x="6556248" y="3611880"/>
            <a:ext cx="1554480" cy="384048"/>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86%</a:t>
            </a:r>
            <a:endParaRPr lang="en-US" sz="1700" dirty="0"/>
          </a:p>
        </p:txBody>
      </p:sp>
      <p:sp>
        <p:nvSpPr>
          <p:cNvPr id="13" name="Text 11"/>
          <p:cNvSpPr/>
          <p:nvPr/>
        </p:nvSpPr>
        <p:spPr>
          <a:xfrm>
            <a:off x="6556248" y="4005072"/>
            <a:ext cx="1572768" cy="457200"/>
          </a:xfrm>
          <a:prstGeom prst="rect">
            <a:avLst/>
          </a:prstGeom>
          <a:noFill/>
          <a:ln/>
        </p:spPr>
        <p:txBody>
          <a:bodyPr wrap="square" lIns="0" tIns="0" rIns="0" bIns="0" rtlCol="0" anchor="ctr"/>
          <a:lstStyle/>
          <a:p>
            <a:pPr indent="0" marL="0">
              <a:buNone/>
            </a:pPr>
            <a:r>
              <a:rPr lang="en-US" sz="850" b="1" spc="90" kern="0" dirty="0">
                <a:solidFill>
                  <a:srgbClr val="5A6670"/>
                </a:solidFill>
                <a:latin typeface="Calibri" pitchFamily="34" charset="0"/>
                <a:ea typeface="Calibri" pitchFamily="34" charset="-122"/>
                <a:cs typeface="Calibri" pitchFamily="34" charset="-120"/>
              </a:rPr>
              <a:t>YIELD ON COST</a:t>
            </a:r>
            <a:endParaRPr lang="en-US" sz="850" dirty="0"/>
          </a:p>
        </p:txBody>
      </p:sp>
      <p:sp>
        <p:nvSpPr>
          <p:cNvPr id="14" name="Text 12"/>
          <p:cNvSpPr/>
          <p:nvPr/>
        </p:nvSpPr>
        <p:spPr>
          <a:xfrm>
            <a:off x="8183880" y="3611880"/>
            <a:ext cx="1554480" cy="384048"/>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1,2 años</a:t>
            </a:r>
            <a:endParaRPr lang="en-US" sz="1700" dirty="0"/>
          </a:p>
        </p:txBody>
      </p:sp>
      <p:sp>
        <p:nvSpPr>
          <p:cNvPr id="15" name="Text 13"/>
          <p:cNvSpPr/>
          <p:nvPr/>
        </p:nvSpPr>
        <p:spPr>
          <a:xfrm>
            <a:off x="8183880" y="4005072"/>
            <a:ext cx="1572768" cy="457200"/>
          </a:xfrm>
          <a:prstGeom prst="rect">
            <a:avLst/>
          </a:prstGeom>
          <a:noFill/>
          <a:ln/>
        </p:spPr>
        <p:txBody>
          <a:bodyPr wrap="square" lIns="0" tIns="0" rIns="0" bIns="0" rtlCol="0" anchor="ctr"/>
          <a:lstStyle/>
          <a:p>
            <a:pPr indent="0" marL="0">
              <a:buNone/>
            </a:pPr>
            <a:r>
              <a:rPr lang="en-US" sz="850" b="1" spc="90" kern="0" dirty="0">
                <a:solidFill>
                  <a:srgbClr val="5A6670"/>
                </a:solidFill>
                <a:latin typeface="Calibri" pitchFamily="34" charset="0"/>
                <a:ea typeface="Calibri" pitchFamily="34" charset="-122"/>
                <a:cs typeface="Calibri" pitchFamily="34" charset="-120"/>
              </a:rPr>
              <a:t>PAYBACK</a:t>
            </a:r>
            <a:endParaRPr lang="en-US" sz="850" dirty="0"/>
          </a:p>
        </p:txBody>
      </p:sp>
      <p:sp>
        <p:nvSpPr>
          <p:cNvPr id="16" name="Text 14"/>
          <p:cNvSpPr/>
          <p:nvPr/>
        </p:nvSpPr>
        <p:spPr>
          <a:xfrm>
            <a:off x="9811512" y="3611880"/>
            <a:ext cx="1554480" cy="384048"/>
          </a:xfrm>
          <a:prstGeom prst="rect">
            <a:avLst/>
          </a:prstGeom>
          <a:noFill/>
          <a:ln/>
        </p:spPr>
        <p:txBody>
          <a:bodyPr wrap="square" lIns="0" tIns="0" rIns="0" bIns="0" rtlCol="0" anchor="ctr"/>
          <a:lstStyle/>
          <a:p>
            <a:pPr indent="0" marL="0">
              <a:buNone/>
            </a:pPr>
            <a:r>
              <a:rPr lang="en-US" sz="1700" b="1" dirty="0">
                <a:solidFill>
                  <a:srgbClr val="3E6B4A"/>
                </a:solidFill>
                <a:latin typeface="Calibri" pitchFamily="34" charset="0"/>
                <a:ea typeface="Calibri" pitchFamily="34" charset="-122"/>
                <a:cs typeface="Calibri" pitchFamily="34" charset="-120"/>
              </a:rPr>
              <a:t>56.000 UF</a:t>
            </a:r>
            <a:endParaRPr lang="en-US" sz="1700" dirty="0"/>
          </a:p>
        </p:txBody>
      </p:sp>
      <p:sp>
        <p:nvSpPr>
          <p:cNvPr id="17" name="Text 15"/>
          <p:cNvSpPr/>
          <p:nvPr/>
        </p:nvSpPr>
        <p:spPr>
          <a:xfrm>
            <a:off x="9811512" y="4005072"/>
            <a:ext cx="1572768" cy="457200"/>
          </a:xfrm>
          <a:prstGeom prst="rect">
            <a:avLst/>
          </a:prstGeom>
          <a:noFill/>
          <a:ln/>
        </p:spPr>
        <p:txBody>
          <a:bodyPr wrap="square" lIns="0" tIns="0" rIns="0" bIns="0" rtlCol="0" anchor="ctr"/>
          <a:lstStyle/>
          <a:p>
            <a:pPr indent="0" marL="0">
              <a:buNone/>
            </a:pPr>
            <a:r>
              <a:rPr lang="en-US" sz="850" b="1" spc="90" kern="0" dirty="0">
                <a:solidFill>
                  <a:srgbClr val="5A6670"/>
                </a:solidFill>
                <a:latin typeface="Calibri" pitchFamily="34" charset="0"/>
                <a:ea typeface="Calibri" pitchFamily="34" charset="-122"/>
                <a:cs typeface="Calibri" pitchFamily="34" charset="-120"/>
              </a:rPr>
              <a:t>VALOR DEL ACTIVO</a:t>
            </a:r>
            <a:endParaRPr lang="en-US" sz="850" dirty="0"/>
          </a:p>
        </p:txBody>
      </p:sp>
      <p:sp>
        <p:nvSpPr>
          <p:cNvPr id="18" name="Shape 16"/>
          <p:cNvSpPr/>
          <p:nvPr/>
        </p:nvSpPr>
        <p:spPr>
          <a:xfrm>
            <a:off x="548640" y="4846320"/>
            <a:ext cx="11064240" cy="1508760"/>
          </a:xfrm>
          <a:prstGeom prst="roundRect">
            <a:avLst>
              <a:gd name="adj" fmla="val 3636"/>
            </a:avLst>
          </a:prstGeom>
          <a:solidFill>
            <a:srgbClr val="12212B"/>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9" name="Text 17"/>
          <p:cNvSpPr/>
          <p:nvPr/>
        </p:nvSpPr>
        <p:spPr>
          <a:xfrm>
            <a:off x="868680" y="5029200"/>
            <a:ext cx="1042416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Recomendación: estación de servicio primero; el colegio, sólo como venta del paño</a:t>
            </a:r>
            <a:endParaRPr lang="en-US" sz="1550" dirty="0"/>
          </a:p>
        </p:txBody>
      </p:sp>
      <p:sp>
        <p:nvSpPr>
          <p:cNvPr id="20" name="Text 18"/>
          <p:cNvSpPr/>
          <p:nvPr/>
        </p:nvSpPr>
        <p:spPr>
          <a:xfrm>
            <a:off x="868680" y="5376672"/>
            <a:ext cx="10469880" cy="868680"/>
          </a:xfrm>
          <a:prstGeom prst="rect">
            <a:avLst/>
          </a:prstGeom>
          <a:noFill/>
          <a:ln/>
        </p:spPr>
        <p:txBody>
          <a:bodyPr wrap="square" lIns="0" tIns="0" rIns="0" bIns="0" rtlCol="0" anchor="ctr"/>
          <a:lstStyle/>
          <a:p>
            <a:pPr indent="0" marL="0">
              <a:lnSpc>
                <a:spcPts val="1700"/>
              </a:lnSpc>
              <a:buNone/>
            </a:pPr>
            <a:r>
              <a:rPr lang="en-US" sz="1200" dirty="0">
                <a:solidFill>
                  <a:srgbClr val="A9B4BC"/>
                </a:solidFill>
                <a:latin typeface="Calibri" pitchFamily="34" charset="0"/>
                <a:ea typeface="Calibri" pitchFamily="34" charset="-122"/>
                <a:cs typeface="Calibri" pitchFamily="34" charset="-120"/>
              </a:rPr>
              <a:t>Se subdivide el paño norte en 2.200–2.500 m² para la estación y un remanente de 16.154 m². La estación se licita entre operadores de marca bajo arriendo de suelo a 20–25 años, y su tienda de conveniencia pasa a ser el ancla que a los locales de 38 m² les falta. Requisito duro: ningún operador de marca firma sin 8.000–12.000 vehículos diarios — hay que pedir el TMDA de Avenida San Miguel a Vialidad del Maule.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11 · SECUENCIA</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El masterplan por etapas</a:t>
            </a:r>
            <a:endParaRPr lang="en-US" sz="3100" dirty="0"/>
          </a:p>
        </p:txBody>
      </p:sp>
      <p:sp>
        <p:nvSpPr>
          <p:cNvPr id="4" name="Shape 2"/>
          <p:cNvSpPr/>
          <p:nvPr/>
        </p:nvSpPr>
        <p:spPr>
          <a:xfrm>
            <a:off x="566928" y="1572768"/>
            <a:ext cx="658368" cy="658368"/>
          </a:xfrm>
          <a:prstGeom prst="ellipse">
            <a:avLst/>
          </a:prstGeom>
          <a:solidFill>
            <a:srgbClr val="2C5D7C"/>
          </a:solidFill>
          <a:ln/>
        </p:spPr>
      </p:sp>
      <p:sp>
        <p:nvSpPr>
          <p:cNvPr id="5" name="Text 3"/>
          <p:cNvSpPr/>
          <p:nvPr/>
        </p:nvSpPr>
        <p:spPr>
          <a:xfrm>
            <a:off x="566928" y="1719072"/>
            <a:ext cx="6583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6" name="Text 4"/>
          <p:cNvSpPr/>
          <p:nvPr/>
        </p:nvSpPr>
        <p:spPr>
          <a:xfrm>
            <a:off x="1417320" y="1517904"/>
            <a:ext cx="3200400" cy="320040"/>
          </a:xfrm>
          <a:prstGeom prst="rect">
            <a:avLst/>
          </a:prstGeom>
          <a:noFill/>
          <a:ln/>
        </p:spPr>
        <p:txBody>
          <a:bodyPr wrap="square" lIns="0" tIns="0" rIns="0" bIns="0" rtlCol="0" anchor="ctr"/>
          <a:lstStyle/>
          <a:p>
            <a:pPr indent="0" marL="0">
              <a:buNone/>
            </a:pPr>
            <a:r>
              <a:rPr lang="en-US" sz="1500" b="1" dirty="0">
                <a:solidFill>
                  <a:srgbClr val="12212B"/>
                </a:solidFill>
                <a:latin typeface="Calibri" pitchFamily="34" charset="0"/>
                <a:ea typeface="Calibri" pitchFamily="34" charset="-122"/>
                <a:cs typeface="Calibri" pitchFamily="34" charset="-120"/>
              </a:rPr>
              <a:t>Promesa y permisos</a:t>
            </a:r>
            <a:endParaRPr lang="en-US" sz="1500" dirty="0"/>
          </a:p>
        </p:txBody>
      </p:sp>
      <p:sp>
        <p:nvSpPr>
          <p:cNvPr id="7" name="Text 5"/>
          <p:cNvSpPr/>
          <p:nvPr/>
        </p:nvSpPr>
        <p:spPr>
          <a:xfrm>
            <a:off x="1417320" y="1847088"/>
            <a:ext cx="6035040" cy="548640"/>
          </a:xfrm>
          <a:prstGeom prst="rect">
            <a:avLst/>
          </a:prstGeom>
          <a:noFill/>
          <a:ln/>
        </p:spPr>
        <p:txBody>
          <a:bodyPr wrap="square" lIns="0" tIns="0" rIns="0" bIns="0" rtlCol="0" anchor="ctr"/>
          <a:lstStyle/>
          <a:p>
            <a:pPr indent="0" marL="0">
              <a:lnSpc>
                <a:spcPts val="1500"/>
              </a:lnSpc>
              <a:buNone/>
            </a:pPr>
            <a:r>
              <a:rPr lang="en-US" sz="1150" dirty="0">
                <a:solidFill>
                  <a:srgbClr val="5A6670"/>
                </a:solidFill>
                <a:latin typeface="Calibri" pitchFamily="34" charset="0"/>
                <a:ea typeface="Calibri" pitchFamily="34" charset="-122"/>
                <a:cs typeface="Calibri" pitchFamily="34" charset="-120"/>
              </a:rPr>
              <a:t>Pie contra promesa con condición suspensiva. Proyecto, especialidades, factibilidades, EISTU. Cotización cerrada de urbanización.</a:t>
            </a:r>
            <a:endParaRPr lang="en-US" sz="1150" dirty="0"/>
          </a:p>
        </p:txBody>
      </p:sp>
      <p:sp>
        <p:nvSpPr>
          <p:cNvPr id="8" name="Shape 6"/>
          <p:cNvSpPr/>
          <p:nvPr/>
        </p:nvSpPr>
        <p:spPr>
          <a:xfrm>
            <a:off x="7772400" y="1517904"/>
            <a:ext cx="3840480" cy="786384"/>
          </a:xfrm>
          <a:prstGeom prst="roundRect">
            <a:avLst>
              <a:gd name="adj" fmla="val 5814"/>
            </a:avLst>
          </a:prstGeom>
          <a:solidFill>
            <a:srgbClr val="E8ECE4"/>
          </a:solidFill>
          <a:ln w="6350">
            <a:solidFill>
              <a:srgbClr val="D5DBD0"/>
            </a:solidFill>
            <a:prstDash val="solid"/>
          </a:ln>
        </p:spPr>
      </p:sp>
      <p:sp>
        <p:nvSpPr>
          <p:cNvPr id="9" name="Text 7"/>
          <p:cNvSpPr/>
          <p:nvPr/>
        </p:nvSpPr>
        <p:spPr>
          <a:xfrm>
            <a:off x="8001000" y="1591056"/>
            <a:ext cx="3474720" cy="201168"/>
          </a:xfrm>
          <a:prstGeom prst="rect">
            <a:avLst/>
          </a:prstGeom>
          <a:noFill/>
          <a:ln/>
        </p:spPr>
        <p:txBody>
          <a:bodyPr wrap="square" lIns="0" tIns="0" rIns="0" bIns="0" rtlCol="0" anchor="ctr"/>
          <a:lstStyle/>
          <a:p>
            <a:pPr indent="0" marL="0">
              <a:buNone/>
            </a:pPr>
            <a:r>
              <a:rPr lang="en-US" sz="850" b="1" spc="130" kern="0" dirty="0">
                <a:solidFill>
                  <a:srgbClr val="2C5D7C"/>
                </a:solidFill>
                <a:latin typeface="Calibri" pitchFamily="34" charset="0"/>
                <a:ea typeface="Calibri" pitchFamily="34" charset="-122"/>
                <a:cs typeface="Calibri" pitchFamily="34" charset="-120"/>
              </a:rPr>
              <a:t>PUERTA</a:t>
            </a:r>
            <a:endParaRPr lang="en-US" sz="850" dirty="0"/>
          </a:p>
        </p:txBody>
      </p:sp>
      <p:sp>
        <p:nvSpPr>
          <p:cNvPr id="10" name="Text 8"/>
          <p:cNvSpPr/>
          <p:nvPr/>
        </p:nvSpPr>
        <p:spPr>
          <a:xfrm>
            <a:off x="8001000" y="1792224"/>
            <a:ext cx="3429000" cy="457200"/>
          </a:xfrm>
          <a:prstGeom prst="rect">
            <a:avLst/>
          </a:prstGeom>
          <a:noFill/>
          <a:ln/>
        </p:spPr>
        <p:txBody>
          <a:bodyPr wrap="square" lIns="0" tIns="0" rIns="0" bIns="0" rtlCol="0" anchor="ctr"/>
          <a:lstStyle/>
          <a:p>
            <a:pPr indent="0" marL="0">
              <a:lnSpc>
                <a:spcPts val="1400"/>
              </a:lnSpc>
              <a:buNone/>
            </a:pPr>
            <a:r>
              <a:rPr lang="en-US" sz="1100" dirty="0">
                <a:solidFill>
                  <a:srgbClr val="5A6670"/>
                </a:solidFill>
                <a:latin typeface="Calibri" pitchFamily="34" charset="0"/>
                <a:ea typeface="Calibri" pitchFamily="34" charset="-122"/>
                <a:cs typeface="Calibri" pitchFamily="34" charset="-120"/>
              </a:rPr>
              <a:t>Permiso aprobado y factibilidad sanitaria emitida</a:t>
            </a:r>
            <a:endParaRPr lang="en-US" sz="1100" dirty="0"/>
          </a:p>
        </p:txBody>
      </p:sp>
      <p:sp>
        <p:nvSpPr>
          <p:cNvPr id="11" name="Shape 9"/>
          <p:cNvSpPr/>
          <p:nvPr/>
        </p:nvSpPr>
        <p:spPr>
          <a:xfrm>
            <a:off x="566928" y="2615184"/>
            <a:ext cx="658368" cy="658368"/>
          </a:xfrm>
          <a:prstGeom prst="ellipse">
            <a:avLst/>
          </a:prstGeom>
          <a:solidFill>
            <a:srgbClr val="2C5D7C"/>
          </a:solidFill>
          <a:ln/>
        </p:spPr>
      </p:sp>
      <p:sp>
        <p:nvSpPr>
          <p:cNvPr id="12" name="Text 10"/>
          <p:cNvSpPr/>
          <p:nvPr/>
        </p:nvSpPr>
        <p:spPr>
          <a:xfrm>
            <a:off x="566928" y="2761488"/>
            <a:ext cx="6583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1417320" y="2560320"/>
            <a:ext cx="3200400" cy="320040"/>
          </a:xfrm>
          <a:prstGeom prst="rect">
            <a:avLst/>
          </a:prstGeom>
          <a:noFill/>
          <a:ln/>
        </p:spPr>
        <p:txBody>
          <a:bodyPr wrap="square" lIns="0" tIns="0" rIns="0" bIns="0" rtlCol="0" anchor="ctr"/>
          <a:lstStyle/>
          <a:p>
            <a:pPr indent="0" marL="0">
              <a:buNone/>
            </a:pPr>
            <a:r>
              <a:rPr lang="en-US" sz="1500" b="1" dirty="0">
                <a:solidFill>
                  <a:srgbClr val="12212B"/>
                </a:solidFill>
                <a:latin typeface="Calibri" pitchFamily="34" charset="0"/>
                <a:ea typeface="Calibri" pitchFamily="34" charset="-122"/>
                <a:cs typeface="Calibri" pitchFamily="34" charset="-120"/>
              </a:rPr>
              <a:t>Urbanización 1 y preventa</a:t>
            </a:r>
            <a:endParaRPr lang="en-US" sz="1500" dirty="0"/>
          </a:p>
        </p:txBody>
      </p:sp>
      <p:sp>
        <p:nvSpPr>
          <p:cNvPr id="14" name="Text 12"/>
          <p:cNvSpPr/>
          <p:nvPr/>
        </p:nvSpPr>
        <p:spPr>
          <a:xfrm>
            <a:off x="1417320" y="2889504"/>
            <a:ext cx="6035040" cy="548640"/>
          </a:xfrm>
          <a:prstGeom prst="rect">
            <a:avLst/>
          </a:prstGeom>
          <a:noFill/>
          <a:ln/>
        </p:spPr>
        <p:txBody>
          <a:bodyPr wrap="square" lIns="0" tIns="0" rIns="0" bIns="0" rtlCol="0" anchor="ctr"/>
          <a:lstStyle/>
          <a:p>
            <a:pPr indent="0" marL="0">
              <a:lnSpc>
                <a:spcPts val="1500"/>
              </a:lnSpc>
              <a:buNone/>
            </a:pPr>
            <a:r>
              <a:rPr lang="en-US" sz="1150" dirty="0">
                <a:solidFill>
                  <a:srgbClr val="5A6670"/>
                </a:solidFill>
                <a:latin typeface="Calibri" pitchFamily="34" charset="0"/>
                <a:ea typeface="Calibri" pitchFamily="34" charset="-122"/>
                <a:cs typeface="Calibri" pitchFamily="34" charset="-120"/>
              </a:rPr>
              <a:t>Matrices troncales, acceso, Calle 1 y las primeras 23 parcelas. Sala de ventas. Licitación del paño de la estación.</a:t>
            </a:r>
            <a:endParaRPr lang="en-US" sz="1150" dirty="0"/>
          </a:p>
        </p:txBody>
      </p:sp>
      <p:sp>
        <p:nvSpPr>
          <p:cNvPr id="15" name="Shape 13"/>
          <p:cNvSpPr/>
          <p:nvPr/>
        </p:nvSpPr>
        <p:spPr>
          <a:xfrm>
            <a:off x="7772400" y="2560320"/>
            <a:ext cx="3840480" cy="786384"/>
          </a:xfrm>
          <a:prstGeom prst="roundRect">
            <a:avLst>
              <a:gd name="adj" fmla="val 5814"/>
            </a:avLst>
          </a:prstGeom>
          <a:solidFill>
            <a:srgbClr val="E8ECE4"/>
          </a:solidFill>
          <a:ln w="6350">
            <a:solidFill>
              <a:srgbClr val="D5DBD0"/>
            </a:solidFill>
            <a:prstDash val="solid"/>
          </a:ln>
        </p:spPr>
      </p:sp>
      <p:sp>
        <p:nvSpPr>
          <p:cNvPr id="16" name="Text 14"/>
          <p:cNvSpPr/>
          <p:nvPr/>
        </p:nvSpPr>
        <p:spPr>
          <a:xfrm>
            <a:off x="8001000" y="2633472"/>
            <a:ext cx="3474720" cy="201168"/>
          </a:xfrm>
          <a:prstGeom prst="rect">
            <a:avLst/>
          </a:prstGeom>
          <a:noFill/>
          <a:ln/>
        </p:spPr>
        <p:txBody>
          <a:bodyPr wrap="square" lIns="0" tIns="0" rIns="0" bIns="0" rtlCol="0" anchor="ctr"/>
          <a:lstStyle/>
          <a:p>
            <a:pPr indent="0" marL="0">
              <a:buNone/>
            </a:pPr>
            <a:r>
              <a:rPr lang="en-US" sz="850" b="1" spc="130" kern="0" dirty="0">
                <a:solidFill>
                  <a:srgbClr val="2C5D7C"/>
                </a:solidFill>
                <a:latin typeface="Calibri" pitchFamily="34" charset="0"/>
                <a:ea typeface="Calibri" pitchFamily="34" charset="-122"/>
                <a:cs typeface="Calibri" pitchFamily="34" charset="-120"/>
              </a:rPr>
              <a:t>PUERTA</a:t>
            </a:r>
            <a:endParaRPr lang="en-US" sz="850" dirty="0"/>
          </a:p>
        </p:txBody>
      </p:sp>
      <p:sp>
        <p:nvSpPr>
          <p:cNvPr id="17" name="Text 15"/>
          <p:cNvSpPr/>
          <p:nvPr/>
        </p:nvSpPr>
        <p:spPr>
          <a:xfrm>
            <a:off x="8001000" y="2834640"/>
            <a:ext cx="3429000" cy="457200"/>
          </a:xfrm>
          <a:prstGeom prst="rect">
            <a:avLst/>
          </a:prstGeom>
          <a:noFill/>
          <a:ln/>
        </p:spPr>
        <p:txBody>
          <a:bodyPr wrap="square" lIns="0" tIns="0" rIns="0" bIns="0" rtlCol="0" anchor="ctr"/>
          <a:lstStyle/>
          <a:p>
            <a:pPr indent="0" marL="0">
              <a:lnSpc>
                <a:spcPts val="1400"/>
              </a:lnSpc>
              <a:buNone/>
            </a:pPr>
            <a:r>
              <a:rPr lang="en-US" sz="1100" dirty="0">
                <a:solidFill>
                  <a:srgbClr val="5A6670"/>
                </a:solidFill>
                <a:latin typeface="Calibri" pitchFamily="34" charset="0"/>
                <a:ea typeface="Calibri" pitchFamily="34" charset="-122"/>
                <a:cs typeface="Calibri" pitchFamily="34" charset="-120"/>
              </a:rPr>
              <a:t>12 promesas firmadas antes de la macro-etapa 2</a:t>
            </a:r>
            <a:endParaRPr lang="en-US" sz="1100" dirty="0"/>
          </a:p>
        </p:txBody>
      </p:sp>
      <p:sp>
        <p:nvSpPr>
          <p:cNvPr id="18" name="Shape 16"/>
          <p:cNvSpPr/>
          <p:nvPr/>
        </p:nvSpPr>
        <p:spPr>
          <a:xfrm>
            <a:off x="566928" y="3657600"/>
            <a:ext cx="658368" cy="658368"/>
          </a:xfrm>
          <a:prstGeom prst="ellipse">
            <a:avLst/>
          </a:prstGeom>
          <a:solidFill>
            <a:srgbClr val="2C5D7C"/>
          </a:solidFill>
          <a:ln/>
        </p:spPr>
      </p:sp>
      <p:sp>
        <p:nvSpPr>
          <p:cNvPr id="19" name="Text 17"/>
          <p:cNvSpPr/>
          <p:nvPr/>
        </p:nvSpPr>
        <p:spPr>
          <a:xfrm>
            <a:off x="566928" y="3803904"/>
            <a:ext cx="6583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8"/>
          <p:cNvSpPr/>
          <p:nvPr/>
        </p:nvSpPr>
        <p:spPr>
          <a:xfrm>
            <a:off x="1417320" y="3602736"/>
            <a:ext cx="3200400" cy="320040"/>
          </a:xfrm>
          <a:prstGeom prst="rect">
            <a:avLst/>
          </a:prstGeom>
          <a:noFill/>
          <a:ln/>
        </p:spPr>
        <p:txBody>
          <a:bodyPr wrap="square" lIns="0" tIns="0" rIns="0" bIns="0" rtlCol="0" anchor="ctr"/>
          <a:lstStyle/>
          <a:p>
            <a:pPr indent="0" marL="0">
              <a:buNone/>
            </a:pPr>
            <a:r>
              <a:rPr lang="en-US" sz="1500" b="1" dirty="0">
                <a:solidFill>
                  <a:srgbClr val="12212B"/>
                </a:solidFill>
                <a:latin typeface="Calibri" pitchFamily="34" charset="0"/>
                <a:ea typeface="Calibri" pitchFamily="34" charset="-122"/>
                <a:cs typeface="Calibri" pitchFamily="34" charset="-120"/>
              </a:rPr>
              <a:t>Escrituras y estación</a:t>
            </a:r>
            <a:endParaRPr lang="en-US" sz="1500" dirty="0"/>
          </a:p>
        </p:txBody>
      </p:sp>
      <p:sp>
        <p:nvSpPr>
          <p:cNvPr id="21" name="Text 19"/>
          <p:cNvSpPr/>
          <p:nvPr/>
        </p:nvSpPr>
        <p:spPr>
          <a:xfrm>
            <a:off x="1417320" y="3931920"/>
            <a:ext cx="6035040" cy="548640"/>
          </a:xfrm>
          <a:prstGeom prst="rect">
            <a:avLst/>
          </a:prstGeom>
          <a:noFill/>
          <a:ln/>
        </p:spPr>
        <p:txBody>
          <a:bodyPr wrap="square" lIns="0" tIns="0" rIns="0" bIns="0" rtlCol="0" anchor="ctr"/>
          <a:lstStyle/>
          <a:p>
            <a:pPr indent="0" marL="0">
              <a:lnSpc>
                <a:spcPts val="1500"/>
              </a:lnSpc>
              <a:buNone/>
            </a:pPr>
            <a:r>
              <a:rPr lang="en-US" sz="1150" dirty="0">
                <a:solidFill>
                  <a:srgbClr val="5A6670"/>
                </a:solidFill>
                <a:latin typeface="Calibri" pitchFamily="34" charset="0"/>
                <a:ea typeface="Calibri" pitchFamily="34" charset="-122"/>
                <a:cs typeface="Calibri" pitchFamily="34" charset="-120"/>
              </a:rPr>
              <a:t>Escrituración con garantía de obras. Firma del arriendo de suelo de la estación: la primera renta permanente del proyecto.</a:t>
            </a:r>
            <a:endParaRPr lang="en-US" sz="1150" dirty="0"/>
          </a:p>
        </p:txBody>
      </p:sp>
      <p:sp>
        <p:nvSpPr>
          <p:cNvPr id="22" name="Shape 20"/>
          <p:cNvSpPr/>
          <p:nvPr/>
        </p:nvSpPr>
        <p:spPr>
          <a:xfrm>
            <a:off x="7772400" y="3602736"/>
            <a:ext cx="3840480" cy="786384"/>
          </a:xfrm>
          <a:prstGeom prst="roundRect">
            <a:avLst>
              <a:gd name="adj" fmla="val 5814"/>
            </a:avLst>
          </a:prstGeom>
          <a:solidFill>
            <a:srgbClr val="E8ECE4"/>
          </a:solidFill>
          <a:ln w="6350">
            <a:solidFill>
              <a:srgbClr val="D5DBD0"/>
            </a:solidFill>
            <a:prstDash val="solid"/>
          </a:ln>
        </p:spPr>
      </p:sp>
      <p:sp>
        <p:nvSpPr>
          <p:cNvPr id="23" name="Text 21"/>
          <p:cNvSpPr/>
          <p:nvPr/>
        </p:nvSpPr>
        <p:spPr>
          <a:xfrm>
            <a:off x="8001000" y="3675888"/>
            <a:ext cx="3474720" cy="201168"/>
          </a:xfrm>
          <a:prstGeom prst="rect">
            <a:avLst/>
          </a:prstGeom>
          <a:noFill/>
          <a:ln/>
        </p:spPr>
        <p:txBody>
          <a:bodyPr wrap="square" lIns="0" tIns="0" rIns="0" bIns="0" rtlCol="0" anchor="ctr"/>
          <a:lstStyle/>
          <a:p>
            <a:pPr indent="0" marL="0">
              <a:buNone/>
            </a:pPr>
            <a:r>
              <a:rPr lang="en-US" sz="850" b="1" spc="130" kern="0" dirty="0">
                <a:solidFill>
                  <a:srgbClr val="2C5D7C"/>
                </a:solidFill>
                <a:latin typeface="Calibri" pitchFamily="34" charset="0"/>
                <a:ea typeface="Calibri" pitchFamily="34" charset="-122"/>
                <a:cs typeface="Calibri" pitchFamily="34" charset="-120"/>
              </a:rPr>
              <a:t>PUERTA</a:t>
            </a:r>
            <a:endParaRPr lang="en-US" sz="850" dirty="0"/>
          </a:p>
        </p:txBody>
      </p:sp>
      <p:sp>
        <p:nvSpPr>
          <p:cNvPr id="24" name="Text 22"/>
          <p:cNvSpPr/>
          <p:nvPr/>
        </p:nvSpPr>
        <p:spPr>
          <a:xfrm>
            <a:off x="8001000" y="3877056"/>
            <a:ext cx="3429000" cy="457200"/>
          </a:xfrm>
          <a:prstGeom prst="rect">
            <a:avLst/>
          </a:prstGeom>
          <a:noFill/>
          <a:ln/>
        </p:spPr>
        <p:txBody>
          <a:bodyPr wrap="square" lIns="0" tIns="0" rIns="0" bIns="0" rtlCol="0" anchor="ctr"/>
          <a:lstStyle/>
          <a:p>
            <a:pPr indent="0" marL="0">
              <a:lnSpc>
                <a:spcPts val="1400"/>
              </a:lnSpc>
              <a:buNone/>
            </a:pPr>
            <a:r>
              <a:rPr lang="en-US" sz="1100" dirty="0">
                <a:solidFill>
                  <a:srgbClr val="5A6670"/>
                </a:solidFill>
                <a:latin typeface="Calibri" pitchFamily="34" charset="0"/>
                <a:ea typeface="Calibri" pitchFamily="34" charset="-122"/>
                <a:cs typeface="Calibri" pitchFamily="34" charset="-120"/>
              </a:rPr>
              <a:t>Ritmo ≥1 sitio al mes en dos semestres</a:t>
            </a:r>
            <a:endParaRPr lang="en-US" sz="1100" dirty="0"/>
          </a:p>
        </p:txBody>
      </p:sp>
      <p:sp>
        <p:nvSpPr>
          <p:cNvPr id="25" name="Shape 23"/>
          <p:cNvSpPr/>
          <p:nvPr/>
        </p:nvSpPr>
        <p:spPr>
          <a:xfrm>
            <a:off x="566928" y="4700016"/>
            <a:ext cx="658368" cy="658368"/>
          </a:xfrm>
          <a:prstGeom prst="ellipse">
            <a:avLst/>
          </a:prstGeom>
          <a:solidFill>
            <a:srgbClr val="2C5D7C"/>
          </a:solidFill>
          <a:ln/>
        </p:spPr>
      </p:sp>
      <p:sp>
        <p:nvSpPr>
          <p:cNvPr id="26" name="Text 24"/>
          <p:cNvSpPr/>
          <p:nvPr/>
        </p:nvSpPr>
        <p:spPr>
          <a:xfrm>
            <a:off x="566928" y="4846320"/>
            <a:ext cx="6583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7" name="Text 25"/>
          <p:cNvSpPr/>
          <p:nvPr/>
        </p:nvSpPr>
        <p:spPr>
          <a:xfrm>
            <a:off x="1417320" y="4645152"/>
            <a:ext cx="3200400" cy="320040"/>
          </a:xfrm>
          <a:prstGeom prst="rect">
            <a:avLst/>
          </a:prstGeom>
          <a:noFill/>
          <a:ln/>
        </p:spPr>
        <p:txBody>
          <a:bodyPr wrap="square" lIns="0" tIns="0" rIns="0" bIns="0" rtlCol="0" anchor="ctr"/>
          <a:lstStyle/>
          <a:p>
            <a:pPr indent="0" marL="0">
              <a:buNone/>
            </a:pPr>
            <a:r>
              <a:rPr lang="en-US" sz="1500" b="1" dirty="0">
                <a:solidFill>
                  <a:srgbClr val="12212B"/>
                </a:solidFill>
                <a:latin typeface="Calibri" pitchFamily="34" charset="0"/>
                <a:ea typeface="Calibri" pitchFamily="34" charset="-122"/>
                <a:cs typeface="Calibri" pitchFamily="34" charset="-120"/>
              </a:rPr>
              <a:t>Centro comercial y pádel</a:t>
            </a:r>
            <a:endParaRPr lang="en-US" sz="1500" dirty="0"/>
          </a:p>
        </p:txBody>
      </p:sp>
      <p:sp>
        <p:nvSpPr>
          <p:cNvPr id="28" name="Text 26"/>
          <p:cNvSpPr/>
          <p:nvPr/>
        </p:nvSpPr>
        <p:spPr>
          <a:xfrm>
            <a:off x="1417320" y="4974336"/>
            <a:ext cx="6035040" cy="548640"/>
          </a:xfrm>
          <a:prstGeom prst="rect">
            <a:avLst/>
          </a:prstGeom>
          <a:noFill/>
          <a:ln/>
        </p:spPr>
        <p:txBody>
          <a:bodyPr wrap="square" lIns="0" tIns="0" rIns="0" bIns="0" rtlCol="0" anchor="ctr"/>
          <a:lstStyle/>
          <a:p>
            <a:pPr indent="0" marL="0">
              <a:lnSpc>
                <a:spcPts val="1500"/>
              </a:lnSpc>
              <a:buNone/>
            </a:pPr>
            <a:r>
              <a:rPr lang="en-US" sz="1150" dirty="0">
                <a:solidFill>
                  <a:srgbClr val="5A6670"/>
                </a:solidFill>
                <a:latin typeface="Calibri" pitchFamily="34" charset="0"/>
                <a:ea typeface="Calibri" pitchFamily="34" charset="-122"/>
                <a:cs typeface="Calibri" pitchFamily="34" charset="-120"/>
              </a:rPr>
              <a:t>Se construye con 30–40 sitios vendidos y la estación operando. 30.000 UF financiables con caja propia.</a:t>
            </a:r>
            <a:endParaRPr lang="en-US" sz="1150" dirty="0"/>
          </a:p>
        </p:txBody>
      </p:sp>
      <p:sp>
        <p:nvSpPr>
          <p:cNvPr id="29" name="Shape 27"/>
          <p:cNvSpPr/>
          <p:nvPr/>
        </p:nvSpPr>
        <p:spPr>
          <a:xfrm>
            <a:off x="7772400" y="4645152"/>
            <a:ext cx="3840480" cy="786384"/>
          </a:xfrm>
          <a:prstGeom prst="roundRect">
            <a:avLst>
              <a:gd name="adj" fmla="val 5814"/>
            </a:avLst>
          </a:prstGeom>
          <a:solidFill>
            <a:srgbClr val="E8ECE4"/>
          </a:solidFill>
          <a:ln w="6350">
            <a:solidFill>
              <a:srgbClr val="D5DBD0"/>
            </a:solidFill>
            <a:prstDash val="solid"/>
          </a:ln>
        </p:spPr>
      </p:sp>
      <p:sp>
        <p:nvSpPr>
          <p:cNvPr id="30" name="Text 28"/>
          <p:cNvSpPr/>
          <p:nvPr/>
        </p:nvSpPr>
        <p:spPr>
          <a:xfrm>
            <a:off x="8001000" y="4718304"/>
            <a:ext cx="3474720" cy="201168"/>
          </a:xfrm>
          <a:prstGeom prst="rect">
            <a:avLst/>
          </a:prstGeom>
          <a:noFill/>
          <a:ln/>
        </p:spPr>
        <p:txBody>
          <a:bodyPr wrap="square" lIns="0" tIns="0" rIns="0" bIns="0" rtlCol="0" anchor="ctr"/>
          <a:lstStyle/>
          <a:p>
            <a:pPr indent="0" marL="0">
              <a:buNone/>
            </a:pPr>
            <a:r>
              <a:rPr lang="en-US" sz="850" b="1" spc="130" kern="0" dirty="0">
                <a:solidFill>
                  <a:srgbClr val="2C5D7C"/>
                </a:solidFill>
                <a:latin typeface="Calibri" pitchFamily="34" charset="0"/>
                <a:ea typeface="Calibri" pitchFamily="34" charset="-122"/>
                <a:cs typeface="Calibri" pitchFamily="34" charset="-120"/>
              </a:rPr>
              <a:t>PUERTA</a:t>
            </a:r>
            <a:endParaRPr lang="en-US" sz="850" dirty="0"/>
          </a:p>
        </p:txBody>
      </p:sp>
      <p:sp>
        <p:nvSpPr>
          <p:cNvPr id="31" name="Text 29"/>
          <p:cNvSpPr/>
          <p:nvPr/>
        </p:nvSpPr>
        <p:spPr>
          <a:xfrm>
            <a:off x="8001000" y="4919472"/>
            <a:ext cx="3429000" cy="457200"/>
          </a:xfrm>
          <a:prstGeom prst="rect">
            <a:avLst/>
          </a:prstGeom>
          <a:noFill/>
          <a:ln/>
        </p:spPr>
        <p:txBody>
          <a:bodyPr wrap="square" lIns="0" tIns="0" rIns="0" bIns="0" rtlCol="0" anchor="ctr"/>
          <a:lstStyle/>
          <a:p>
            <a:pPr indent="0" marL="0">
              <a:lnSpc>
                <a:spcPts val="1400"/>
              </a:lnSpc>
              <a:buNone/>
            </a:pPr>
            <a:r>
              <a:rPr lang="en-US" sz="1100" dirty="0">
                <a:solidFill>
                  <a:srgbClr val="5A6670"/>
                </a:solidFill>
                <a:latin typeface="Calibri" pitchFamily="34" charset="0"/>
                <a:ea typeface="Calibri" pitchFamily="34" charset="-122"/>
                <a:cs typeface="Calibri" pitchFamily="34" charset="-120"/>
              </a:rPr>
              <a:t>Tres cartas de intención de arriendo firmadas</a:t>
            </a:r>
            <a:endParaRPr lang="en-US" sz="1100" dirty="0"/>
          </a:p>
        </p:txBody>
      </p:sp>
      <p:sp>
        <p:nvSpPr>
          <p:cNvPr id="32" name="Shape 30"/>
          <p:cNvSpPr/>
          <p:nvPr/>
        </p:nvSpPr>
        <p:spPr>
          <a:xfrm>
            <a:off x="566928" y="5742432"/>
            <a:ext cx="658368" cy="658368"/>
          </a:xfrm>
          <a:prstGeom prst="ellipse">
            <a:avLst/>
          </a:prstGeom>
          <a:solidFill>
            <a:srgbClr val="3E6B4A"/>
          </a:solidFill>
          <a:ln/>
        </p:spPr>
      </p:sp>
      <p:sp>
        <p:nvSpPr>
          <p:cNvPr id="33" name="Text 31"/>
          <p:cNvSpPr/>
          <p:nvPr/>
        </p:nvSpPr>
        <p:spPr>
          <a:xfrm>
            <a:off x="566928" y="5888736"/>
            <a:ext cx="65836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1417320" y="5687568"/>
            <a:ext cx="3200400" cy="320040"/>
          </a:xfrm>
          <a:prstGeom prst="rect">
            <a:avLst/>
          </a:prstGeom>
          <a:noFill/>
          <a:ln/>
        </p:spPr>
        <p:txBody>
          <a:bodyPr wrap="square" lIns="0" tIns="0" rIns="0" bIns="0" rtlCol="0" anchor="ctr"/>
          <a:lstStyle/>
          <a:p>
            <a:pPr indent="0" marL="0">
              <a:buNone/>
            </a:pPr>
            <a:r>
              <a:rPr lang="en-US" sz="1500" b="1" dirty="0">
                <a:solidFill>
                  <a:srgbClr val="12212B"/>
                </a:solidFill>
                <a:latin typeface="Calibri" pitchFamily="34" charset="0"/>
                <a:ea typeface="Calibri" pitchFamily="34" charset="-122"/>
                <a:cs typeface="Calibri" pitchFamily="34" charset="-120"/>
              </a:rPr>
              <a:t>Vence el plazo del terreno</a:t>
            </a:r>
            <a:endParaRPr lang="en-US" sz="1500" dirty="0"/>
          </a:p>
        </p:txBody>
      </p:sp>
      <p:sp>
        <p:nvSpPr>
          <p:cNvPr id="35" name="Text 33"/>
          <p:cNvSpPr/>
          <p:nvPr/>
        </p:nvSpPr>
        <p:spPr>
          <a:xfrm>
            <a:off x="1417320" y="6016752"/>
            <a:ext cx="6035040" cy="548640"/>
          </a:xfrm>
          <a:prstGeom prst="rect">
            <a:avLst/>
          </a:prstGeom>
          <a:noFill/>
          <a:ln/>
        </p:spPr>
        <p:txBody>
          <a:bodyPr wrap="square" lIns="0" tIns="0" rIns="0" bIns="0" rtlCol="0" anchor="ctr"/>
          <a:lstStyle/>
          <a:p>
            <a:pPr indent="0" marL="0">
              <a:lnSpc>
                <a:spcPts val="1500"/>
              </a:lnSpc>
              <a:buNone/>
            </a:pPr>
            <a:r>
              <a:rPr lang="en-US" sz="1150" dirty="0">
                <a:solidFill>
                  <a:srgbClr val="5A6670"/>
                </a:solidFill>
                <a:latin typeface="Calibri" pitchFamily="34" charset="0"/>
                <a:ea typeface="Calibri" pitchFamily="34" charset="-122"/>
                <a:cs typeface="Calibri" pitchFamily="34" charset="-120"/>
              </a:rPr>
              <a:t>Desde 1 sitio al mes el saldo ya está extinguido. Revisar la proyección en el año 4, no en el 6.</a:t>
            </a:r>
            <a:endParaRPr lang="en-US" sz="1150" dirty="0"/>
          </a:p>
        </p:txBody>
      </p:sp>
      <p:sp>
        <p:nvSpPr>
          <p:cNvPr id="36" name="Shape 34"/>
          <p:cNvSpPr/>
          <p:nvPr/>
        </p:nvSpPr>
        <p:spPr>
          <a:xfrm>
            <a:off x="7772400" y="5687568"/>
            <a:ext cx="3840480" cy="786384"/>
          </a:xfrm>
          <a:prstGeom prst="roundRect">
            <a:avLst>
              <a:gd name="adj" fmla="val 5814"/>
            </a:avLst>
          </a:prstGeom>
          <a:solidFill>
            <a:srgbClr val="E8ECE4"/>
          </a:solidFill>
          <a:ln w="6350">
            <a:solidFill>
              <a:srgbClr val="D5DBD0"/>
            </a:solidFill>
            <a:prstDash val="solid"/>
          </a:ln>
        </p:spPr>
      </p:sp>
      <p:sp>
        <p:nvSpPr>
          <p:cNvPr id="37" name="Text 35"/>
          <p:cNvSpPr/>
          <p:nvPr/>
        </p:nvSpPr>
        <p:spPr>
          <a:xfrm>
            <a:off x="8001000" y="5760720"/>
            <a:ext cx="3474720" cy="201168"/>
          </a:xfrm>
          <a:prstGeom prst="rect">
            <a:avLst/>
          </a:prstGeom>
          <a:noFill/>
          <a:ln/>
        </p:spPr>
        <p:txBody>
          <a:bodyPr wrap="square" lIns="0" tIns="0" rIns="0" bIns="0" rtlCol="0" anchor="ctr"/>
          <a:lstStyle/>
          <a:p>
            <a:pPr indent="0" marL="0">
              <a:buNone/>
            </a:pPr>
            <a:r>
              <a:rPr lang="en-US" sz="850" b="1" spc="130" kern="0" dirty="0">
                <a:solidFill>
                  <a:srgbClr val="2C5D7C"/>
                </a:solidFill>
                <a:latin typeface="Calibri" pitchFamily="34" charset="0"/>
                <a:ea typeface="Calibri" pitchFamily="34" charset="-122"/>
                <a:cs typeface="Calibri" pitchFamily="34" charset="-120"/>
              </a:rPr>
              <a:t>PUERTA</a:t>
            </a:r>
            <a:endParaRPr lang="en-US" sz="850" dirty="0"/>
          </a:p>
        </p:txBody>
      </p:sp>
      <p:sp>
        <p:nvSpPr>
          <p:cNvPr id="38" name="Text 36"/>
          <p:cNvSpPr/>
          <p:nvPr/>
        </p:nvSpPr>
        <p:spPr>
          <a:xfrm>
            <a:off x="8001000" y="5961888"/>
            <a:ext cx="3429000" cy="457200"/>
          </a:xfrm>
          <a:prstGeom prst="rect">
            <a:avLst/>
          </a:prstGeom>
          <a:noFill/>
          <a:ln/>
        </p:spPr>
        <p:txBody>
          <a:bodyPr wrap="square" lIns="0" tIns="0" rIns="0" bIns="0" rtlCol="0" anchor="ctr"/>
          <a:lstStyle/>
          <a:p>
            <a:pPr indent="0" marL="0">
              <a:lnSpc>
                <a:spcPts val="1400"/>
              </a:lnSpc>
              <a:buNone/>
            </a:pPr>
            <a:r>
              <a:rPr lang="en-US" sz="1100" dirty="0">
                <a:solidFill>
                  <a:srgbClr val="5A6670"/>
                </a:solidFill>
                <a:latin typeface="Calibri" pitchFamily="34" charset="0"/>
                <a:ea typeface="Calibri" pitchFamily="34" charset="-122"/>
                <a:cs typeface="Calibri" pitchFamily="34" charset="-120"/>
              </a:rPr>
              <a:t>Saldo del terreno en cero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2EE"/>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220" kern="0" dirty="0">
                <a:solidFill>
                  <a:srgbClr val="2C5D7C"/>
                </a:solidFill>
                <a:latin typeface="Calibri" pitchFamily="34" charset="0"/>
                <a:ea typeface="Calibri" pitchFamily="34" charset="-122"/>
                <a:cs typeface="Calibri" pitchFamily="34" charset="-120"/>
              </a:rPr>
              <a:t>12 · RIESGOS Y DATA ROOM</a:t>
            </a:r>
            <a:endParaRPr lang="en-US" sz="1100" dirty="0"/>
          </a:p>
        </p:txBody>
      </p:sp>
      <p:sp>
        <p:nvSpPr>
          <p:cNvPr id="3" name="Text 1"/>
          <p:cNvSpPr/>
          <p:nvPr/>
        </p:nvSpPr>
        <p:spPr>
          <a:xfrm>
            <a:off x="548640" y="621792"/>
            <a:ext cx="11064240" cy="694944"/>
          </a:xfrm>
          <a:prstGeom prst="rect">
            <a:avLst/>
          </a:prstGeom>
          <a:noFill/>
          <a:ln/>
        </p:spPr>
        <p:txBody>
          <a:bodyPr wrap="square" lIns="0" tIns="0" rIns="0" bIns="0" rtlCol="0" anchor="ctr"/>
          <a:lstStyle/>
          <a:p>
            <a:pPr indent="0" marL="0">
              <a:buNone/>
            </a:pPr>
            <a:r>
              <a:rPr lang="en-US" sz="3100" b="1" dirty="0">
                <a:solidFill>
                  <a:srgbClr val="12212B"/>
                </a:solidFill>
                <a:latin typeface="Cambria" pitchFamily="34" charset="0"/>
                <a:ea typeface="Cambria" pitchFamily="34" charset="-122"/>
                <a:cs typeface="Cambria" pitchFamily="34" charset="-120"/>
              </a:rPr>
              <a:t>Riesgos y lo que falta antes de firmar</a:t>
            </a:r>
            <a:endParaRPr lang="en-US" sz="3100" dirty="0"/>
          </a:p>
        </p:txBody>
      </p:sp>
      <p:sp>
        <p:nvSpPr>
          <p:cNvPr id="4" name="Text 2"/>
          <p:cNvSpPr/>
          <p:nvPr/>
        </p:nvSpPr>
        <p:spPr>
          <a:xfrm>
            <a:off x="566928" y="1371600"/>
            <a:ext cx="5486400" cy="256032"/>
          </a:xfrm>
          <a:prstGeom prst="rect">
            <a:avLst/>
          </a:prstGeom>
          <a:noFill/>
          <a:ln/>
        </p:spPr>
        <p:txBody>
          <a:bodyPr wrap="square" lIns="0" tIns="0" rIns="0" bIns="0" rtlCol="0" anchor="ctr"/>
          <a:lstStyle/>
          <a:p>
            <a:pPr indent="0" marL="0">
              <a:buNone/>
            </a:pPr>
            <a:r>
              <a:rPr lang="en-US" sz="1000" b="1" spc="150" kern="0" dirty="0">
                <a:solidFill>
                  <a:srgbClr val="2C5D7C"/>
                </a:solidFill>
                <a:latin typeface="Calibri" pitchFamily="34" charset="0"/>
                <a:ea typeface="Calibri" pitchFamily="34" charset="-122"/>
                <a:cs typeface="Calibri" pitchFamily="34" charset="-120"/>
              </a:rPr>
              <a:t>LOS CUATRO RIESGOS QUE IMPORTAN</a:t>
            </a:r>
            <a:endParaRPr lang="en-US" sz="1000" dirty="0"/>
          </a:p>
        </p:txBody>
      </p:sp>
      <p:sp>
        <p:nvSpPr>
          <p:cNvPr id="5" name="Shape 3"/>
          <p:cNvSpPr/>
          <p:nvPr/>
        </p:nvSpPr>
        <p:spPr>
          <a:xfrm>
            <a:off x="548640" y="1719072"/>
            <a:ext cx="5486400" cy="1005840"/>
          </a:xfrm>
          <a:prstGeom prst="roundRect">
            <a:avLst>
              <a:gd name="adj" fmla="val 545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6" name="Text 4"/>
          <p:cNvSpPr/>
          <p:nvPr/>
        </p:nvSpPr>
        <p:spPr>
          <a:xfrm>
            <a:off x="841248" y="1828800"/>
            <a:ext cx="3931920" cy="292608"/>
          </a:xfrm>
          <a:prstGeom prst="rect">
            <a:avLst/>
          </a:prstGeom>
          <a:noFill/>
          <a:ln/>
        </p:spPr>
        <p:txBody>
          <a:bodyPr wrap="square" lIns="0" tIns="0" rIns="0" bIns="0" rtlCol="0" anchor="ctr"/>
          <a:lstStyle/>
          <a:p>
            <a:pPr indent="0" marL="0">
              <a:buNone/>
            </a:pPr>
            <a:r>
              <a:rPr lang="en-US" sz="1300" b="1" dirty="0">
                <a:solidFill>
                  <a:srgbClr val="12212B"/>
                </a:solidFill>
                <a:latin typeface="Calibri" pitchFamily="34" charset="0"/>
                <a:ea typeface="Calibri" pitchFamily="34" charset="-122"/>
                <a:cs typeface="Calibri" pitchFamily="34" charset="-120"/>
              </a:rPr>
              <a:t>Urbanización muy sobre 80.000 UF</a:t>
            </a:r>
            <a:endParaRPr lang="en-US" sz="1300" dirty="0"/>
          </a:p>
        </p:txBody>
      </p:sp>
      <p:sp>
        <p:nvSpPr>
          <p:cNvPr id="7" name="Text 5"/>
          <p:cNvSpPr/>
          <p:nvPr/>
        </p:nvSpPr>
        <p:spPr>
          <a:xfrm>
            <a:off x="4754880" y="1847088"/>
            <a:ext cx="1051560" cy="256032"/>
          </a:xfrm>
          <a:prstGeom prst="rect">
            <a:avLst/>
          </a:prstGeom>
          <a:noFill/>
          <a:ln/>
        </p:spPr>
        <p:txBody>
          <a:bodyPr wrap="square" lIns="0" tIns="0" rIns="0" bIns="0" rtlCol="0" anchor="ctr"/>
          <a:lstStyle/>
          <a:p>
            <a:pPr algn="r" indent="0" marL="0">
              <a:buNone/>
            </a:pPr>
            <a:r>
              <a:rPr lang="en-US" sz="900" b="1" spc="100" kern="0" dirty="0">
                <a:solidFill>
                  <a:srgbClr val="B07D2B"/>
                </a:solidFill>
                <a:latin typeface="Calibri" pitchFamily="34" charset="0"/>
                <a:ea typeface="Calibri" pitchFamily="34" charset="-122"/>
                <a:cs typeface="Calibri" pitchFamily="34" charset="-120"/>
              </a:rPr>
              <a:t>ALTO</a:t>
            </a:r>
            <a:endParaRPr lang="en-US" sz="900" dirty="0"/>
          </a:p>
        </p:txBody>
      </p:sp>
      <p:sp>
        <p:nvSpPr>
          <p:cNvPr id="8" name="Text 6"/>
          <p:cNvSpPr/>
          <p:nvPr/>
        </p:nvSpPr>
        <p:spPr>
          <a:xfrm>
            <a:off x="841248" y="2139696"/>
            <a:ext cx="4937760" cy="502920"/>
          </a:xfrm>
          <a:prstGeom prst="rect">
            <a:avLst/>
          </a:prstGeom>
          <a:noFill/>
          <a:ln/>
        </p:spPr>
        <p:txBody>
          <a:bodyPr wrap="square" lIns="0" tIns="0" rIns="0" bIns="0" rtlCol="0" anchor="ctr"/>
          <a:lstStyle/>
          <a:p>
            <a:pPr indent="0" marL="0">
              <a:lnSpc>
                <a:spcPts val="1500"/>
              </a:lnSpc>
              <a:buNone/>
            </a:pPr>
            <a:r>
              <a:rPr lang="en-US" sz="1100" dirty="0">
                <a:solidFill>
                  <a:srgbClr val="5A6670"/>
                </a:solidFill>
                <a:latin typeface="Calibri" pitchFamily="34" charset="0"/>
                <a:ea typeface="Calibri" pitchFamily="34" charset="-122"/>
                <a:cs typeface="Calibri" pitchFamily="34" charset="-120"/>
              </a:rPr>
              <a:t>El riesgo dominante. Tres cotizaciones cerradas con IVA antes de la compraventa.</a:t>
            </a:r>
            <a:endParaRPr lang="en-US" sz="1100" dirty="0"/>
          </a:p>
        </p:txBody>
      </p:sp>
      <p:sp>
        <p:nvSpPr>
          <p:cNvPr id="9" name="Shape 7"/>
          <p:cNvSpPr/>
          <p:nvPr/>
        </p:nvSpPr>
        <p:spPr>
          <a:xfrm>
            <a:off x="548640" y="2834640"/>
            <a:ext cx="5486400" cy="1005840"/>
          </a:xfrm>
          <a:prstGeom prst="roundRect">
            <a:avLst>
              <a:gd name="adj" fmla="val 545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0" name="Text 8"/>
          <p:cNvSpPr/>
          <p:nvPr/>
        </p:nvSpPr>
        <p:spPr>
          <a:xfrm>
            <a:off x="841248" y="2944368"/>
            <a:ext cx="3931920" cy="292608"/>
          </a:xfrm>
          <a:prstGeom prst="rect">
            <a:avLst/>
          </a:prstGeom>
          <a:noFill/>
          <a:ln/>
        </p:spPr>
        <p:txBody>
          <a:bodyPr wrap="square" lIns="0" tIns="0" rIns="0" bIns="0" rtlCol="0" anchor="ctr"/>
          <a:lstStyle/>
          <a:p>
            <a:pPr indent="0" marL="0">
              <a:buNone/>
            </a:pPr>
            <a:r>
              <a:rPr lang="en-US" sz="1300" b="1" dirty="0">
                <a:solidFill>
                  <a:srgbClr val="12212B"/>
                </a:solidFill>
                <a:latin typeface="Calibri" pitchFamily="34" charset="0"/>
                <a:ea typeface="Calibri" pitchFamily="34" charset="-122"/>
                <a:cs typeface="Calibri" pitchFamily="34" charset="-120"/>
              </a:rPr>
              <a:t>Sin factibilidad sanitaria</a:t>
            </a:r>
            <a:endParaRPr lang="en-US" sz="1300" dirty="0"/>
          </a:p>
        </p:txBody>
      </p:sp>
      <p:sp>
        <p:nvSpPr>
          <p:cNvPr id="11" name="Text 9"/>
          <p:cNvSpPr/>
          <p:nvPr/>
        </p:nvSpPr>
        <p:spPr>
          <a:xfrm>
            <a:off x="4754880" y="2962656"/>
            <a:ext cx="1051560" cy="256032"/>
          </a:xfrm>
          <a:prstGeom prst="rect">
            <a:avLst/>
          </a:prstGeom>
          <a:noFill/>
          <a:ln/>
        </p:spPr>
        <p:txBody>
          <a:bodyPr wrap="square" lIns="0" tIns="0" rIns="0" bIns="0" rtlCol="0" anchor="ctr"/>
          <a:lstStyle/>
          <a:p>
            <a:pPr algn="r" indent="0" marL="0">
              <a:buNone/>
            </a:pPr>
            <a:r>
              <a:rPr lang="en-US" sz="900" b="1" spc="100" kern="0" dirty="0">
                <a:solidFill>
                  <a:srgbClr val="9C3B2E"/>
                </a:solidFill>
                <a:latin typeface="Calibri" pitchFamily="34" charset="0"/>
                <a:ea typeface="Calibri" pitchFamily="34" charset="-122"/>
                <a:cs typeface="Calibri" pitchFamily="34" charset="-120"/>
              </a:rPr>
              <a:t>CRÍTICO</a:t>
            </a:r>
            <a:endParaRPr lang="en-US" sz="900" dirty="0"/>
          </a:p>
        </p:txBody>
      </p:sp>
      <p:sp>
        <p:nvSpPr>
          <p:cNvPr id="12" name="Text 10"/>
          <p:cNvSpPr/>
          <p:nvPr/>
        </p:nvSpPr>
        <p:spPr>
          <a:xfrm>
            <a:off x="841248" y="3255264"/>
            <a:ext cx="4937760" cy="502920"/>
          </a:xfrm>
          <a:prstGeom prst="rect">
            <a:avLst/>
          </a:prstGeom>
          <a:noFill/>
          <a:ln/>
        </p:spPr>
        <p:txBody>
          <a:bodyPr wrap="square" lIns="0" tIns="0" rIns="0" bIns="0" rtlCol="0" anchor="ctr"/>
          <a:lstStyle/>
          <a:p>
            <a:pPr indent="0" marL="0">
              <a:lnSpc>
                <a:spcPts val="1500"/>
              </a:lnSpc>
              <a:buNone/>
            </a:pPr>
            <a:r>
              <a:rPr lang="en-US" sz="1100" dirty="0">
                <a:solidFill>
                  <a:srgbClr val="5A6670"/>
                </a:solidFill>
                <a:latin typeface="Calibri" pitchFamily="34" charset="0"/>
                <a:ea typeface="Calibri" pitchFamily="34" charset="-122"/>
                <a:cs typeface="Calibri" pitchFamily="34" charset="-120"/>
              </a:rPr>
              <a:t>Una planta elevadora o PTAS propia suma 20.000–40.000 UF y carga permanente.</a:t>
            </a:r>
            <a:endParaRPr lang="en-US" sz="1100" dirty="0"/>
          </a:p>
        </p:txBody>
      </p:sp>
      <p:sp>
        <p:nvSpPr>
          <p:cNvPr id="13" name="Shape 11"/>
          <p:cNvSpPr/>
          <p:nvPr/>
        </p:nvSpPr>
        <p:spPr>
          <a:xfrm>
            <a:off x="548640" y="3950208"/>
            <a:ext cx="5486400" cy="1005840"/>
          </a:xfrm>
          <a:prstGeom prst="roundRect">
            <a:avLst>
              <a:gd name="adj" fmla="val 545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4" name="Text 12"/>
          <p:cNvSpPr/>
          <p:nvPr/>
        </p:nvSpPr>
        <p:spPr>
          <a:xfrm>
            <a:off x="841248" y="4059936"/>
            <a:ext cx="3931920" cy="292608"/>
          </a:xfrm>
          <a:prstGeom prst="rect">
            <a:avLst/>
          </a:prstGeom>
          <a:noFill/>
          <a:ln/>
        </p:spPr>
        <p:txBody>
          <a:bodyPr wrap="square" lIns="0" tIns="0" rIns="0" bIns="0" rtlCol="0" anchor="ctr"/>
          <a:lstStyle/>
          <a:p>
            <a:pPr indent="0" marL="0">
              <a:buNone/>
            </a:pPr>
            <a:r>
              <a:rPr lang="en-US" sz="1300" b="1" dirty="0">
                <a:solidFill>
                  <a:srgbClr val="12212B"/>
                </a:solidFill>
                <a:latin typeface="Calibri" pitchFamily="34" charset="0"/>
                <a:ea typeface="Calibri" pitchFamily="34" charset="-122"/>
                <a:cs typeface="Calibri" pitchFamily="34" charset="-120"/>
              </a:rPr>
              <a:t>Servidumbres de canal sin sanear</a:t>
            </a:r>
            <a:endParaRPr lang="en-US" sz="1300" dirty="0"/>
          </a:p>
        </p:txBody>
      </p:sp>
      <p:sp>
        <p:nvSpPr>
          <p:cNvPr id="15" name="Text 13"/>
          <p:cNvSpPr/>
          <p:nvPr/>
        </p:nvSpPr>
        <p:spPr>
          <a:xfrm>
            <a:off x="4754880" y="4078224"/>
            <a:ext cx="1051560" cy="256032"/>
          </a:xfrm>
          <a:prstGeom prst="rect">
            <a:avLst/>
          </a:prstGeom>
          <a:noFill/>
          <a:ln/>
        </p:spPr>
        <p:txBody>
          <a:bodyPr wrap="square" lIns="0" tIns="0" rIns="0" bIns="0" rtlCol="0" anchor="ctr"/>
          <a:lstStyle/>
          <a:p>
            <a:pPr algn="r" indent="0" marL="0">
              <a:buNone/>
            </a:pPr>
            <a:r>
              <a:rPr lang="en-US" sz="900" b="1" spc="100" kern="0" dirty="0">
                <a:solidFill>
                  <a:srgbClr val="5A6670"/>
                </a:solidFill>
                <a:latin typeface="Calibri" pitchFamily="34" charset="0"/>
                <a:ea typeface="Calibri" pitchFamily="34" charset="-122"/>
                <a:cs typeface="Calibri" pitchFamily="34" charset="-120"/>
              </a:rPr>
              <a:t>MEDIO</a:t>
            </a:r>
            <a:endParaRPr lang="en-US" sz="900" dirty="0"/>
          </a:p>
        </p:txBody>
      </p:sp>
      <p:sp>
        <p:nvSpPr>
          <p:cNvPr id="16" name="Text 14"/>
          <p:cNvSpPr/>
          <p:nvPr/>
        </p:nvSpPr>
        <p:spPr>
          <a:xfrm>
            <a:off x="841248" y="4370832"/>
            <a:ext cx="4937760" cy="502920"/>
          </a:xfrm>
          <a:prstGeom prst="rect">
            <a:avLst/>
          </a:prstGeom>
          <a:noFill/>
          <a:ln/>
        </p:spPr>
        <p:txBody>
          <a:bodyPr wrap="square" lIns="0" tIns="0" rIns="0" bIns="0" rtlCol="0" anchor="ctr"/>
          <a:lstStyle/>
          <a:p>
            <a:pPr indent="0" marL="0">
              <a:lnSpc>
                <a:spcPts val="1500"/>
              </a:lnSpc>
              <a:buNone/>
            </a:pPr>
            <a:r>
              <a:rPr lang="en-US" sz="1100" dirty="0">
                <a:solidFill>
                  <a:srgbClr val="5A6670"/>
                </a:solidFill>
                <a:latin typeface="Calibri" pitchFamily="34" charset="0"/>
                <a:ea typeface="Calibri" pitchFamily="34" charset="-122"/>
                <a:cs typeface="Calibri" pitchFamily="34" charset="-120"/>
              </a:rPr>
              <a:t>Cinco tramos pueden bloquear la recepción de la urbanización.</a:t>
            </a:r>
            <a:endParaRPr lang="en-US" sz="1100" dirty="0"/>
          </a:p>
        </p:txBody>
      </p:sp>
      <p:sp>
        <p:nvSpPr>
          <p:cNvPr id="17" name="Shape 15"/>
          <p:cNvSpPr/>
          <p:nvPr/>
        </p:nvSpPr>
        <p:spPr>
          <a:xfrm>
            <a:off x="548640" y="5065776"/>
            <a:ext cx="5486400" cy="1005840"/>
          </a:xfrm>
          <a:prstGeom prst="roundRect">
            <a:avLst>
              <a:gd name="adj" fmla="val 5455"/>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18" name="Text 16"/>
          <p:cNvSpPr/>
          <p:nvPr/>
        </p:nvSpPr>
        <p:spPr>
          <a:xfrm>
            <a:off x="841248" y="5175504"/>
            <a:ext cx="3931920" cy="292608"/>
          </a:xfrm>
          <a:prstGeom prst="rect">
            <a:avLst/>
          </a:prstGeom>
          <a:noFill/>
          <a:ln/>
        </p:spPr>
        <p:txBody>
          <a:bodyPr wrap="square" lIns="0" tIns="0" rIns="0" bIns="0" rtlCol="0" anchor="ctr"/>
          <a:lstStyle/>
          <a:p>
            <a:pPr indent="0" marL="0">
              <a:buNone/>
            </a:pPr>
            <a:r>
              <a:rPr lang="en-US" sz="1300" b="1" dirty="0">
                <a:solidFill>
                  <a:srgbClr val="12212B"/>
                </a:solidFill>
                <a:latin typeface="Calibri" pitchFamily="34" charset="0"/>
                <a:ea typeface="Calibri" pitchFamily="34" charset="-122"/>
                <a:cs typeface="Calibri" pitchFamily="34" charset="-120"/>
              </a:rPr>
              <a:t>Locales de 38 m² sin arrendatarios</a:t>
            </a:r>
            <a:endParaRPr lang="en-US" sz="1300" dirty="0"/>
          </a:p>
        </p:txBody>
      </p:sp>
      <p:sp>
        <p:nvSpPr>
          <p:cNvPr id="19" name="Text 17"/>
          <p:cNvSpPr/>
          <p:nvPr/>
        </p:nvSpPr>
        <p:spPr>
          <a:xfrm>
            <a:off x="4754880" y="5193792"/>
            <a:ext cx="1051560" cy="256032"/>
          </a:xfrm>
          <a:prstGeom prst="rect">
            <a:avLst/>
          </a:prstGeom>
          <a:noFill/>
          <a:ln/>
        </p:spPr>
        <p:txBody>
          <a:bodyPr wrap="square" lIns="0" tIns="0" rIns="0" bIns="0" rtlCol="0" anchor="ctr"/>
          <a:lstStyle/>
          <a:p>
            <a:pPr algn="r" indent="0" marL="0">
              <a:buNone/>
            </a:pPr>
            <a:r>
              <a:rPr lang="en-US" sz="900" b="1" spc="100" kern="0" dirty="0">
                <a:solidFill>
                  <a:srgbClr val="5A6670"/>
                </a:solidFill>
                <a:latin typeface="Calibri" pitchFamily="34" charset="0"/>
                <a:ea typeface="Calibri" pitchFamily="34" charset="-122"/>
                <a:cs typeface="Calibri" pitchFamily="34" charset="-120"/>
              </a:rPr>
              <a:t>BAJO</a:t>
            </a:r>
            <a:endParaRPr lang="en-US" sz="900" dirty="0"/>
          </a:p>
        </p:txBody>
      </p:sp>
      <p:sp>
        <p:nvSpPr>
          <p:cNvPr id="20" name="Text 18"/>
          <p:cNvSpPr/>
          <p:nvPr/>
        </p:nvSpPr>
        <p:spPr>
          <a:xfrm>
            <a:off x="841248" y="5486400"/>
            <a:ext cx="4937760" cy="502920"/>
          </a:xfrm>
          <a:prstGeom prst="rect">
            <a:avLst/>
          </a:prstGeom>
          <a:noFill/>
          <a:ln/>
        </p:spPr>
        <p:txBody>
          <a:bodyPr wrap="square" lIns="0" tIns="0" rIns="0" bIns="0" rtlCol="0" anchor="ctr"/>
          <a:lstStyle/>
          <a:p>
            <a:pPr indent="0" marL="0">
              <a:lnSpc>
                <a:spcPts val="1500"/>
              </a:lnSpc>
              <a:buNone/>
            </a:pPr>
            <a:r>
              <a:rPr lang="en-US" sz="1100" dirty="0">
                <a:solidFill>
                  <a:srgbClr val="5A6670"/>
                </a:solidFill>
                <a:latin typeface="Calibri" pitchFamily="34" charset="0"/>
                <a:ea typeface="Calibri" pitchFamily="34" charset="-122"/>
                <a:cs typeface="Calibri" pitchFamily="34" charset="-120"/>
              </a:rPr>
              <a:t>Fusionar locales para un ancla antes de construir.</a:t>
            </a:r>
            <a:endParaRPr lang="en-US" sz="1100" dirty="0"/>
          </a:p>
        </p:txBody>
      </p:sp>
      <p:sp>
        <p:nvSpPr>
          <p:cNvPr id="21" name="Text 19"/>
          <p:cNvSpPr/>
          <p:nvPr/>
        </p:nvSpPr>
        <p:spPr>
          <a:xfrm>
            <a:off x="6281928" y="1371600"/>
            <a:ext cx="5486400" cy="256032"/>
          </a:xfrm>
          <a:prstGeom prst="rect">
            <a:avLst/>
          </a:prstGeom>
          <a:noFill/>
          <a:ln/>
        </p:spPr>
        <p:txBody>
          <a:bodyPr wrap="square" lIns="0" tIns="0" rIns="0" bIns="0" rtlCol="0" anchor="ctr"/>
          <a:lstStyle/>
          <a:p>
            <a:pPr indent="0" marL="0">
              <a:buNone/>
            </a:pPr>
            <a:r>
              <a:rPr lang="en-US" sz="1000" b="1" spc="150" kern="0" dirty="0">
                <a:solidFill>
                  <a:srgbClr val="2C5D7C"/>
                </a:solidFill>
                <a:latin typeface="Calibri" pitchFamily="34" charset="0"/>
                <a:ea typeface="Calibri" pitchFamily="34" charset="-122"/>
                <a:cs typeface="Calibri" pitchFamily="34" charset="-120"/>
              </a:rPr>
              <a:t>DATA ROOM — LOS TRES PRIMEROS SON BLOQUEANTES</a:t>
            </a:r>
            <a:endParaRPr lang="en-US" sz="1000" dirty="0"/>
          </a:p>
        </p:txBody>
      </p:sp>
      <p:sp>
        <p:nvSpPr>
          <p:cNvPr id="22" name="Shape 20"/>
          <p:cNvSpPr/>
          <p:nvPr/>
        </p:nvSpPr>
        <p:spPr>
          <a:xfrm>
            <a:off x="6263640" y="1719072"/>
            <a:ext cx="5349240" cy="4617720"/>
          </a:xfrm>
          <a:prstGeom prst="roundRect">
            <a:avLst>
              <a:gd name="adj" fmla="val 1188"/>
            </a:avLst>
          </a:prstGeom>
          <a:solidFill>
            <a:srgbClr val="FFFFFF"/>
          </a:solidFill>
          <a:ln w="6350">
            <a:solidFill>
              <a:srgbClr val="E2E5DE"/>
            </a:solidFill>
            <a:prstDash val="solid"/>
          </a:ln>
          <a:effectLst>
            <a:outerShdw sx="100000" sy="100000" kx="0" ky="0" algn="bl" rotWithShape="0" blurRad="127000" dist="25400" dir="5400000">
              <a:srgbClr val="8A9299">
                <a:alpha val="22000"/>
              </a:srgbClr>
            </a:outerShdw>
          </a:effectLst>
        </p:spPr>
      </p:sp>
      <p:sp>
        <p:nvSpPr>
          <p:cNvPr id="23" name="Text 21"/>
          <p:cNvSpPr/>
          <p:nvPr/>
        </p:nvSpPr>
        <p:spPr>
          <a:xfrm>
            <a:off x="6556248" y="1901952"/>
            <a:ext cx="4846320" cy="429768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b="1" dirty="0">
                <a:solidFill>
                  <a:srgbClr val="12212B"/>
                </a:solidFill>
                <a:latin typeface="Calibri" pitchFamily="34" charset="0"/>
                <a:ea typeface="Calibri" pitchFamily="34" charset="-122"/>
                <a:cs typeface="Calibri" pitchFamily="34" charset="-120"/>
              </a:rPr>
              <a:t>Tres presupuestos cerrados de urbanización, con IVA, por partida y por macro-etapa.</a:t>
            </a:r>
            <a:endParaRPr lang="en-US" sz="1150" dirty="0"/>
          </a:p>
          <a:p>
            <a:pPr marL="342900" indent="-342900">
              <a:lnSpc>
                <a:spcPts val="1500"/>
              </a:lnSpc>
              <a:spcAft>
                <a:spcPts val="800"/>
              </a:spcAft>
              <a:buSzPct val="100000"/>
              <a:buChar char="•"/>
            </a:pPr>
            <a:r>
              <a:rPr lang="en-US" sz="1150" b="1" dirty="0">
                <a:solidFill>
                  <a:srgbClr val="12212B"/>
                </a:solidFill>
                <a:latin typeface="Calibri" pitchFamily="34" charset="0"/>
                <a:ea typeface="Calibri" pitchFamily="34" charset="-122"/>
                <a:cs typeface="Calibri" pitchFamily="34" charset="-120"/>
              </a:rPr>
              <a:t>Certificados de factibilidad de agua potable y alcantarillado para los 90 sitios.</a:t>
            </a:r>
            <a:endParaRPr lang="en-US" sz="1150" dirty="0"/>
          </a:p>
          <a:p>
            <a:pPr marL="342900" indent="-342900">
              <a:lnSpc>
                <a:spcPts val="1500"/>
              </a:lnSpc>
              <a:spcAft>
                <a:spcPts val="800"/>
              </a:spcAft>
              <a:buSzPct val="100000"/>
              <a:buChar char="•"/>
            </a:pPr>
            <a:r>
              <a:rPr lang="en-US" sz="1150" b="1" dirty="0">
                <a:solidFill>
                  <a:srgbClr val="12212B"/>
                </a:solidFill>
                <a:latin typeface="Calibri" pitchFamily="34" charset="0"/>
                <a:ea typeface="Calibri" pitchFamily="34" charset="-122"/>
                <a:cs typeface="Calibri" pitchFamily="34" charset="-120"/>
              </a:rPr>
              <a:t>Estudio de títulos de ambos roles: servidumbres, tranque, derechos de agua, expropiación.</a:t>
            </a:r>
            <a:endParaRPr lang="en-US" sz="1150" dirty="0"/>
          </a:p>
          <a:p>
            <a:pPr marL="342900" indent="-342900">
              <a:lnSpc>
                <a:spcPts val="1500"/>
              </a:lnSpc>
              <a:spcAft>
                <a:spcPts val="800"/>
              </a:spcAft>
              <a:buSzPct val="100000"/>
              <a:buChar char="•"/>
            </a:pPr>
            <a:r>
              <a:rPr lang="en-US" sz="1150" dirty="0">
                <a:solidFill>
                  <a:srgbClr val="12212B"/>
                </a:solidFill>
                <a:latin typeface="Calibri" pitchFamily="34" charset="0"/>
                <a:ea typeface="Calibri" pitchFamily="34" charset="-122"/>
                <a:cs typeface="Calibri" pitchFamily="34" charset="-120"/>
              </a:rPr>
              <a:t>Certificado de informaciones previas vigente y confirmación de la zona U-17.</a:t>
            </a:r>
            <a:endParaRPr lang="en-US" sz="1150" dirty="0"/>
          </a:p>
          <a:p>
            <a:pPr marL="342900" indent="-342900">
              <a:lnSpc>
                <a:spcPts val="1500"/>
              </a:lnSpc>
              <a:spcAft>
                <a:spcPts val="800"/>
              </a:spcAft>
              <a:buSzPct val="100000"/>
              <a:buChar char="•"/>
            </a:pPr>
            <a:r>
              <a:rPr lang="en-US" sz="1150" dirty="0">
                <a:solidFill>
                  <a:srgbClr val="12212B"/>
                </a:solidFill>
                <a:latin typeface="Calibri" pitchFamily="34" charset="0"/>
                <a:ea typeface="Calibri" pitchFamily="34" charset="-122"/>
                <a:cs typeface="Calibri" pitchFamily="34" charset="-120"/>
              </a:rPr>
              <a:t>Estudio de absorción real en el sector oriente de Talca, a precio de escritura.</a:t>
            </a:r>
            <a:endParaRPr lang="en-US" sz="1150" dirty="0"/>
          </a:p>
          <a:p>
            <a:pPr marL="342900" indent="-342900">
              <a:lnSpc>
                <a:spcPts val="1500"/>
              </a:lnSpc>
              <a:spcAft>
                <a:spcPts val="800"/>
              </a:spcAft>
              <a:buSzPct val="100000"/>
              <a:buChar char="•"/>
            </a:pPr>
            <a:r>
              <a:rPr lang="en-US" sz="1150" dirty="0">
                <a:solidFill>
                  <a:srgbClr val="12212B"/>
                </a:solidFill>
                <a:latin typeface="Calibri" pitchFamily="34" charset="0"/>
                <a:ea typeface="Calibri" pitchFamily="34" charset="-122"/>
                <a:cs typeface="Calibri" pitchFamily="34" charset="-120"/>
              </a:rPr>
              <a:t>TMDA de Avenida San Miguel en la Dirección de Vialidad del Maule.</a:t>
            </a:r>
            <a:endParaRPr lang="en-US" sz="1150" dirty="0"/>
          </a:p>
          <a:p>
            <a:pPr marL="342900" indent="-342900">
              <a:lnSpc>
                <a:spcPts val="1500"/>
              </a:lnSpc>
              <a:spcAft>
                <a:spcPts val="800"/>
              </a:spcAft>
              <a:buSzPct val="100000"/>
              <a:buChar char="•"/>
            </a:pPr>
            <a:r>
              <a:rPr lang="en-US" sz="1150" dirty="0">
                <a:solidFill>
                  <a:srgbClr val="12212B"/>
                </a:solidFill>
                <a:latin typeface="Calibri" pitchFamily="34" charset="0"/>
                <a:ea typeface="Calibri" pitchFamily="34" charset="-122"/>
                <a:cs typeface="Calibri" pitchFamily="34" charset="-120"/>
              </a:rPr>
              <a:t>Sondeo con operadores de estación de servicio, conveniencia y pádel.</a:t>
            </a:r>
            <a:endParaRPr lang="en-US" sz="1150" dirty="0"/>
          </a:p>
          <a:p>
            <a:pPr marL="342900" indent="-342900">
              <a:lnSpc>
                <a:spcPts val="1500"/>
              </a:lnSpc>
              <a:spcAft>
                <a:spcPts val="800"/>
              </a:spcAft>
              <a:buSzPct val="100000"/>
              <a:buChar char="•"/>
            </a:pPr>
            <a:r>
              <a:rPr lang="en-US" sz="1150" dirty="0">
                <a:solidFill>
                  <a:srgbClr val="12212B"/>
                </a:solidFill>
                <a:latin typeface="Calibri" pitchFamily="34" charset="0"/>
                <a:ea typeface="Calibri" pitchFamily="34" charset="-122"/>
                <a:cs typeface="Calibri" pitchFamily="34" charset="-120"/>
              </a:rPr>
              <a:t>Avalúo fiscal y sobretasa de sitios eriazos sobre el inventario no vendido.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12B"/>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lIns="0" tIns="0" rIns="0" bIns="0" rtlCol="0" anchor="ctr"/>
          <a:lstStyle/>
          <a:p>
            <a:pPr indent="0" marL="0">
              <a:buNone/>
            </a:pPr>
            <a:r>
              <a:rPr lang="en-US" sz="1100" b="1" spc="240" kern="0" dirty="0">
                <a:solidFill>
                  <a:srgbClr val="7FB0D0"/>
                </a:solidFill>
                <a:latin typeface="Calibri" pitchFamily="34" charset="0"/>
                <a:ea typeface="Calibri" pitchFamily="34" charset="-122"/>
                <a:cs typeface="Calibri" pitchFamily="34" charset="-120"/>
              </a:rPr>
              <a:t>RECOMENDACIÓN FINAL</a:t>
            </a:r>
            <a:endParaRPr lang="en-US" sz="1100" dirty="0"/>
          </a:p>
        </p:txBody>
      </p:sp>
      <p:sp>
        <p:nvSpPr>
          <p:cNvPr id="3" name="Text 1"/>
          <p:cNvSpPr/>
          <p:nvPr/>
        </p:nvSpPr>
        <p:spPr>
          <a:xfrm>
            <a:off x="713232" y="914400"/>
            <a:ext cx="10789920" cy="1234440"/>
          </a:xfrm>
          <a:prstGeom prst="rect">
            <a:avLst/>
          </a:prstGeom>
          <a:noFill/>
          <a:ln/>
        </p:spPr>
        <p:txBody>
          <a:bodyPr wrap="square" lIns="0" tIns="0" rIns="0" bIns="0" rtlCol="0" anchor="ctr"/>
          <a:lstStyle/>
          <a:p>
            <a:pPr indent="0" marL="0">
              <a:lnSpc>
                <a:spcPts val="4200"/>
              </a:lnSpc>
              <a:buNone/>
            </a:pPr>
            <a:r>
              <a:rPr lang="en-US" sz="3300" b="1" dirty="0">
                <a:solidFill>
                  <a:srgbClr val="FFFFFF"/>
                </a:solidFill>
                <a:latin typeface="Cambria" pitchFamily="34" charset="0"/>
                <a:ea typeface="Cambria" pitchFamily="34" charset="-122"/>
                <a:cs typeface="Cambria" pitchFamily="34" charset="-120"/>
              </a:rPr>
              <a:t>Comprar, cotizar la urbanización en firme,</a:t>
            </a:r>
            <a:endParaRPr lang="en-US" sz="3300" dirty="0"/>
          </a:p>
          <a:p>
            <a:pPr indent="0" marL="0">
              <a:lnSpc>
                <a:spcPts val="4200"/>
              </a:lnSpc>
              <a:buNone/>
            </a:pPr>
            <a:r>
              <a:rPr lang="en-US" sz="3300" b="1" dirty="0">
                <a:solidFill>
                  <a:srgbClr val="FFFFFF"/>
                </a:solidFill>
                <a:latin typeface="Cambria" pitchFamily="34" charset="0"/>
                <a:ea typeface="Cambria" pitchFamily="34" charset="-122"/>
                <a:cs typeface="Cambria" pitchFamily="34" charset="-120"/>
              </a:rPr>
              <a:t>y ejecutar rápido.</a:t>
            </a:r>
            <a:endParaRPr lang="en-US" sz="3300" dirty="0"/>
          </a:p>
        </p:txBody>
      </p:sp>
      <p:sp>
        <p:nvSpPr>
          <p:cNvPr id="4" name="Shape 2"/>
          <p:cNvSpPr/>
          <p:nvPr/>
        </p:nvSpPr>
        <p:spPr>
          <a:xfrm>
            <a:off x="731520" y="2514600"/>
            <a:ext cx="3474720" cy="1572768"/>
          </a:xfrm>
          <a:prstGeom prst="roundRect">
            <a:avLst>
              <a:gd name="adj" fmla="val 3488"/>
            </a:avLst>
          </a:prstGeom>
          <a:solidFill>
            <a:srgbClr val="1B2F3D"/>
          </a:solidFill>
          <a:ln w="9525">
            <a:solidFill>
              <a:srgbClr val="2E4657"/>
            </a:solidFill>
            <a:prstDash val="solid"/>
          </a:ln>
        </p:spPr>
      </p:sp>
      <p:sp>
        <p:nvSpPr>
          <p:cNvPr id="5" name="Text 3"/>
          <p:cNvSpPr/>
          <p:nvPr/>
        </p:nvSpPr>
        <p:spPr>
          <a:xfrm>
            <a:off x="950976" y="2660904"/>
            <a:ext cx="3017520" cy="237744"/>
          </a:xfrm>
          <a:prstGeom prst="rect">
            <a:avLst/>
          </a:prstGeom>
          <a:noFill/>
          <a:ln/>
        </p:spPr>
        <p:txBody>
          <a:bodyPr wrap="square" lIns="0" tIns="0" rIns="0" bIns="0" rtlCol="0" anchor="ctr"/>
          <a:lstStyle/>
          <a:p>
            <a:pPr indent="0" marL="0">
              <a:buNone/>
            </a:pPr>
            <a:r>
              <a:rPr lang="en-US" sz="850" b="1" spc="120" kern="0" dirty="0">
                <a:solidFill>
                  <a:srgbClr val="7FB0D0"/>
                </a:solidFill>
                <a:latin typeface="Calibri" pitchFamily="34" charset="0"/>
                <a:ea typeface="Calibri" pitchFamily="34" charset="-122"/>
                <a:cs typeface="Calibri" pitchFamily="34" charset="-120"/>
              </a:rPr>
              <a:t>PRECIO MÁXIMO</a:t>
            </a:r>
            <a:endParaRPr lang="en-US" sz="850" dirty="0"/>
          </a:p>
        </p:txBody>
      </p:sp>
      <p:sp>
        <p:nvSpPr>
          <p:cNvPr id="6" name="Text 4"/>
          <p:cNvSpPr/>
          <p:nvPr/>
        </p:nvSpPr>
        <p:spPr>
          <a:xfrm>
            <a:off x="950976" y="2916936"/>
            <a:ext cx="306324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298.000 UF</a:t>
            </a:r>
            <a:endParaRPr lang="en-US" sz="1800" dirty="0"/>
          </a:p>
        </p:txBody>
      </p:sp>
      <p:sp>
        <p:nvSpPr>
          <p:cNvPr id="7" name="Text 5"/>
          <p:cNvSpPr/>
          <p:nvPr/>
        </p:nvSpPr>
        <p:spPr>
          <a:xfrm>
            <a:off x="950976" y="3319272"/>
            <a:ext cx="3063240" cy="685800"/>
          </a:xfrm>
          <a:prstGeom prst="rect">
            <a:avLst/>
          </a:prstGeom>
          <a:noFill/>
          <a:ln/>
        </p:spPr>
        <p:txBody>
          <a:bodyPr wrap="square" lIns="0" tIns="0" rIns="0" bIns="0" rtlCol="0" anchor="ctr"/>
          <a:lstStyle/>
          <a:p>
            <a:pPr indent="0" marL="0">
              <a:lnSpc>
                <a:spcPts val="1400"/>
              </a:lnSpc>
              <a:buNone/>
            </a:pPr>
            <a:r>
              <a:rPr lang="en-US" sz="1050" dirty="0">
                <a:solidFill>
                  <a:srgbClr val="A9B4BC"/>
                </a:solidFill>
                <a:latin typeface="Calibri" pitchFamily="34" charset="0"/>
                <a:ea typeface="Calibri" pitchFamily="34" charset="-122"/>
                <a:cs typeface="Calibri" pitchFamily="34" charset="-120"/>
              </a:rPr>
              <a:t>a TIR objetivo de 18% en escenario base; 108.000 UF incluso asumiendo el conservador completo</a:t>
            </a:r>
            <a:endParaRPr lang="en-US" sz="1050" dirty="0"/>
          </a:p>
        </p:txBody>
      </p:sp>
      <p:sp>
        <p:nvSpPr>
          <p:cNvPr id="8" name="Shape 6"/>
          <p:cNvSpPr/>
          <p:nvPr/>
        </p:nvSpPr>
        <p:spPr>
          <a:xfrm>
            <a:off x="4434840" y="2514600"/>
            <a:ext cx="3474720" cy="1572768"/>
          </a:xfrm>
          <a:prstGeom prst="roundRect">
            <a:avLst>
              <a:gd name="adj" fmla="val 3488"/>
            </a:avLst>
          </a:prstGeom>
          <a:solidFill>
            <a:srgbClr val="1B2F3D"/>
          </a:solidFill>
          <a:ln w="9525">
            <a:solidFill>
              <a:srgbClr val="2E4657"/>
            </a:solidFill>
            <a:prstDash val="solid"/>
          </a:ln>
        </p:spPr>
      </p:sp>
      <p:sp>
        <p:nvSpPr>
          <p:cNvPr id="9" name="Text 7"/>
          <p:cNvSpPr/>
          <p:nvPr/>
        </p:nvSpPr>
        <p:spPr>
          <a:xfrm>
            <a:off x="4654296" y="2660904"/>
            <a:ext cx="3017520" cy="237744"/>
          </a:xfrm>
          <a:prstGeom prst="rect">
            <a:avLst/>
          </a:prstGeom>
          <a:noFill/>
          <a:ln/>
        </p:spPr>
        <p:txBody>
          <a:bodyPr wrap="square" lIns="0" tIns="0" rIns="0" bIns="0" rtlCol="0" anchor="ctr"/>
          <a:lstStyle/>
          <a:p>
            <a:pPr indent="0" marL="0">
              <a:buNone/>
            </a:pPr>
            <a:r>
              <a:rPr lang="en-US" sz="850" b="1" spc="120" kern="0" dirty="0">
                <a:solidFill>
                  <a:srgbClr val="7FB0D0"/>
                </a:solidFill>
                <a:latin typeface="Calibri" pitchFamily="34" charset="0"/>
                <a:ea typeface="Calibri" pitchFamily="34" charset="-122"/>
                <a:cs typeface="Calibri" pitchFamily="34" charset="-120"/>
              </a:rPr>
              <a:t>CAPITAL A LEVANTAR</a:t>
            </a:r>
            <a:endParaRPr lang="en-US" sz="850" dirty="0"/>
          </a:p>
        </p:txBody>
      </p:sp>
      <p:sp>
        <p:nvSpPr>
          <p:cNvPr id="10" name="Text 8"/>
          <p:cNvSpPr/>
          <p:nvPr/>
        </p:nvSpPr>
        <p:spPr>
          <a:xfrm>
            <a:off x="4654296" y="2916936"/>
            <a:ext cx="306324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95.000 UF</a:t>
            </a:r>
            <a:endParaRPr lang="en-US" sz="1800" dirty="0"/>
          </a:p>
        </p:txBody>
      </p:sp>
      <p:sp>
        <p:nvSpPr>
          <p:cNvPr id="11" name="Text 9"/>
          <p:cNvSpPr/>
          <p:nvPr/>
        </p:nvSpPr>
        <p:spPr>
          <a:xfrm>
            <a:off x="4654296" y="3319272"/>
            <a:ext cx="3063240" cy="685800"/>
          </a:xfrm>
          <a:prstGeom prst="rect">
            <a:avLst/>
          </a:prstGeom>
          <a:noFill/>
          <a:ln/>
        </p:spPr>
        <p:txBody>
          <a:bodyPr wrap="square" lIns="0" tIns="0" rIns="0" bIns="0" rtlCol="0" anchor="ctr"/>
          <a:lstStyle/>
          <a:p>
            <a:pPr indent="0" marL="0">
              <a:lnSpc>
                <a:spcPts val="1400"/>
              </a:lnSpc>
              <a:buNone/>
            </a:pPr>
            <a:r>
              <a:rPr lang="en-US" sz="1050" dirty="0">
                <a:solidFill>
                  <a:srgbClr val="A9B4BC"/>
                </a:solidFill>
                <a:latin typeface="Calibri" pitchFamily="34" charset="0"/>
                <a:ea typeface="Calibri" pitchFamily="34" charset="-122"/>
                <a:cs typeface="Calibri" pitchFamily="34" charset="-120"/>
              </a:rPr>
              <a:t>67.000 de peak en base, 80.500 en conservador, más colchón</a:t>
            </a:r>
            <a:endParaRPr lang="en-US" sz="1050" dirty="0"/>
          </a:p>
        </p:txBody>
      </p:sp>
      <p:sp>
        <p:nvSpPr>
          <p:cNvPr id="12" name="Shape 10"/>
          <p:cNvSpPr/>
          <p:nvPr/>
        </p:nvSpPr>
        <p:spPr>
          <a:xfrm>
            <a:off x="8138160" y="2514600"/>
            <a:ext cx="3474720" cy="1572768"/>
          </a:xfrm>
          <a:prstGeom prst="roundRect">
            <a:avLst>
              <a:gd name="adj" fmla="val 3488"/>
            </a:avLst>
          </a:prstGeom>
          <a:solidFill>
            <a:srgbClr val="1B2F3D"/>
          </a:solidFill>
          <a:ln w="9525">
            <a:solidFill>
              <a:srgbClr val="2E4657"/>
            </a:solidFill>
            <a:prstDash val="solid"/>
          </a:ln>
        </p:spPr>
      </p:sp>
      <p:sp>
        <p:nvSpPr>
          <p:cNvPr id="13" name="Text 11"/>
          <p:cNvSpPr/>
          <p:nvPr/>
        </p:nvSpPr>
        <p:spPr>
          <a:xfrm>
            <a:off x="8357616" y="2660904"/>
            <a:ext cx="3017520" cy="237744"/>
          </a:xfrm>
          <a:prstGeom prst="rect">
            <a:avLst/>
          </a:prstGeom>
          <a:noFill/>
          <a:ln/>
        </p:spPr>
        <p:txBody>
          <a:bodyPr wrap="square" lIns="0" tIns="0" rIns="0" bIns="0" rtlCol="0" anchor="ctr"/>
          <a:lstStyle/>
          <a:p>
            <a:pPr indent="0" marL="0">
              <a:buNone/>
            </a:pPr>
            <a:r>
              <a:rPr lang="en-US" sz="850" b="1" spc="120" kern="0" dirty="0">
                <a:solidFill>
                  <a:srgbClr val="7FB0D0"/>
                </a:solidFill>
                <a:latin typeface="Calibri" pitchFamily="34" charset="0"/>
                <a:ea typeface="Calibri" pitchFamily="34" charset="-122"/>
                <a:cs typeface="Calibri" pitchFamily="34" charset="-120"/>
              </a:rPr>
              <a:t>ESTRUCTURA DEL SALDO</a:t>
            </a:r>
            <a:endParaRPr lang="en-US" sz="850" dirty="0"/>
          </a:p>
        </p:txBody>
      </p:sp>
      <p:sp>
        <p:nvSpPr>
          <p:cNvPr id="14" name="Text 12"/>
          <p:cNvSpPr/>
          <p:nvPr/>
        </p:nvSpPr>
        <p:spPr>
          <a:xfrm>
            <a:off x="8357616" y="2916936"/>
            <a:ext cx="306324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30% por escritura</a:t>
            </a:r>
            <a:endParaRPr lang="en-US" sz="1800" dirty="0"/>
          </a:p>
        </p:txBody>
      </p:sp>
      <p:sp>
        <p:nvSpPr>
          <p:cNvPr id="15" name="Text 13"/>
          <p:cNvSpPr/>
          <p:nvPr/>
        </p:nvSpPr>
        <p:spPr>
          <a:xfrm>
            <a:off x="8357616" y="3319272"/>
            <a:ext cx="3063240" cy="685800"/>
          </a:xfrm>
          <a:prstGeom prst="rect">
            <a:avLst/>
          </a:prstGeom>
          <a:noFill/>
          <a:ln/>
        </p:spPr>
        <p:txBody>
          <a:bodyPr wrap="square" lIns="0" tIns="0" rIns="0" bIns="0" rtlCol="0" anchor="ctr"/>
          <a:lstStyle/>
          <a:p>
            <a:pPr indent="0" marL="0">
              <a:lnSpc>
                <a:spcPts val="1400"/>
              </a:lnSpc>
              <a:buNone/>
            </a:pPr>
            <a:r>
              <a:rPr lang="en-US" sz="1050" dirty="0">
                <a:solidFill>
                  <a:srgbClr val="A9B4BC"/>
                </a:solidFill>
                <a:latin typeface="Calibri" pitchFamily="34" charset="0"/>
                <a:ea typeface="Calibri" pitchFamily="34" charset="-122"/>
                <a:cs typeface="Calibri" pitchFamily="34" charset="-120"/>
              </a:rPr>
              <a:t>≈1.500 UF por sitio, con hipoteca de alzamiento parcial y prepago libre</a:t>
            </a:r>
            <a:endParaRPr lang="en-US" sz="1050" dirty="0"/>
          </a:p>
        </p:txBody>
      </p:sp>
      <p:sp>
        <p:nvSpPr>
          <p:cNvPr id="16" name="Shape 14"/>
          <p:cNvSpPr/>
          <p:nvPr/>
        </p:nvSpPr>
        <p:spPr>
          <a:xfrm>
            <a:off x="731520" y="4297680"/>
            <a:ext cx="3474720" cy="1572768"/>
          </a:xfrm>
          <a:prstGeom prst="roundRect">
            <a:avLst>
              <a:gd name="adj" fmla="val 3488"/>
            </a:avLst>
          </a:prstGeom>
          <a:solidFill>
            <a:srgbClr val="1B2F3D"/>
          </a:solidFill>
          <a:ln w="9525">
            <a:solidFill>
              <a:srgbClr val="2E4657"/>
            </a:solidFill>
            <a:prstDash val="solid"/>
          </a:ln>
        </p:spPr>
      </p:sp>
      <p:sp>
        <p:nvSpPr>
          <p:cNvPr id="17" name="Text 15"/>
          <p:cNvSpPr/>
          <p:nvPr/>
        </p:nvSpPr>
        <p:spPr>
          <a:xfrm>
            <a:off x="950976" y="4443984"/>
            <a:ext cx="3017520" cy="237744"/>
          </a:xfrm>
          <a:prstGeom prst="rect">
            <a:avLst/>
          </a:prstGeom>
          <a:noFill/>
          <a:ln/>
        </p:spPr>
        <p:txBody>
          <a:bodyPr wrap="square" lIns="0" tIns="0" rIns="0" bIns="0" rtlCol="0" anchor="ctr"/>
          <a:lstStyle/>
          <a:p>
            <a:pPr indent="0" marL="0">
              <a:buNone/>
            </a:pPr>
            <a:r>
              <a:rPr lang="en-US" sz="850" b="1" spc="120" kern="0" dirty="0">
                <a:solidFill>
                  <a:srgbClr val="7FB0D0"/>
                </a:solidFill>
                <a:latin typeface="Calibri" pitchFamily="34" charset="0"/>
                <a:ea typeface="Calibri" pitchFamily="34" charset="-122"/>
                <a:cs typeface="Calibri" pitchFamily="34" charset="-120"/>
              </a:rPr>
              <a:t>RENTABILIDAD COMPLETA</a:t>
            </a:r>
            <a:endParaRPr lang="en-US" sz="850" dirty="0"/>
          </a:p>
        </p:txBody>
      </p:sp>
      <p:sp>
        <p:nvSpPr>
          <p:cNvPr id="18" name="Text 16"/>
          <p:cNvSpPr/>
          <p:nvPr/>
        </p:nvSpPr>
        <p:spPr>
          <a:xfrm>
            <a:off x="950976" y="4700016"/>
            <a:ext cx="306324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42,7% de TIR</a:t>
            </a:r>
            <a:endParaRPr lang="en-US" sz="1800" dirty="0"/>
          </a:p>
        </p:txBody>
      </p:sp>
      <p:sp>
        <p:nvSpPr>
          <p:cNvPr id="19" name="Text 17"/>
          <p:cNvSpPr/>
          <p:nvPr/>
        </p:nvSpPr>
        <p:spPr>
          <a:xfrm>
            <a:off x="950976" y="5102352"/>
            <a:ext cx="3063240" cy="685800"/>
          </a:xfrm>
          <a:prstGeom prst="rect">
            <a:avLst/>
          </a:prstGeom>
          <a:noFill/>
          <a:ln/>
        </p:spPr>
        <p:txBody>
          <a:bodyPr wrap="square" lIns="0" tIns="0" rIns="0" bIns="0" rtlCol="0" anchor="ctr"/>
          <a:lstStyle/>
          <a:p>
            <a:pPr indent="0" marL="0">
              <a:lnSpc>
                <a:spcPts val="1400"/>
              </a:lnSpc>
              <a:buNone/>
            </a:pPr>
            <a:r>
              <a:rPr lang="en-US" sz="1050" dirty="0">
                <a:solidFill>
                  <a:srgbClr val="A9B4BC"/>
                </a:solidFill>
                <a:latin typeface="Calibri" pitchFamily="34" charset="0"/>
                <a:ea typeface="Calibri" pitchFamily="34" charset="-122"/>
                <a:cs typeface="Calibri" pitchFamily="34" charset="-120"/>
              </a:rPr>
              <a:t>utilidad neta de 196.307 UF en la Etapa 1, más los activos de renta</a:t>
            </a:r>
            <a:endParaRPr lang="en-US" sz="1050" dirty="0"/>
          </a:p>
        </p:txBody>
      </p:sp>
      <p:sp>
        <p:nvSpPr>
          <p:cNvPr id="20" name="Shape 18"/>
          <p:cNvSpPr/>
          <p:nvPr/>
        </p:nvSpPr>
        <p:spPr>
          <a:xfrm>
            <a:off x="4434840" y="4297680"/>
            <a:ext cx="3474720" cy="1572768"/>
          </a:xfrm>
          <a:prstGeom prst="roundRect">
            <a:avLst>
              <a:gd name="adj" fmla="val 3488"/>
            </a:avLst>
          </a:prstGeom>
          <a:solidFill>
            <a:srgbClr val="1B2F3D"/>
          </a:solidFill>
          <a:ln w="9525">
            <a:solidFill>
              <a:srgbClr val="2E4657"/>
            </a:solidFill>
            <a:prstDash val="solid"/>
          </a:ln>
        </p:spPr>
      </p:sp>
      <p:sp>
        <p:nvSpPr>
          <p:cNvPr id="21" name="Text 19"/>
          <p:cNvSpPr/>
          <p:nvPr/>
        </p:nvSpPr>
        <p:spPr>
          <a:xfrm>
            <a:off x="4654296" y="4443984"/>
            <a:ext cx="3017520" cy="237744"/>
          </a:xfrm>
          <a:prstGeom prst="rect">
            <a:avLst/>
          </a:prstGeom>
          <a:noFill/>
          <a:ln/>
        </p:spPr>
        <p:txBody>
          <a:bodyPr wrap="square" lIns="0" tIns="0" rIns="0" bIns="0" rtlCol="0" anchor="ctr"/>
          <a:lstStyle/>
          <a:p>
            <a:pPr indent="0" marL="0">
              <a:buNone/>
            </a:pPr>
            <a:r>
              <a:rPr lang="en-US" sz="850" b="1" spc="120" kern="0" dirty="0">
                <a:solidFill>
                  <a:srgbClr val="7FB0D0"/>
                </a:solidFill>
                <a:latin typeface="Calibri" pitchFamily="34" charset="0"/>
                <a:ea typeface="Calibri" pitchFamily="34" charset="-122"/>
                <a:cs typeface="Calibri" pitchFamily="34" charset="-120"/>
              </a:rPr>
              <a:t>ETAPA QUE MÁS VALOR CREA</a:t>
            </a:r>
            <a:endParaRPr lang="en-US" sz="850" dirty="0"/>
          </a:p>
        </p:txBody>
      </p:sp>
      <p:sp>
        <p:nvSpPr>
          <p:cNvPr id="22" name="Text 20"/>
          <p:cNvSpPr/>
          <p:nvPr/>
        </p:nvSpPr>
        <p:spPr>
          <a:xfrm>
            <a:off x="4654296" y="4700016"/>
            <a:ext cx="306324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El loteo</a:t>
            </a:r>
            <a:endParaRPr lang="en-US" sz="1800" dirty="0"/>
          </a:p>
        </p:txBody>
      </p:sp>
      <p:sp>
        <p:nvSpPr>
          <p:cNvPr id="23" name="Text 21"/>
          <p:cNvSpPr/>
          <p:nvPr/>
        </p:nvSpPr>
        <p:spPr>
          <a:xfrm>
            <a:off x="4654296" y="5102352"/>
            <a:ext cx="3063240" cy="685800"/>
          </a:xfrm>
          <a:prstGeom prst="rect">
            <a:avLst/>
          </a:prstGeom>
          <a:noFill/>
          <a:ln/>
        </p:spPr>
        <p:txBody>
          <a:bodyPr wrap="square" lIns="0" tIns="0" rIns="0" bIns="0" rtlCol="0" anchor="ctr"/>
          <a:lstStyle/>
          <a:p>
            <a:pPr indent="0" marL="0">
              <a:lnSpc>
                <a:spcPts val="1400"/>
              </a:lnSpc>
              <a:buNone/>
            </a:pPr>
            <a:r>
              <a:rPr lang="en-US" sz="1050" dirty="0">
                <a:solidFill>
                  <a:srgbClr val="A9B4BC"/>
                </a:solidFill>
                <a:latin typeface="Calibri" pitchFamily="34" charset="0"/>
                <a:ea typeface="Calibri" pitchFamily="34" charset="-122"/>
                <a:cs typeface="Calibri" pitchFamily="34" charset="-120"/>
              </a:rPr>
              <a:t>196.000 UF en monto; la estación de servicio en retorno sobre capital</a:t>
            </a:r>
            <a:endParaRPr lang="en-US" sz="1050" dirty="0"/>
          </a:p>
        </p:txBody>
      </p:sp>
      <p:sp>
        <p:nvSpPr>
          <p:cNvPr id="24" name="Shape 22"/>
          <p:cNvSpPr/>
          <p:nvPr/>
        </p:nvSpPr>
        <p:spPr>
          <a:xfrm>
            <a:off x="8138160" y="4297680"/>
            <a:ext cx="3474720" cy="1572768"/>
          </a:xfrm>
          <a:prstGeom prst="roundRect">
            <a:avLst>
              <a:gd name="adj" fmla="val 3488"/>
            </a:avLst>
          </a:prstGeom>
          <a:solidFill>
            <a:srgbClr val="1B2F3D"/>
          </a:solidFill>
          <a:ln w="9525">
            <a:solidFill>
              <a:srgbClr val="2E4657"/>
            </a:solidFill>
            <a:prstDash val="solid"/>
          </a:ln>
        </p:spPr>
      </p:sp>
      <p:sp>
        <p:nvSpPr>
          <p:cNvPr id="25" name="Text 23"/>
          <p:cNvSpPr/>
          <p:nvPr/>
        </p:nvSpPr>
        <p:spPr>
          <a:xfrm>
            <a:off x="8357616" y="4443984"/>
            <a:ext cx="3017520" cy="237744"/>
          </a:xfrm>
          <a:prstGeom prst="rect">
            <a:avLst/>
          </a:prstGeom>
          <a:noFill/>
          <a:ln/>
        </p:spPr>
        <p:txBody>
          <a:bodyPr wrap="square" lIns="0" tIns="0" rIns="0" bIns="0" rtlCol="0" anchor="ctr"/>
          <a:lstStyle/>
          <a:p>
            <a:pPr indent="0" marL="0">
              <a:buNone/>
            </a:pPr>
            <a:r>
              <a:rPr lang="en-US" sz="850" b="1" spc="120" kern="0" dirty="0">
                <a:solidFill>
                  <a:srgbClr val="7FB0D0"/>
                </a:solidFill>
                <a:latin typeface="Calibri" pitchFamily="34" charset="0"/>
                <a:ea typeface="Calibri" pitchFamily="34" charset="-122"/>
                <a:cs typeface="Calibri" pitchFamily="34" charset="-120"/>
              </a:rPr>
              <a:t>ACTIVO ANCLA</a:t>
            </a:r>
            <a:endParaRPr lang="en-US" sz="850" dirty="0"/>
          </a:p>
        </p:txBody>
      </p:sp>
      <p:sp>
        <p:nvSpPr>
          <p:cNvPr id="26" name="Text 24"/>
          <p:cNvSpPr/>
          <p:nvPr/>
        </p:nvSpPr>
        <p:spPr>
          <a:xfrm>
            <a:off x="8357616" y="4700016"/>
            <a:ext cx="306324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Estación de servicio</a:t>
            </a:r>
            <a:endParaRPr lang="en-US" sz="1800" dirty="0"/>
          </a:p>
        </p:txBody>
      </p:sp>
      <p:sp>
        <p:nvSpPr>
          <p:cNvPr id="27" name="Text 25"/>
          <p:cNvSpPr/>
          <p:nvPr/>
        </p:nvSpPr>
        <p:spPr>
          <a:xfrm>
            <a:off x="8357616" y="5102352"/>
            <a:ext cx="3063240" cy="685800"/>
          </a:xfrm>
          <a:prstGeom prst="rect">
            <a:avLst/>
          </a:prstGeom>
          <a:noFill/>
          <a:ln/>
        </p:spPr>
        <p:txBody>
          <a:bodyPr wrap="square" lIns="0" tIns="0" rIns="0" bIns="0" rtlCol="0" anchor="ctr"/>
          <a:lstStyle/>
          <a:p>
            <a:pPr indent="0" marL="0">
              <a:lnSpc>
                <a:spcPts val="1400"/>
              </a:lnSpc>
              <a:buNone/>
            </a:pPr>
            <a:r>
              <a:rPr lang="en-US" sz="1050" dirty="0">
                <a:solidFill>
                  <a:srgbClr val="A9B4BC"/>
                </a:solidFill>
                <a:latin typeface="Calibri" pitchFamily="34" charset="0"/>
                <a:ea typeface="Calibri" pitchFamily="34" charset="-122"/>
                <a:cs typeface="Calibri" pitchFamily="34" charset="-120"/>
              </a:rPr>
              <a:t>4.879 UF contra 177.894 del colegio, y payback de 1,2 contra 14,5 años</a:t>
            </a:r>
            <a:endParaRPr lang="en-US" sz="1050" dirty="0"/>
          </a:p>
        </p:txBody>
      </p:sp>
      <p:sp>
        <p:nvSpPr>
          <p:cNvPr id="28" name="Text 26"/>
          <p:cNvSpPr/>
          <p:nvPr/>
        </p:nvSpPr>
        <p:spPr>
          <a:xfrm>
            <a:off x="731520" y="6263640"/>
            <a:ext cx="10698480" cy="274320"/>
          </a:xfrm>
          <a:prstGeom prst="rect">
            <a:avLst/>
          </a:prstGeom>
          <a:noFill/>
          <a:ln/>
        </p:spPr>
        <p:txBody>
          <a:bodyPr wrap="square" lIns="0" tIns="0" rIns="0" bIns="0" rtlCol="0" anchor="ctr"/>
          <a:lstStyle/>
          <a:p>
            <a:pPr indent="0" marL="0">
              <a:buNone/>
            </a:pPr>
            <a:r>
              <a:rPr lang="en-US" sz="950" dirty="0">
                <a:solidFill>
                  <a:srgbClr val="5A6670"/>
                </a:solidFill>
                <a:latin typeface="Calibri" pitchFamily="34" charset="0"/>
                <a:ea typeface="Calibri" pitchFamily="34" charset="-122"/>
                <a:cs typeface="Calibri" pitchFamily="34" charset="-120"/>
              </a:rPr>
              <a:t>Modelación propia sobre los supuestos declarados. No constituye tasación, asesoría tributaria ni opinión legal. Valor de la UF: $40.846 al 10 de agosto de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2026-08-11T19:11:38Z</dcterms:created>
  <dcterms:modified xsi:type="dcterms:W3CDTF">2026-08-11T19:11:38Z</dcterms:modified>
</cp:coreProperties>
</file>